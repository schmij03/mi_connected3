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0"/>
  </p:notesMasterIdLst>
  <p:sldIdLst>
    <p:sldId id="256" r:id="rId5"/>
    <p:sldId id="257" r:id="rId6"/>
    <p:sldId id="258" r:id="rId7"/>
    <p:sldId id="270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5A89752-5F5E-1C45-AF14-587FC85E3251}" v="8" dt="2026-09-15T09:15:01.79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n Schmid" userId="1110e7f4-0253-46c7-a340-3f814eeafb47" providerId="ADAL" clId="{01880861-311D-531E-A1C6-52F600E95700}"/>
    <pc:docChg chg="custSel addSld modSld">
      <pc:chgData name="Jan Schmid" userId="1110e7f4-0253-46c7-a340-3f814eeafb47" providerId="ADAL" clId="{01880861-311D-531E-A1C6-52F600E95700}" dt="2026-09-15T09:15:01.793" v="7" actId="1076"/>
      <pc:docMkLst>
        <pc:docMk/>
      </pc:docMkLst>
      <pc:sldChg chg="addSp delSp modSp add mod">
        <pc:chgData name="Jan Schmid" userId="1110e7f4-0253-46c7-a340-3f814eeafb47" providerId="ADAL" clId="{01880861-311D-531E-A1C6-52F600E95700}" dt="2026-09-15T09:15:01.793" v="7" actId="1076"/>
        <pc:sldMkLst>
          <pc:docMk/>
          <pc:sldMk cId="1809493290" sldId="270"/>
        </pc:sldMkLst>
        <pc:spChg chg="del">
          <ac:chgData name="Jan Schmid" userId="1110e7f4-0253-46c7-a340-3f814eeafb47" providerId="ADAL" clId="{01880861-311D-531E-A1C6-52F600E95700}" dt="2026-09-15T09:14:44.351" v="1" actId="478"/>
          <ac:spMkLst>
            <pc:docMk/>
            <pc:sldMk cId="1809493290" sldId="270"/>
            <ac:spMk id="3" creationId="{8AB8821C-D0A2-5AD6-60F1-EE5C73D0C6CE}"/>
          </ac:spMkLst>
        </pc:spChg>
        <pc:picChg chg="add mod modCrop">
          <ac:chgData name="Jan Schmid" userId="1110e7f4-0253-46c7-a340-3f814eeafb47" providerId="ADAL" clId="{01880861-311D-531E-A1C6-52F600E95700}" dt="2026-09-15T09:15:01.793" v="7" actId="1076"/>
          <ac:picMkLst>
            <pc:docMk/>
            <pc:sldMk cId="1809493290" sldId="270"/>
            <ac:picMk id="6" creationId="{7662FB0D-B636-BF46-12F7-C1E7A5292303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304477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Einstieg ohne lange Vorrede. Die Klasse soll zuerst selbst suchen, erst danach wird erklärt.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Lernziele kurz vorlesen lassen, nicht kommentieren. Am Schluss der Lektion zurückkommen.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Alle suchen gleichzeitig. Danach vergleichen: Alle sehen Läden aus der Umgebung.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EA8FFB-E405-DEFF-8DD4-1E708E01DF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A1EBA9-C5F0-A290-396F-08B1EDF6F8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56A8EB-5753-AA6F-3966-458E322FC0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Alle suchen gleichzeitig. Danach vergleichen: Alle sehen Läden aus der Umgebung.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1901D8-E8FF-BFA4-384F-BC0B09084D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34593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Häufigste Vermutung: GPS. Diese Vermutung stehen lassen und mit der Gegenprobe prüfen.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Dieser Moment ist der Kern der Lektion. Erst jetzt den Begriff IP-Adresse einführen.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Analogie Paketadresse verwenden. Betonen: ungefähr, nicht die Wohnadresse.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Erklärt, warum alle in der Klasse dieselbe öffentliche IP-Adresse sehen.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Reihenfolge nach Genauigkeit ordnen lassen: GPS, Mobilfunk mit mehreren Antennen, WLAN, IP-Adresse.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Keine IP-Adressen an die Wand projizieren und nicht in Teams posten. Wer schnell ist: Warum zeigt www.srf.ch einen anderen Standort als srf.ch?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Situationen: gesperrtes Video, Währung im Onlineshop, Werbung aus der Region.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Kurz halten, die Beispiele stammen aus der Klasse.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Diese fünf Begriffe kommen in der Prüfung als Zuordnungsaufgabe vor. Kurz abfragen, nicht neu erklären.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Antworten einsammeln oder zwei vorlesen lassen. Überleitung auf die nächste Lektion.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1371600"/>
            <a:ext cx="1371600" cy="1371600"/>
          </a:xfrm>
          <a:prstGeom prst="ellipse">
            <a:avLst/>
          </a:prstGeom>
          <a:solidFill>
            <a:srgbClr val="E4572E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3" name="Text 1"/>
          <p:cNvSpPr txBox="1"/>
          <p:nvPr/>
        </p:nvSpPr>
        <p:spPr>
          <a:xfrm>
            <a:off x="777240" y="137160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4600"/>
          </a:p>
        </p:txBody>
      </p:sp>
      <p:sp>
        <p:nvSpPr>
          <p:cNvPr id="4" name="Text 2"/>
          <p:cNvSpPr txBox="1"/>
          <p:nvPr/>
        </p:nvSpPr>
        <p:spPr>
          <a:xfrm>
            <a:off x="2514600" y="1481328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Lektion 1</a:t>
            </a:r>
            <a:endParaRPr lang="en-US" sz="1800"/>
          </a:p>
        </p:txBody>
      </p:sp>
      <p:sp>
        <p:nvSpPr>
          <p:cNvPr id="5" name="Text 3"/>
          <p:cNvSpPr txBox="1"/>
          <p:nvPr/>
        </p:nvSpPr>
        <p:spPr>
          <a:xfrm>
            <a:off x="2514600" y="1920240"/>
            <a:ext cx="8961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 gibt es die beste Glace?</a:t>
            </a:r>
            <a:endParaRPr lang="en-US" sz="4000"/>
          </a:p>
        </p:txBody>
      </p:sp>
      <p:sp>
        <p:nvSpPr>
          <p:cNvPr id="6" name="Text 4"/>
          <p:cNvSpPr txBox="1"/>
          <p:nvPr/>
        </p:nvSpPr>
        <p:spPr>
          <a:xfrm>
            <a:off x="2514600" y="2788920"/>
            <a:ext cx="8961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>
                <a:solidFill>
                  <a:srgbClr val="BF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Webseiten wissen, wo du gerade bist</a:t>
            </a:r>
            <a:endParaRPr lang="en-US" sz="2000"/>
          </a:p>
        </p:txBody>
      </p:sp>
      <p:sp>
        <p:nvSpPr>
          <p:cNvPr id="7" name="Text 5"/>
          <p:cNvSpPr txBox="1"/>
          <p:nvPr/>
        </p:nvSpPr>
        <p:spPr>
          <a:xfrm>
            <a:off x="777240" y="585216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8F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3, Kapitel 1B, Dienstag 15.09.2026</a:t>
            </a:r>
            <a:endParaRPr lang="en-US" sz="1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lernst du heute</a:t>
            </a:r>
            <a:endParaRPr lang="en-US" sz="320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11091672" cy="1051560"/>
          </a:xfrm>
          <a:prstGeom prst="roundRect">
            <a:avLst>
              <a:gd name="adj" fmla="val 6957"/>
            </a:avLst>
          </a:prstGeom>
          <a:solidFill>
            <a:srgbClr val="EAF2F6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4" name="Shape 2"/>
          <p:cNvSpPr/>
          <p:nvPr/>
        </p:nvSpPr>
        <p:spPr>
          <a:xfrm>
            <a:off x="868680" y="171450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5" name="Text 3"/>
          <p:cNvSpPr txBox="1"/>
          <p:nvPr/>
        </p:nvSpPr>
        <p:spPr>
          <a:xfrm>
            <a:off x="868680" y="17145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/>
          </a:p>
        </p:txBody>
      </p:sp>
      <p:sp>
        <p:nvSpPr>
          <p:cNvPr id="6" name="Text 4"/>
          <p:cNvSpPr txBox="1"/>
          <p:nvPr/>
        </p:nvSpPr>
        <p:spPr>
          <a:xfrm>
            <a:off x="1783080" y="1508760"/>
            <a:ext cx="96286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Ich kann erklären, was eine IP-Adresse ist und wozu sie gebraucht wird.</a:t>
            </a:r>
            <a:endParaRPr lang="en-US" sz="1900"/>
          </a:p>
        </p:txBody>
      </p:sp>
      <p:sp>
        <p:nvSpPr>
          <p:cNvPr id="7" name="Shape 5"/>
          <p:cNvSpPr/>
          <p:nvPr/>
        </p:nvSpPr>
        <p:spPr>
          <a:xfrm>
            <a:off x="548640" y="2834640"/>
            <a:ext cx="11091672" cy="1051560"/>
          </a:xfrm>
          <a:prstGeom prst="roundRect">
            <a:avLst>
              <a:gd name="adj" fmla="val 6957"/>
            </a:avLst>
          </a:prstGeom>
          <a:solidFill>
            <a:srgbClr val="EAF2F6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8" name="Shape 6"/>
          <p:cNvSpPr/>
          <p:nvPr/>
        </p:nvSpPr>
        <p:spPr>
          <a:xfrm>
            <a:off x="868680" y="304038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9" name="Text 7"/>
          <p:cNvSpPr txBox="1"/>
          <p:nvPr/>
        </p:nvSpPr>
        <p:spPr>
          <a:xfrm>
            <a:off x="868680" y="30403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/>
          </a:p>
        </p:txBody>
      </p:sp>
      <p:sp>
        <p:nvSpPr>
          <p:cNvPr id="10" name="Text 8"/>
          <p:cNvSpPr txBox="1"/>
          <p:nvPr/>
        </p:nvSpPr>
        <p:spPr>
          <a:xfrm>
            <a:off x="1783080" y="2834640"/>
            <a:ext cx="96286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Ich kann vier Arten der Standortbestimmung nennen und nach Genauigkeit ordnen.</a:t>
            </a:r>
            <a:endParaRPr lang="en-US" sz="1900"/>
          </a:p>
        </p:txBody>
      </p:sp>
      <p:sp>
        <p:nvSpPr>
          <p:cNvPr id="11" name="Shape 9"/>
          <p:cNvSpPr/>
          <p:nvPr/>
        </p:nvSpPr>
        <p:spPr>
          <a:xfrm>
            <a:off x="548640" y="4160520"/>
            <a:ext cx="11091672" cy="1051560"/>
          </a:xfrm>
          <a:prstGeom prst="roundRect">
            <a:avLst>
              <a:gd name="adj" fmla="val 6957"/>
            </a:avLst>
          </a:prstGeom>
          <a:solidFill>
            <a:srgbClr val="EAF2F6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12" name="Shape 10"/>
          <p:cNvSpPr/>
          <p:nvPr/>
        </p:nvSpPr>
        <p:spPr>
          <a:xfrm>
            <a:off x="868680" y="436626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13" name="Text 11"/>
          <p:cNvSpPr txBox="1"/>
          <p:nvPr/>
        </p:nvSpPr>
        <p:spPr>
          <a:xfrm>
            <a:off x="868680" y="43662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/>
          </a:p>
        </p:txBody>
      </p:sp>
      <p:sp>
        <p:nvSpPr>
          <p:cNvPr id="14" name="Text 12"/>
          <p:cNvSpPr txBox="1"/>
          <p:nvPr/>
        </p:nvSpPr>
        <p:spPr>
          <a:xfrm>
            <a:off x="1783080" y="4160520"/>
            <a:ext cx="96286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Ich kann an zwei Beispielen erklären, welche Folgen es hat, dass Webseiten meinen Standort kennen.</a:t>
            </a:r>
            <a:endParaRPr lang="en-US" sz="19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737360"/>
            <a:ext cx="1054303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Sucht jetzt nach: Glace</a:t>
            </a:r>
            <a:endParaRPr lang="en-US" sz="4000"/>
          </a:p>
        </p:txBody>
      </p:sp>
      <p:sp>
        <p:nvSpPr>
          <p:cNvPr id="3" name="Text 1"/>
          <p:cNvSpPr txBox="1"/>
          <p:nvPr/>
        </p:nvSpPr>
        <p:spPr>
          <a:xfrm>
            <a:off x="822960" y="4023360"/>
            <a:ext cx="1054303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>
                <a:solidFill>
                  <a:srgbClr val="C7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Gebt keinen Ortsnamen ein. Notiert eure ersten drei Treffer im Arbeitsbuch bei Aufgabe 105</a:t>
            </a:r>
            <a:endParaRPr lang="en-US" sz="2200"/>
          </a:p>
        </p:txBody>
      </p:sp>
      <p:sp>
        <p:nvSpPr>
          <p:cNvPr id="4" name="Shape 2"/>
          <p:cNvSpPr/>
          <p:nvPr/>
        </p:nvSpPr>
        <p:spPr>
          <a:xfrm>
            <a:off x="10451592" y="502920"/>
            <a:ext cx="1005840" cy="1005840"/>
          </a:xfrm>
          <a:prstGeom prst="ellipse">
            <a:avLst/>
          </a:prstGeom>
          <a:solidFill>
            <a:srgbClr val="E4572E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5" name="Text 3"/>
          <p:cNvSpPr txBox="1"/>
          <p:nvPr/>
        </p:nvSpPr>
        <p:spPr>
          <a:xfrm>
            <a:off x="10451592" y="50292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5'</a:t>
            </a:r>
            <a:endParaRPr lang="en-US" sz="2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5A8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DD54CA-3256-9203-456F-36D5BC51A4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6B5EDA6-8C27-9C70-8259-CECECDFC9F5B}"/>
              </a:ext>
            </a:extLst>
          </p:cNvPr>
          <p:cNvSpPr txBox="1"/>
          <p:nvPr/>
        </p:nvSpPr>
        <p:spPr>
          <a:xfrm>
            <a:off x="822960" y="1737360"/>
            <a:ext cx="1054303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Sucht jetzt nach: Glace</a:t>
            </a:r>
            <a:endParaRPr lang="en-US" sz="400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C28DAD4E-6B12-1754-0683-86CB348E300A}"/>
              </a:ext>
            </a:extLst>
          </p:cNvPr>
          <p:cNvSpPr/>
          <p:nvPr/>
        </p:nvSpPr>
        <p:spPr>
          <a:xfrm>
            <a:off x="10451592" y="502920"/>
            <a:ext cx="1005840" cy="1005840"/>
          </a:xfrm>
          <a:prstGeom prst="ellipse">
            <a:avLst/>
          </a:prstGeom>
          <a:solidFill>
            <a:srgbClr val="E4572E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A251ABD-8B0D-E8AA-0615-4A2A74364628}"/>
              </a:ext>
            </a:extLst>
          </p:cNvPr>
          <p:cNvSpPr txBox="1"/>
          <p:nvPr/>
        </p:nvSpPr>
        <p:spPr>
          <a:xfrm>
            <a:off x="10451592" y="50292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5'</a:t>
            </a:r>
            <a:endParaRPr lang="en-US" sz="220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7662FB0D-B636-BF46-12F7-C1E7A529230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306"/>
          <a:stretch>
            <a:fillRect/>
          </a:stretch>
        </p:blipFill>
        <p:spPr>
          <a:xfrm>
            <a:off x="403033" y="3429000"/>
            <a:ext cx="11627386" cy="2397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94932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737360"/>
            <a:ext cx="1054303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Woher weiss die Suchmaschine, wo wir sind?</a:t>
            </a:r>
            <a:endParaRPr lang="en-US" sz="4000"/>
          </a:p>
        </p:txBody>
      </p:sp>
      <p:sp>
        <p:nvSpPr>
          <p:cNvPr id="3" name="Text 1"/>
          <p:cNvSpPr txBox="1"/>
          <p:nvPr/>
        </p:nvSpPr>
        <p:spPr>
          <a:xfrm>
            <a:off x="822960" y="4023360"/>
            <a:ext cx="1054303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>
                <a:solidFill>
                  <a:srgbClr val="C7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Sammelt eure Vermutungen. Es gibt mehr als eine richtige Antwort.</a:t>
            </a:r>
            <a:endParaRPr lang="en-US" sz="22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Gegenprobe</a:t>
            </a:r>
            <a:endParaRPr lang="en-US" sz="3200"/>
          </a:p>
        </p:txBody>
      </p:sp>
      <p:sp>
        <p:nvSpPr>
          <p:cNvPr id="3" name="Shape 1"/>
          <p:cNvSpPr/>
          <p:nvPr/>
        </p:nvSpPr>
        <p:spPr>
          <a:xfrm>
            <a:off x="548640" y="2240280"/>
            <a:ext cx="3502152" cy="3291840"/>
          </a:xfrm>
          <a:prstGeom prst="roundRect">
            <a:avLst>
              <a:gd name="adj" fmla="val 2222"/>
            </a:avLst>
          </a:prstGeom>
          <a:solidFill>
            <a:srgbClr val="EAF2F6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4" name="Shape 2"/>
          <p:cNvSpPr/>
          <p:nvPr/>
        </p:nvSpPr>
        <p:spPr>
          <a:xfrm>
            <a:off x="841248" y="2514600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5" name="Text 3"/>
          <p:cNvSpPr txBox="1"/>
          <p:nvPr/>
        </p:nvSpPr>
        <p:spPr>
          <a:xfrm>
            <a:off x="841248" y="25146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/>
          </a:p>
        </p:txBody>
      </p:sp>
      <p:sp>
        <p:nvSpPr>
          <p:cNvPr id="6" name="Text 4"/>
          <p:cNvSpPr txBox="1"/>
          <p:nvPr/>
        </p:nvSpPr>
        <p:spPr>
          <a:xfrm>
            <a:off x="841248" y="3200400"/>
            <a:ext cx="29169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Standort aus</a:t>
            </a:r>
            <a:endParaRPr lang="en-US" sz="2000"/>
          </a:p>
        </p:txBody>
      </p:sp>
      <p:sp>
        <p:nvSpPr>
          <p:cNvPr id="7" name="Text 5"/>
          <p:cNvSpPr txBox="1"/>
          <p:nvPr/>
        </p:nvSpPr>
        <p:spPr>
          <a:xfrm>
            <a:off x="841248" y="3803904"/>
            <a:ext cx="291693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Schaltet die Standortfreigabe im Gerät aus.</a:t>
            </a:r>
            <a:endParaRPr lang="en-US" sz="1600"/>
          </a:p>
        </p:txBody>
      </p:sp>
      <p:sp>
        <p:nvSpPr>
          <p:cNvPr id="8" name="Shape 6"/>
          <p:cNvSpPr/>
          <p:nvPr/>
        </p:nvSpPr>
        <p:spPr>
          <a:xfrm>
            <a:off x="4343400" y="2240280"/>
            <a:ext cx="3502152" cy="3291840"/>
          </a:xfrm>
          <a:prstGeom prst="roundRect">
            <a:avLst>
              <a:gd name="adj" fmla="val 2222"/>
            </a:avLst>
          </a:prstGeom>
          <a:solidFill>
            <a:srgbClr val="EAF2F6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9" name="Shape 7"/>
          <p:cNvSpPr/>
          <p:nvPr/>
        </p:nvSpPr>
        <p:spPr>
          <a:xfrm>
            <a:off x="4636008" y="2514600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10" name="Text 8"/>
          <p:cNvSpPr txBox="1"/>
          <p:nvPr/>
        </p:nvSpPr>
        <p:spPr>
          <a:xfrm>
            <a:off x="4636008" y="25146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/>
          </a:p>
        </p:txBody>
      </p:sp>
      <p:sp>
        <p:nvSpPr>
          <p:cNvPr id="11" name="Text 9"/>
          <p:cNvSpPr txBox="1"/>
          <p:nvPr/>
        </p:nvSpPr>
        <p:spPr>
          <a:xfrm>
            <a:off x="4636008" y="3200400"/>
            <a:ext cx="29169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Nochmals suchen</a:t>
            </a:r>
            <a:endParaRPr lang="en-US" sz="2000"/>
          </a:p>
        </p:txBody>
      </p:sp>
      <p:sp>
        <p:nvSpPr>
          <p:cNvPr id="12" name="Text 10"/>
          <p:cNvSpPr txBox="1"/>
          <p:nvPr/>
        </p:nvSpPr>
        <p:spPr>
          <a:xfrm>
            <a:off x="4636008" y="3803904"/>
            <a:ext cx="291693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Gebt denselben Suchbegriff erneut ein.</a:t>
            </a:r>
            <a:endParaRPr lang="en-US" sz="1600"/>
          </a:p>
        </p:txBody>
      </p:sp>
      <p:sp>
        <p:nvSpPr>
          <p:cNvPr id="13" name="Shape 11"/>
          <p:cNvSpPr/>
          <p:nvPr/>
        </p:nvSpPr>
        <p:spPr>
          <a:xfrm>
            <a:off x="8138160" y="2240280"/>
            <a:ext cx="3502152" cy="3291840"/>
          </a:xfrm>
          <a:prstGeom prst="roundRect">
            <a:avLst>
              <a:gd name="adj" fmla="val 2222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14" name="Shape 12"/>
          <p:cNvSpPr/>
          <p:nvPr/>
        </p:nvSpPr>
        <p:spPr>
          <a:xfrm>
            <a:off x="8430768" y="2514600"/>
            <a:ext cx="566928" cy="566928"/>
          </a:xfrm>
          <a:prstGeom prst="ellipse">
            <a:avLst/>
          </a:prstGeom>
          <a:solidFill>
            <a:srgbClr val="E4572E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15" name="Text 13"/>
          <p:cNvSpPr txBox="1"/>
          <p:nvPr/>
        </p:nvSpPr>
        <p:spPr>
          <a:xfrm>
            <a:off x="8430768" y="25146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/>
          </a:p>
        </p:txBody>
      </p:sp>
      <p:sp>
        <p:nvSpPr>
          <p:cNvPr id="16" name="Text 14"/>
          <p:cNvSpPr txBox="1"/>
          <p:nvPr/>
        </p:nvSpPr>
        <p:spPr>
          <a:xfrm>
            <a:off x="8430768" y="3200400"/>
            <a:ext cx="29169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 jetzt?</a:t>
            </a:r>
            <a:endParaRPr lang="en-US" sz="2000"/>
          </a:p>
        </p:txBody>
      </p:sp>
      <p:sp>
        <p:nvSpPr>
          <p:cNvPr id="17" name="Text 15"/>
          <p:cNvSpPr txBox="1"/>
          <p:nvPr/>
        </p:nvSpPr>
        <p:spPr>
          <a:xfrm>
            <a:off x="8430768" y="3803904"/>
            <a:ext cx="291693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>
                <a:solidFill>
                  <a:srgbClr val="DC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Treffer aus der Umgebung erscheinen trotzdem. Also kann es nicht nur an GPS liegen.</a:t>
            </a:r>
            <a:endParaRPr lang="en-US" sz="16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1430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Merke</a:t>
            </a:r>
            <a:endParaRPr lang="en-US" sz="1800"/>
          </a:p>
        </p:txBody>
      </p:sp>
      <p:sp>
        <p:nvSpPr>
          <p:cNvPr id="3" name="Text 1"/>
          <p:cNvSpPr txBox="1"/>
          <p:nvPr/>
        </p:nvSpPr>
        <p:spPr>
          <a:xfrm>
            <a:off x="822960" y="1737360"/>
            <a:ext cx="1054303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3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Jedes Gerät im Internet hat eine IP-Adresse.</a:t>
            </a:r>
            <a:endParaRPr lang="en-US" sz="3400"/>
          </a:p>
        </p:txBody>
      </p:sp>
      <p:sp>
        <p:nvSpPr>
          <p:cNvPr id="4" name="Text 2"/>
          <p:cNvSpPr txBox="1"/>
          <p:nvPr/>
        </p:nvSpPr>
        <p:spPr>
          <a:xfrm>
            <a:off x="822960" y="4297680"/>
            <a:ext cx="1054303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>
                <a:solidFill>
                  <a:srgbClr val="BF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 funktioniert wie die Adresse auf einem Paket. Ohne sie wüssten die Router nicht, wohin die Daten sollen. Aus der IP-Adresse lässt sich der ungefähre Standort ablesen: Land, Region, oft die Stadt.</a:t>
            </a:r>
            <a:endParaRPr lang="en-US" sz="2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Zwei Adressen, ein Gerät</a:t>
            </a:r>
            <a:endParaRPr lang="en-US" sz="320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285232" cy="4754880"/>
          </a:xfrm>
          <a:prstGeom prst="roundRect">
            <a:avLst>
              <a:gd name="adj" fmla="val 1538"/>
            </a:avLst>
          </a:prstGeom>
          <a:solidFill>
            <a:srgbClr val="EAF2F6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4" name="Text 2"/>
          <p:cNvSpPr txBox="1"/>
          <p:nvPr/>
        </p:nvSpPr>
        <p:spPr>
          <a:xfrm>
            <a:off x="868680" y="1737360"/>
            <a:ext cx="46451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Lokale IP-Adresse</a:t>
            </a:r>
            <a:endParaRPr lang="en-US" sz="2400"/>
          </a:p>
        </p:txBody>
      </p:sp>
      <p:sp>
        <p:nvSpPr>
          <p:cNvPr id="5" name="Text 3"/>
          <p:cNvSpPr txBox="1"/>
          <p:nvPr/>
        </p:nvSpPr>
        <p:spPr>
          <a:xfrm>
            <a:off x="868680" y="2377440"/>
            <a:ext cx="4645152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Gilt nur im eigenen Netz, zum Beispiel im Schulhaus</a:t>
            </a:r>
            <a:endParaRPr lang="en-US" sz="180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Beginnt oft mit 192.168.</a:t>
            </a:r>
            <a:endParaRPr lang="en-US" sz="180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aussen nicht sichtbar</a:t>
            </a:r>
            <a:endParaRPr lang="en-US" sz="180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Wird vom Router vergeben</a:t>
            </a:r>
            <a:endParaRPr lang="en-US" sz="1800"/>
          </a:p>
        </p:txBody>
      </p:sp>
      <p:sp>
        <p:nvSpPr>
          <p:cNvPr id="6" name="Shape 4"/>
          <p:cNvSpPr/>
          <p:nvPr/>
        </p:nvSpPr>
        <p:spPr>
          <a:xfrm>
            <a:off x="6355080" y="1463040"/>
            <a:ext cx="5285232" cy="4754880"/>
          </a:xfrm>
          <a:prstGeom prst="roundRect">
            <a:avLst>
              <a:gd name="adj" fmla="val 1538"/>
            </a:avLst>
          </a:prstGeom>
          <a:solidFill>
            <a:srgbClr val="EAF2F6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7" name="Text 5"/>
          <p:cNvSpPr txBox="1"/>
          <p:nvPr/>
        </p:nvSpPr>
        <p:spPr>
          <a:xfrm>
            <a:off x="6675120" y="1737360"/>
            <a:ext cx="46451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Öffentliche IP-Adresse</a:t>
            </a:r>
            <a:endParaRPr lang="en-US" sz="2400"/>
          </a:p>
        </p:txBody>
      </p:sp>
      <p:sp>
        <p:nvSpPr>
          <p:cNvPr id="8" name="Text 6"/>
          <p:cNvSpPr txBox="1"/>
          <p:nvPr/>
        </p:nvSpPr>
        <p:spPr>
          <a:xfrm>
            <a:off x="6675120" y="2377440"/>
            <a:ext cx="4645152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Adresse, die Webseiten sehen</a:t>
            </a:r>
            <a:endParaRPr lang="en-US" sz="180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Gehört dem Router, nicht dem einzelnen Gerät</a:t>
            </a:r>
            <a:endParaRPr lang="en-US" sz="180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Geräte im Schulnetz teilen sie</a:t>
            </a:r>
            <a:endParaRPr lang="en-US" sz="180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Verrät den ungefähren Standort</a:t>
            </a:r>
            <a:endParaRPr lang="en-US" sz="18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 Wege zum Standort</a:t>
            </a:r>
            <a:endParaRPr lang="en-US" sz="3200"/>
          </a:p>
        </p:txBody>
      </p:sp>
      <p:sp>
        <p:nvSpPr>
          <p:cNvPr id="3" name="Shape 1"/>
          <p:cNvSpPr/>
          <p:nvPr/>
        </p:nvSpPr>
        <p:spPr>
          <a:xfrm>
            <a:off x="548640" y="2560320"/>
            <a:ext cx="2553462" cy="2651760"/>
          </a:xfrm>
          <a:prstGeom prst="roundRect">
            <a:avLst>
              <a:gd name="adj" fmla="val 2865"/>
            </a:avLst>
          </a:prstGeom>
          <a:solidFill>
            <a:srgbClr val="EAF2F6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4" name="Text 2"/>
          <p:cNvSpPr txBox="1"/>
          <p:nvPr/>
        </p:nvSpPr>
        <p:spPr>
          <a:xfrm>
            <a:off x="841248" y="2880360"/>
            <a:ext cx="196824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IP-Adresse</a:t>
            </a:r>
            <a:endParaRPr lang="en-US" sz="2000"/>
          </a:p>
        </p:txBody>
      </p:sp>
      <p:sp>
        <p:nvSpPr>
          <p:cNvPr id="5" name="Text 3"/>
          <p:cNvSpPr txBox="1"/>
          <p:nvPr/>
        </p:nvSpPr>
        <p:spPr>
          <a:xfrm>
            <a:off x="841248" y="3483864"/>
            <a:ext cx="196824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Genauigkeit: Region oder Stadt. Immer vorhanden, sobald du online bist.</a:t>
            </a:r>
            <a:endParaRPr lang="en-US" sz="1600"/>
          </a:p>
        </p:txBody>
      </p:sp>
      <p:sp>
        <p:nvSpPr>
          <p:cNvPr id="6" name="Shape 4"/>
          <p:cNvSpPr/>
          <p:nvPr/>
        </p:nvSpPr>
        <p:spPr>
          <a:xfrm>
            <a:off x="3394710" y="2560320"/>
            <a:ext cx="2553462" cy="2651760"/>
          </a:xfrm>
          <a:prstGeom prst="roundRect">
            <a:avLst>
              <a:gd name="adj" fmla="val 2865"/>
            </a:avLst>
          </a:prstGeom>
          <a:solidFill>
            <a:srgbClr val="EAF2F6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7" name="Text 5"/>
          <p:cNvSpPr txBox="1"/>
          <p:nvPr/>
        </p:nvSpPr>
        <p:spPr>
          <a:xfrm>
            <a:off x="3687318" y="2880360"/>
            <a:ext cx="196824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</a:t>
            </a:r>
            <a:endParaRPr lang="en-US" sz="2000"/>
          </a:p>
        </p:txBody>
      </p:sp>
      <p:sp>
        <p:nvSpPr>
          <p:cNvPr id="8" name="Text 6"/>
          <p:cNvSpPr txBox="1"/>
          <p:nvPr/>
        </p:nvSpPr>
        <p:spPr>
          <a:xfrm>
            <a:off x="3687318" y="3483864"/>
            <a:ext cx="196824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Genauigkeit: wenige Meter. Nur mit deiner Erlaubnis.</a:t>
            </a:r>
            <a:endParaRPr lang="en-US" sz="1600"/>
          </a:p>
        </p:txBody>
      </p:sp>
      <p:sp>
        <p:nvSpPr>
          <p:cNvPr id="9" name="Shape 7"/>
          <p:cNvSpPr/>
          <p:nvPr/>
        </p:nvSpPr>
        <p:spPr>
          <a:xfrm>
            <a:off x="6240780" y="2560320"/>
            <a:ext cx="2553462" cy="2651760"/>
          </a:xfrm>
          <a:prstGeom prst="roundRect">
            <a:avLst>
              <a:gd name="adj" fmla="val 2865"/>
            </a:avLst>
          </a:prstGeom>
          <a:solidFill>
            <a:srgbClr val="EAF2F6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10" name="Text 8"/>
          <p:cNvSpPr txBox="1"/>
          <p:nvPr/>
        </p:nvSpPr>
        <p:spPr>
          <a:xfrm>
            <a:off x="6533388" y="2880360"/>
            <a:ext cx="196824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Mobilfunk</a:t>
            </a:r>
            <a:endParaRPr lang="en-US" sz="2000"/>
          </a:p>
        </p:txBody>
      </p:sp>
      <p:sp>
        <p:nvSpPr>
          <p:cNvPr id="11" name="Text 9"/>
          <p:cNvSpPr txBox="1"/>
          <p:nvPr/>
        </p:nvSpPr>
        <p:spPr>
          <a:xfrm>
            <a:off x="6533388" y="3483864"/>
            <a:ext cx="196824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Genauigkeit: Funkzelle. Mit mehreren Antennen recht genau.</a:t>
            </a:r>
            <a:endParaRPr lang="en-US" sz="1600"/>
          </a:p>
        </p:txBody>
      </p:sp>
      <p:sp>
        <p:nvSpPr>
          <p:cNvPr id="12" name="Shape 10"/>
          <p:cNvSpPr/>
          <p:nvPr/>
        </p:nvSpPr>
        <p:spPr>
          <a:xfrm>
            <a:off x="9086850" y="2560320"/>
            <a:ext cx="2553462" cy="2651760"/>
          </a:xfrm>
          <a:prstGeom prst="roundRect">
            <a:avLst>
              <a:gd name="adj" fmla="val 2865"/>
            </a:avLst>
          </a:prstGeom>
          <a:solidFill>
            <a:srgbClr val="EAF2F6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13" name="Text 11"/>
          <p:cNvSpPr txBox="1"/>
          <p:nvPr/>
        </p:nvSpPr>
        <p:spPr>
          <a:xfrm>
            <a:off x="9379458" y="2880360"/>
            <a:ext cx="196824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WLAN</a:t>
            </a:r>
            <a:endParaRPr lang="en-US" sz="2000"/>
          </a:p>
        </p:txBody>
      </p:sp>
      <p:sp>
        <p:nvSpPr>
          <p:cNvPr id="14" name="Text 12"/>
          <p:cNvSpPr txBox="1"/>
          <p:nvPr/>
        </p:nvSpPr>
        <p:spPr>
          <a:xfrm>
            <a:off x="9379458" y="3483864"/>
            <a:ext cx="196824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Genauigkeit: wenige hundert Meter. Über bekannte Basisstationen.</a:t>
            </a:r>
            <a:endParaRPr lang="en-US" sz="16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3017520" cy="6035040"/>
          </a:xfrm>
          <a:prstGeom prst="roundRect">
            <a:avLst>
              <a:gd name="adj" fmla="val 2424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3" name="Text 1"/>
          <p:cNvSpPr txBox="1"/>
          <p:nvPr/>
        </p:nvSpPr>
        <p:spPr>
          <a:xfrm>
            <a:off x="868680" y="7772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9F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Auftrag</a:t>
            </a:r>
            <a:endParaRPr lang="en-US" sz="2000"/>
          </a:p>
        </p:txBody>
      </p:sp>
      <p:sp>
        <p:nvSpPr>
          <p:cNvPr id="4" name="Text 2"/>
          <p:cNvSpPr txBox="1"/>
          <p:nvPr/>
        </p:nvSpPr>
        <p:spPr>
          <a:xfrm>
            <a:off x="868680" y="118872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200"/>
          </a:p>
        </p:txBody>
      </p:sp>
      <p:sp>
        <p:nvSpPr>
          <p:cNvPr id="5" name="Text 3"/>
          <p:cNvSpPr txBox="1"/>
          <p:nvPr/>
        </p:nvSpPr>
        <p:spPr>
          <a:xfrm>
            <a:off x="868680" y="26974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9F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Zeit</a:t>
            </a:r>
            <a:endParaRPr lang="en-US" sz="1400"/>
          </a:p>
        </p:txBody>
      </p:sp>
      <p:sp>
        <p:nvSpPr>
          <p:cNvPr id="6" name="Text 4"/>
          <p:cNvSpPr txBox="1"/>
          <p:nvPr/>
        </p:nvSpPr>
        <p:spPr>
          <a:xfrm>
            <a:off x="868680" y="299923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Minuten</a:t>
            </a:r>
            <a:endParaRPr lang="en-US" sz="1900"/>
          </a:p>
        </p:txBody>
      </p:sp>
      <p:sp>
        <p:nvSpPr>
          <p:cNvPr id="7" name="Text 5"/>
          <p:cNvSpPr txBox="1"/>
          <p:nvPr/>
        </p:nvSpPr>
        <p:spPr>
          <a:xfrm>
            <a:off x="868680" y="363016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9F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Sozialform</a:t>
            </a:r>
            <a:endParaRPr lang="en-US" sz="1400"/>
          </a:p>
        </p:txBody>
      </p:sp>
      <p:sp>
        <p:nvSpPr>
          <p:cNvPr id="8" name="Text 6"/>
          <p:cNvSpPr txBox="1"/>
          <p:nvPr/>
        </p:nvSpPr>
        <p:spPr>
          <a:xfrm>
            <a:off x="868680" y="39319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Partnerarbeit</a:t>
            </a:r>
            <a:endParaRPr lang="en-US" sz="1900"/>
          </a:p>
        </p:txBody>
      </p:sp>
      <p:sp>
        <p:nvSpPr>
          <p:cNvPr id="11" name="Text 9"/>
          <p:cNvSpPr txBox="1"/>
          <p:nvPr/>
        </p:nvSpPr>
        <p:spPr>
          <a:xfrm>
            <a:off x="868680" y="4702329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9F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Arbeitsbuch</a:t>
            </a:r>
            <a:endParaRPr lang="en-US" sz="1400"/>
          </a:p>
        </p:txBody>
      </p:sp>
      <p:sp>
        <p:nvSpPr>
          <p:cNvPr id="12" name="Text 10"/>
          <p:cNvSpPr txBox="1"/>
          <p:nvPr/>
        </p:nvSpPr>
        <p:spPr>
          <a:xfrm>
            <a:off x="868680" y="5004081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Aufgabe 106</a:t>
            </a:r>
            <a:endParaRPr lang="en-US" sz="1900"/>
          </a:p>
        </p:txBody>
      </p:sp>
      <p:sp>
        <p:nvSpPr>
          <p:cNvPr id="13" name="Text 11"/>
          <p:cNvSpPr txBox="1"/>
          <p:nvPr/>
        </p:nvSpPr>
        <p:spPr>
          <a:xfrm>
            <a:off x="3886200" y="685800"/>
            <a:ext cx="77083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Forscherauftrag: Wo steht der Server?</a:t>
            </a:r>
            <a:endParaRPr lang="en-US" sz="3000"/>
          </a:p>
        </p:txBody>
      </p:sp>
      <p:sp>
        <p:nvSpPr>
          <p:cNvPr id="14" name="Text 12"/>
          <p:cNvSpPr txBox="1"/>
          <p:nvPr/>
        </p:nvSpPr>
        <p:spPr>
          <a:xfrm>
            <a:off x="3886200" y="1691640"/>
            <a:ext cx="7708392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00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Öffnet einen IP-Abfragedienst, zum Beispiel wieistmeineip.ch.</a:t>
            </a:r>
            <a:endParaRPr lang="en-US" sz="200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00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Tragt eure öffentliche IP-Adresse und den angezeigten Ort in die Tabelle ein.</a:t>
            </a:r>
            <a:endParaRPr lang="en-US" sz="200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00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Sucht die IP-Adressen und Standorte von srf.ch, sbb.ch und youtube.com.</a:t>
            </a:r>
            <a:endParaRPr lang="en-US" sz="200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00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Vergleicht eure IP-Adresse mit der eurer Banknachbarin oder eures Banknachbarn.</a:t>
            </a:r>
            <a:endParaRPr lang="en-US" sz="20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3017520" cy="6035040"/>
          </a:xfrm>
          <a:prstGeom prst="roundRect">
            <a:avLst>
              <a:gd name="adj" fmla="val 2424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3" name="Text 1"/>
          <p:cNvSpPr txBox="1"/>
          <p:nvPr/>
        </p:nvSpPr>
        <p:spPr>
          <a:xfrm>
            <a:off x="868680" y="7772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9F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Auftrag</a:t>
            </a:r>
            <a:endParaRPr lang="en-US" sz="2000"/>
          </a:p>
        </p:txBody>
      </p:sp>
      <p:sp>
        <p:nvSpPr>
          <p:cNvPr id="4" name="Text 2"/>
          <p:cNvSpPr txBox="1"/>
          <p:nvPr/>
        </p:nvSpPr>
        <p:spPr>
          <a:xfrm>
            <a:off x="868680" y="118872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200"/>
          </a:p>
        </p:txBody>
      </p:sp>
      <p:sp>
        <p:nvSpPr>
          <p:cNvPr id="5" name="Text 3"/>
          <p:cNvSpPr txBox="1"/>
          <p:nvPr/>
        </p:nvSpPr>
        <p:spPr>
          <a:xfrm>
            <a:off x="868680" y="26974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9F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Zeit</a:t>
            </a:r>
            <a:endParaRPr lang="en-US" sz="1400"/>
          </a:p>
        </p:txBody>
      </p:sp>
      <p:sp>
        <p:nvSpPr>
          <p:cNvPr id="6" name="Text 4"/>
          <p:cNvSpPr txBox="1"/>
          <p:nvPr/>
        </p:nvSpPr>
        <p:spPr>
          <a:xfrm>
            <a:off x="868680" y="299923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Minuten</a:t>
            </a:r>
            <a:endParaRPr lang="en-US" sz="1900"/>
          </a:p>
        </p:txBody>
      </p:sp>
      <p:sp>
        <p:nvSpPr>
          <p:cNvPr id="7" name="Text 5"/>
          <p:cNvSpPr txBox="1"/>
          <p:nvPr/>
        </p:nvSpPr>
        <p:spPr>
          <a:xfrm>
            <a:off x="868680" y="363016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9F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Sozialform</a:t>
            </a:r>
            <a:endParaRPr lang="en-US" sz="1400"/>
          </a:p>
        </p:txBody>
      </p:sp>
      <p:sp>
        <p:nvSpPr>
          <p:cNvPr id="8" name="Text 6"/>
          <p:cNvSpPr txBox="1"/>
          <p:nvPr/>
        </p:nvSpPr>
        <p:spPr>
          <a:xfrm>
            <a:off x="868680" y="39319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Gruppenarbeit</a:t>
            </a:r>
            <a:endParaRPr lang="en-US" sz="1900"/>
          </a:p>
        </p:txBody>
      </p:sp>
      <p:sp>
        <p:nvSpPr>
          <p:cNvPr id="11" name="Text 9"/>
          <p:cNvSpPr txBox="1"/>
          <p:nvPr/>
        </p:nvSpPr>
        <p:spPr>
          <a:xfrm>
            <a:off x="868680" y="4922667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9F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Arbeitsbuch</a:t>
            </a:r>
            <a:endParaRPr lang="en-US" sz="1400"/>
          </a:p>
        </p:txBody>
      </p:sp>
      <p:sp>
        <p:nvSpPr>
          <p:cNvPr id="12" name="Text 10"/>
          <p:cNvSpPr txBox="1"/>
          <p:nvPr/>
        </p:nvSpPr>
        <p:spPr>
          <a:xfrm>
            <a:off x="868680" y="5224419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Aufgabe 107</a:t>
            </a:r>
            <a:endParaRPr lang="en-US" sz="1900"/>
          </a:p>
        </p:txBody>
      </p:sp>
      <p:sp>
        <p:nvSpPr>
          <p:cNvPr id="13" name="Text 11"/>
          <p:cNvSpPr txBox="1"/>
          <p:nvPr/>
        </p:nvSpPr>
        <p:spPr>
          <a:xfrm>
            <a:off x="3886200" y="685800"/>
            <a:ext cx="77083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hat die IP-Adresse damit zu tun?</a:t>
            </a:r>
            <a:endParaRPr lang="en-US" sz="3000"/>
          </a:p>
        </p:txBody>
      </p:sp>
      <p:sp>
        <p:nvSpPr>
          <p:cNvPr id="14" name="Text 12"/>
          <p:cNvSpPr txBox="1"/>
          <p:nvPr/>
        </p:nvSpPr>
        <p:spPr>
          <a:xfrm>
            <a:off x="3886200" y="1691640"/>
            <a:ext cx="7708392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00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Lest die drei Situationen auf AB 1.</a:t>
            </a:r>
            <a:endParaRPr lang="en-US" sz="200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00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Erklärt je in einem Satz, was die IP-Adresse damit zu tun hat.</a:t>
            </a:r>
            <a:endParaRPr lang="en-US" sz="200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00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Einigt euch in der Gruppe auf die beste Formulierung.</a:t>
            </a:r>
            <a:endParaRPr lang="en-US" sz="20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Auflösung</a:t>
            </a:r>
            <a:endParaRPr lang="en-US" sz="3200"/>
          </a:p>
        </p:txBody>
      </p:sp>
      <p:sp>
        <p:nvSpPr>
          <p:cNvPr id="3" name="Text 1"/>
          <p:cNvSpPr txBox="1"/>
          <p:nvPr/>
        </p:nvSpPr>
        <p:spPr>
          <a:xfrm>
            <a:off x="731520" y="1463040"/>
            <a:ext cx="10543032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Gesperrtes Video: Die Plattform liest am Standort der IP-Adresse das Land ab und prüft, ob sie das Video dort zeigen darf.</a:t>
            </a:r>
            <a:endParaRPr lang="en-US" sz="200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Währung im Shop: Der Shop erkennt das Land und stellt die passende Währung ein.</a:t>
            </a:r>
            <a:endParaRPr lang="en-US" sz="200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Passende Werbung: Suchanfragen werden zusammen mit der IP-Adresse gespeichert, daraus entstehen Profile.</a:t>
            </a:r>
            <a:endParaRPr lang="en-US" sz="200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Zusatz: Staaten können mit Hilfe der IP-Adressen ganze Dienste landesweit sperren.</a:t>
            </a:r>
            <a:endParaRPr lang="en-US" sz="2000"/>
          </a:p>
        </p:txBody>
      </p:sp>
      <p:sp>
        <p:nvSpPr>
          <p:cNvPr id="4" name="Shape 2"/>
          <p:cNvSpPr/>
          <p:nvPr/>
        </p:nvSpPr>
        <p:spPr>
          <a:xfrm>
            <a:off x="548640" y="5440680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EAF2F6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5" name="Text 3"/>
          <p:cNvSpPr txBox="1"/>
          <p:nvPr/>
        </p:nvSpPr>
        <p:spPr>
          <a:xfrm>
            <a:off x="868680" y="5440680"/>
            <a:ext cx="104515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Wichtig: Die IP-Adresse zeigt einen ungefähren Ort, nicht eure Wohnadresse.</a:t>
            </a:r>
            <a:endParaRPr lang="en-US" sz="17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fünf Begriffe aus Kapitel 1A, kurz aufgefrischt</a:t>
            </a:r>
            <a:endParaRPr lang="en-US" sz="320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502152" cy="2276856"/>
          </a:xfrm>
          <a:prstGeom prst="roundRect">
            <a:avLst>
              <a:gd name="adj" fmla="val 3213"/>
            </a:avLst>
          </a:prstGeom>
          <a:solidFill>
            <a:srgbClr val="EAF2F6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4" name="Text 2"/>
          <p:cNvSpPr txBox="1"/>
          <p:nvPr/>
        </p:nvSpPr>
        <p:spPr>
          <a:xfrm>
            <a:off x="841248" y="1783080"/>
            <a:ext cx="29169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2000"/>
          </a:p>
        </p:txBody>
      </p:sp>
      <p:sp>
        <p:nvSpPr>
          <p:cNvPr id="5" name="Text 3"/>
          <p:cNvSpPr txBox="1"/>
          <p:nvPr/>
        </p:nvSpPr>
        <p:spPr>
          <a:xfrm>
            <a:off x="841248" y="2386584"/>
            <a:ext cx="2916936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Computer, der rund um die Uhr online ist und Inhalte liefert.</a:t>
            </a:r>
            <a:endParaRPr lang="en-US" sz="1600"/>
          </a:p>
        </p:txBody>
      </p:sp>
      <p:sp>
        <p:nvSpPr>
          <p:cNvPr id="6" name="Shape 4"/>
          <p:cNvSpPr/>
          <p:nvPr/>
        </p:nvSpPr>
        <p:spPr>
          <a:xfrm>
            <a:off x="4343400" y="1463040"/>
            <a:ext cx="3502152" cy="2276856"/>
          </a:xfrm>
          <a:prstGeom prst="roundRect">
            <a:avLst>
              <a:gd name="adj" fmla="val 3213"/>
            </a:avLst>
          </a:prstGeom>
          <a:solidFill>
            <a:srgbClr val="EAF2F6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7" name="Text 5"/>
          <p:cNvSpPr txBox="1"/>
          <p:nvPr/>
        </p:nvSpPr>
        <p:spPr>
          <a:xfrm>
            <a:off x="4636008" y="1783080"/>
            <a:ext cx="29169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</a:t>
            </a:r>
            <a:endParaRPr lang="en-US" sz="2000"/>
          </a:p>
        </p:txBody>
      </p:sp>
      <p:sp>
        <p:nvSpPr>
          <p:cNvPr id="8" name="Text 6"/>
          <p:cNvSpPr txBox="1"/>
          <p:nvPr/>
        </p:nvSpPr>
        <p:spPr>
          <a:xfrm>
            <a:off x="4636008" y="2386584"/>
            <a:ext cx="2916936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Leitet Datenpakete von einem Netzwerk ins nächste.</a:t>
            </a:r>
            <a:endParaRPr lang="en-US" sz="1600"/>
          </a:p>
        </p:txBody>
      </p:sp>
      <p:sp>
        <p:nvSpPr>
          <p:cNvPr id="9" name="Shape 7"/>
          <p:cNvSpPr/>
          <p:nvPr/>
        </p:nvSpPr>
        <p:spPr>
          <a:xfrm>
            <a:off x="8138160" y="1463040"/>
            <a:ext cx="3502152" cy="2276856"/>
          </a:xfrm>
          <a:prstGeom prst="roundRect">
            <a:avLst>
              <a:gd name="adj" fmla="val 3213"/>
            </a:avLst>
          </a:prstGeom>
          <a:solidFill>
            <a:srgbClr val="EAF2F6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10" name="Text 8"/>
          <p:cNvSpPr txBox="1"/>
          <p:nvPr/>
        </p:nvSpPr>
        <p:spPr>
          <a:xfrm>
            <a:off x="8430768" y="1783080"/>
            <a:ext cx="29169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</a:t>
            </a:r>
            <a:endParaRPr lang="en-US" sz="2000"/>
          </a:p>
        </p:txBody>
      </p:sp>
      <p:sp>
        <p:nvSpPr>
          <p:cNvPr id="11" name="Text 9"/>
          <p:cNvSpPr txBox="1"/>
          <p:nvPr/>
        </p:nvSpPr>
        <p:spPr>
          <a:xfrm>
            <a:off x="8430768" y="2386584"/>
            <a:ext cx="2916936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Firma, die den Zugang zum Internet bereitstellt.</a:t>
            </a:r>
            <a:endParaRPr lang="en-US" sz="1600"/>
          </a:p>
        </p:txBody>
      </p:sp>
      <p:sp>
        <p:nvSpPr>
          <p:cNvPr id="12" name="Shape 10"/>
          <p:cNvSpPr/>
          <p:nvPr/>
        </p:nvSpPr>
        <p:spPr>
          <a:xfrm>
            <a:off x="548640" y="4032504"/>
            <a:ext cx="3502152" cy="2276856"/>
          </a:xfrm>
          <a:prstGeom prst="roundRect">
            <a:avLst>
              <a:gd name="adj" fmla="val 3213"/>
            </a:avLst>
          </a:prstGeom>
          <a:solidFill>
            <a:srgbClr val="EAF2F6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13" name="Text 11"/>
          <p:cNvSpPr txBox="1"/>
          <p:nvPr/>
        </p:nvSpPr>
        <p:spPr>
          <a:xfrm>
            <a:off x="841248" y="4352544"/>
            <a:ext cx="29169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IP-Adresse</a:t>
            </a:r>
            <a:endParaRPr lang="en-US" sz="2000"/>
          </a:p>
        </p:txBody>
      </p:sp>
      <p:sp>
        <p:nvSpPr>
          <p:cNvPr id="14" name="Text 12"/>
          <p:cNvSpPr txBox="1"/>
          <p:nvPr/>
        </p:nvSpPr>
        <p:spPr>
          <a:xfrm>
            <a:off x="841248" y="4956048"/>
            <a:ext cx="2916936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Adresse, unter der ein Gerät im Internet erreichbar ist.</a:t>
            </a:r>
            <a:endParaRPr lang="en-US" sz="1600"/>
          </a:p>
        </p:txBody>
      </p:sp>
      <p:sp>
        <p:nvSpPr>
          <p:cNvPr id="15" name="Shape 13"/>
          <p:cNvSpPr/>
          <p:nvPr/>
        </p:nvSpPr>
        <p:spPr>
          <a:xfrm>
            <a:off x="4343400" y="4032504"/>
            <a:ext cx="3502152" cy="2276856"/>
          </a:xfrm>
          <a:prstGeom prst="roundRect">
            <a:avLst>
              <a:gd name="adj" fmla="val 3213"/>
            </a:avLst>
          </a:prstGeom>
          <a:solidFill>
            <a:srgbClr val="EAF2F6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16" name="Text 14"/>
          <p:cNvSpPr txBox="1"/>
          <p:nvPr/>
        </p:nvSpPr>
        <p:spPr>
          <a:xfrm>
            <a:off x="4636008" y="4352544"/>
            <a:ext cx="29169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Glasfaserkabel</a:t>
            </a:r>
            <a:endParaRPr lang="en-US" sz="2000"/>
          </a:p>
        </p:txBody>
      </p:sp>
      <p:sp>
        <p:nvSpPr>
          <p:cNvPr id="17" name="Text 15"/>
          <p:cNvSpPr txBox="1"/>
          <p:nvPr/>
        </p:nvSpPr>
        <p:spPr>
          <a:xfrm>
            <a:off x="4636008" y="4956048"/>
            <a:ext cx="2916936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Leitung, durch die sehr grosse Datenmengen sehr schnell fliessen.</a:t>
            </a:r>
            <a:endParaRPr lang="en-US" sz="16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737360"/>
            <a:ext cx="1054303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 ich im Internet anonym?</a:t>
            </a:r>
            <a:endParaRPr lang="en-US" sz="4000"/>
          </a:p>
        </p:txBody>
      </p:sp>
      <p:sp>
        <p:nvSpPr>
          <p:cNvPr id="3" name="Text 1"/>
          <p:cNvSpPr txBox="1"/>
          <p:nvPr/>
        </p:nvSpPr>
        <p:spPr>
          <a:xfrm>
            <a:off x="822960" y="4023360"/>
            <a:ext cx="1054303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>
                <a:solidFill>
                  <a:srgbClr val="C7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Schreibe deine Antwort in einem Satz mit Begründung ins Heft. Das ist dein Exit-Ticket.</a:t>
            </a:r>
            <a:endParaRPr lang="en-US" sz="2200"/>
          </a:p>
        </p:txBody>
      </p:sp>
      <p:sp>
        <p:nvSpPr>
          <p:cNvPr id="4" name="Shape 2"/>
          <p:cNvSpPr/>
          <p:nvPr/>
        </p:nvSpPr>
        <p:spPr>
          <a:xfrm>
            <a:off x="10451592" y="502920"/>
            <a:ext cx="1005840" cy="1005840"/>
          </a:xfrm>
          <a:prstGeom prst="ellipse">
            <a:avLst/>
          </a:prstGeom>
          <a:solidFill>
            <a:srgbClr val="E4572E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5" name="Text 3"/>
          <p:cNvSpPr txBox="1"/>
          <p:nvPr/>
        </p:nvSpPr>
        <p:spPr>
          <a:xfrm>
            <a:off x="10451592" y="50292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5'</a:t>
            </a:r>
            <a:endParaRPr lang="en-US" sz="22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Zum Schluss</a:t>
            </a:r>
            <a:endParaRPr lang="en-US" sz="320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11091672" cy="1828800"/>
          </a:xfrm>
          <a:prstGeom prst="roundRect">
            <a:avLst>
              <a:gd name="adj" fmla="val 4000"/>
            </a:avLst>
          </a:prstGeom>
          <a:solidFill>
            <a:srgbClr val="EAF2F6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4" name="Text 2"/>
          <p:cNvSpPr txBox="1"/>
          <p:nvPr/>
        </p:nvSpPr>
        <p:spPr>
          <a:xfrm>
            <a:off x="914400" y="178308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Hausaufgabe</a:t>
            </a:r>
            <a:endParaRPr lang="en-US" sz="1900"/>
          </a:p>
        </p:txBody>
      </p:sp>
      <p:sp>
        <p:nvSpPr>
          <p:cNvPr id="5" name="Text 3"/>
          <p:cNvSpPr txBox="1"/>
          <p:nvPr/>
        </p:nvSpPr>
        <p:spPr>
          <a:xfrm>
            <a:off x="914400" y="2267712"/>
            <a:ext cx="103601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Prüfe zu Hause, welche drei Apps deinen Standort verlangen. Notiere, ob der Standort dafür wirklich nötig ist.</a:t>
            </a:r>
            <a:endParaRPr lang="en-US" sz="2000"/>
          </a:p>
        </p:txBody>
      </p:sp>
      <p:sp>
        <p:nvSpPr>
          <p:cNvPr id="6" name="Shape 4"/>
          <p:cNvSpPr/>
          <p:nvPr/>
        </p:nvSpPr>
        <p:spPr>
          <a:xfrm>
            <a:off x="548640" y="3657600"/>
            <a:ext cx="11091672" cy="1828800"/>
          </a:xfrm>
          <a:prstGeom prst="roundRect">
            <a:avLst>
              <a:gd name="adj" fmla="val 4000"/>
            </a:avLst>
          </a:prstGeom>
          <a:solidFill>
            <a:srgbClr val="F4F8FA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7" name="Text 5"/>
          <p:cNvSpPr txBox="1"/>
          <p:nvPr/>
        </p:nvSpPr>
        <p:spPr>
          <a:xfrm>
            <a:off x="914400" y="388620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Nächstes Mal</a:t>
            </a:r>
            <a:endParaRPr lang="en-US" sz="1900"/>
          </a:p>
        </p:txBody>
      </p:sp>
      <p:sp>
        <p:nvSpPr>
          <p:cNvPr id="8" name="Text 6"/>
          <p:cNvSpPr txBox="1"/>
          <p:nvPr/>
        </p:nvSpPr>
        <p:spPr>
          <a:xfrm>
            <a:off x="914400" y="4370832"/>
            <a:ext cx="103601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Nächste Woche: Kann man Online-Bewertungen trauen? Und warum ruckelt ein Video manchmal?</a:t>
            </a:r>
            <a:endParaRPr lang="en-US" sz="2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F76647348B379D4C8C69607D0161AF8A" ma:contentTypeVersion="3" ma:contentTypeDescription="Ein neues Dokument erstellen." ma:contentTypeScope="" ma:versionID="6a697bffcbd78b9fda0eba220daf1e9d">
  <xsd:schema xmlns:xsd="http://www.w3.org/2001/XMLSchema" xmlns:xs="http://www.w3.org/2001/XMLSchema" xmlns:p="http://schemas.microsoft.com/office/2006/metadata/properties" xmlns:ns2="bf2f3489-6e2b-4b6a-b220-b450f76d35fe" targetNamespace="http://schemas.microsoft.com/office/2006/metadata/properties" ma:root="true" ma:fieldsID="cc1d1b7c1632f7bb78749768a1a3d501" ns2:_="">
    <xsd:import namespace="bf2f3489-6e2b-4b6a-b220-b450f76d35f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f2f3489-6e2b-4b6a-b220-b450f76d35f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BDD9872-9A8B-4E50-BB7D-75C2DEF61F41}">
  <ds:schemaRefs>
    <ds:schemaRef ds:uri="bf2f3489-6e2b-4b6a-b220-b450f76d35fe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342CBBA5-70EB-45CD-9138-1672778913F0}">
  <ds:schemaRefs>
    <ds:schemaRef ds:uri="bf2f3489-6e2b-4b6a-b220-b450f76d35f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20F24D7C-457D-424B-B390-684CF81830C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15</Slides>
  <Notes>15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Medien und Informatik, 1. Sek</dc:creator>
  <cp:revision>1</cp:revision>
  <dcterms:created xsi:type="dcterms:W3CDTF">2026-09-14T13:23:32Z</dcterms:created>
  <dcterms:modified xsi:type="dcterms:W3CDTF">2026-09-15T09:15:05Z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0x010100F76647348B379D4C8C69607D0161AF8A</vt:lpwstr>
  </property>
</Properties>
</file>