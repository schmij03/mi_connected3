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Ankommen, ca. 1 Minute. Heute stehen zwei Stationen auf dem Plan: 1F (Dienste und Infrastruktur) und 1G (FOMO, Ferienfotos). Die Videobotschaft (Aufgabe 124) ist wegen der knappen Zeit gestrichen und durch einen kurzen schriftlichen Rat an Lisa ersetzt.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Zeitangaben ergeben 45 Minuten (4 + 7 + 9 + 4 + 8 + 12 + 1). Die Lektion hat zwei Teile: Zuerst 1F (Dienste und Infrastruktur, 20 Minuten), danach 1G (Ferienfotos, 24 Minuten). Falls 1F länger dauert, kürze den Einstieg zu 1G (FOMO) und lass das Barometer mit nur drei Aussagen laufen.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Antworten erscheinen nacheinander (Klick). Erst Lernende antworten lassen, dann aufdecken. Zu Frage 1: Bei 8 Dörfern sind es 7 Verbindungen, wie im Beispiel im Handbuch (acht Knoten, sieben Verbindungen). Zu Frage 2: Der Begriff wird in Kapitel 3 weiter vertieft, hier genügt die einfache Beschreibung. Sollten die Hausaufgaben (Aufgaben 118 bis 120) offen sein, jetzt kurz einsammeln oder auf Teams verweisen.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Lernziele laut vorlesen (1 Minute). Die ersten zwei Ziele entsprechen dem Lernziel «Infrastruktur und Dienste unterscheiden» auf dem Lernzielblatt, das dritte dem Lernziel zu Chancen und Risiken von Fotos. Bezug zur Prüfung: Aufgaben 2 und 3 (Infrastruktur oder Dienst, Spedition) und der erste Teil von Aufgabe 7. Lehrplan 21: MI.2.3.m (Internet als Infrastruktur von seinen Diensten unterscheiden), MI.1.1.e (Chancen und Risiken der Mediennutzung).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3 Minuten. Einstiegsfrage an die Klasse: Wer hat zuhause schon mal ein Paket erwartet? Wodurch kommt es an (Strasse, Lieferwagen)? Dann die Tabelle aufdecken. Das Handbuch (Kapitel 1F) arbeitet genau mit dieser Analogie: Die Fahrzeuge der Spedition stehen für die Dienste, das Strassennetz für die Infrastruktur aus Kabeln und Routern. Das Handbuch weist darauf hin, dass die Technik hier nicht vollständig erklärt wird. Es geht um die Unterscheidung, nicht um Netzwerktechnik. Prüfungsbezug: Aufgabe 3 «Das Internet als Spedition».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2 Minuten. Fachlich nach Handbuch: Der WWW-Dienst wurde von Tim Berners-Lee entwickelt, beruht auf einem einfachen Anfrage-Antwort-Prinzip und spricht einen Webserver über eine eindeutige Adresse (URL) an. Weitere Dienste, die auch im Lehrplan genannt werden: E-Mail (die erste E-Mail wurde 1971 verschickt), Internettelefonie, soziale Netzwerke. Frage an die Klasse: Welche Dienste nutzt ihr selbst jeden Tag? Die Antworten stehen später in der Sortieraufgabe.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2 Minuten. Ruhig von links nach rechts erzählen: Anfrage hin (Türkis), Antwort zurück (Orange). Bezug zu 1A: Dort haben wir den Weg einer Chat-Nachricht von Lisa zu Aylin gezeichnet, hier ist es der Weg einer Webseite. Der Hin- und der Rückweg müssen nicht über dieselben Router führen. Verständnisfrage: Welcher Teil gehört zum Dienst WWW, welcher zur Infrastruktur? Antwort: Anfrage und Antwort sind der Dienst, Router, Kabel und Server die Infrastruktur.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3 Minuten. Die Begriffe können auch als Wortkarten auf den Tischen liegen (ausdrucken und ausschneiden), dann sortieren die Paare die Karten in zwei Stapel. Schwierigstes Wort ist erfahrungsgemäss «Server»: Er gehört zur Infrastruktur, weil er auf Anfragen wartet und Daten bereithält, der Dienst ist die Art, wie Anfrage und Antwort ablaufen. Prüfungsbezug: Aufgabe 2 fragt nach einem Dienst, einem Teil der Infrastruktur und dem Unterschied.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2 Minuten. Mehrere Paare ihre Gruppen und Begründungen nennen lassen, dann die Lösung zeigen. Der Merksatz ist die Grundlage für Prüfungsaufgabe 2c (Unterschied erklären). Die Zuordnung folgt dem Handbuch und der Prüfung (Kabel, Router, Server als Infrastruktur, WWW und E-Mail als Dienste). Falls jemand «soziale Netzwerke» in Frage stellt: Sie nutzen das Internet als Transportweg, wie im Lehrplan 21 (MI.2.3.m) aufgeführt.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Minuten Einzelarbeit, du gehst herum. Aufgabe 121 festigt die neuen Begriffe: Die Lernenden ergänzen im Glossar (Webplattform) ihre eigene Erklärung und ein Stichwort zum Kontext, zum Beispiel «Funktionsweise des Internets» oder «Datenübertragung im Internet». Der dritte Auftrag ist ein Prüfungsvorbereiter (Aufgabe 3, Das Internet als Spedition). Wer fertig ist, tauscht die Erklärung mit der Nachbarin oder dem Nachbarn.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4 Minuten. Das Thema kann persönlich werden, deshalb freiwillig und ohne Namen. Nach dem Handbuch: FOMO bezeichnet im engeren Sinn die Angst, eine soziale Interaktion oder eine ungewöhnliche Erfahrung zu verpassen. Auf Social Media wird das Gefühl verstärkt, weil man das eigene Leben mit dem fotografisch dokumentierten Leben anderer vergleicht. Wichtig ist der Gedanke, dass Fotos ein bewusst dekoriertes Schaufenster sind und nicht die Realität. Das Wort «Highlight» ruhig erklären lassen: Was wird nicht gepostet? Lehrplan 21: MI.1.1.e.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8 Minuten, pro Aussage rund 2 Minuten. Die Klasse stellt sich im Raum entlang einer Linie auf (vier Zonen, mit Zetteln markieren). Pro Aussage: aufstellen, zwei bis drei Personen begründen ihre Position, wer überzeugt wurde, darf wechseln. Diese vier Aussagen sind eigene Formulierungen als Einstieg. Die Aussagen in den Aufgaben 122 und 123 des Arbeitsbuchs sollen die Lernenden danach selbst bearbeiten, darum wurden sie hier nicht wiederholt. Aussage 4 führt zu 1H (Ortsangaben, Einbruchsrisiko) und zur Prüfung (Chancen und Risiken des Postens). Es gibt keine richtige Antwort, Begründungen zählen.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Minuten. Aufgabe 122 und 123 stammen aus dem Arbeitsbuch: Die Lernenden setzen sich mit vorgegebenen Aussagen auseinander und schärfen ihre Position, danach gibt der Vergleich in der Gruppe einen Diskussionsanlass. Aufgabe 124 (Videobotschaft an Lisa) ist wegen der Zeit gestrichen. Als Ersatz bleibt der Kern der Aufgabe: Die Gruppe einigt sich auf einen Rat an Lisa, aber schriftlich in zwei Sätzen statt als Video. Die Beispielpositionen des Handbuchs (zum Beispiel keinen Stress machen, Highlights relativieren) kannst du als Impuls nutzen, falls eine Gruppe nicht weiterkommt. Die Ergebnisse werden in den letzten Minuten kurz vorgelesen oder in Teams abgegeben.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1 Minute. Die drei Sätze als Ausstiegsticket: Die Lernenden zeigen mit Daumen oder Fingern (1 bis 5), wie sicher sie sich bei jedem Satz fühlen. Bei Satz 1 oder 2 unter 3: In der Repetition am 03.11. nochmals aufgreifen (Prüfungsaufgaben 2, 3 und 8). Hinweis: Arbeitsbuch Aufgabe 121 fertig machen, falls nicht erledigt.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304D"/>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49041"/>
            <a:ext cx="10566400" cy="4196159"/>
          </a:xfrm>
          <a:prstGeom prst="rect">
            <a:avLst/>
          </a:prstGeom>
          <a:noFill/>
          <a:ln/>
        </p:spPr>
        <p:txBody>
          <a:bodyPr wrap="square" lIns="0" tIns="0" rIns="0" bIns="0" rtlCol="0" anchor="t"/>
          <a:lstStyle>
            <a:lvl1pPr algn="l" indent="0" marL="0">
              <a:lnSpc>
                <a:spcPct val="140000"/>
              </a:lnSpc>
              <a:buNone/>
              <a:defRPr lang="en-US" sz="1600" dirty="0">
                <a:solidFill>
                  <a:srgbClr val="14304D"/>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304D"/>
                </a:solidFill>
                <a:latin typeface="Domine" pitchFamily="34" charset="0"/>
                <a:ea typeface="Domine" pitchFamily="34" charset="-122"/>
                <a:cs typeface="Domine"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49041"/>
            <a:ext cx="10566400" cy="4196159"/>
          </a:xfrm>
          <a:prstGeom prst="rect">
            <a:avLst/>
          </a:prstGeom>
          <a:noFill/>
          <a:ln/>
        </p:spPr>
        <p:txBody>
          <a:bodyPr wrap="square" lIns="0" tIns="0" rIns="0" bIns="0" rtlCol="0" anchor="t"/>
          <a:lstStyle>
            <a:lvl1pPr algn="l" indent="0" marL="0">
              <a:lnSpc>
                <a:spcPct val="140000"/>
              </a:lnSpc>
              <a:buNone/>
              <a:defRPr lang="en-US" sz="1600" dirty="0">
                <a:solidFill>
                  <a:srgbClr val="14304D"/>
                </a:solidFill>
                <a:latin typeface="Nunito Sans" pitchFamily="34" charset="0"/>
                <a:ea typeface="Nunito Sans" pitchFamily="34" charset="-122"/>
                <a:cs typeface="Nunito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04D"/>
        </a:solidFill>
      </p:bgPr>
    </p:bg>
    <p:spTree>
      <p:nvGrpSpPr>
        <p:cNvPr id="1" name=""/>
        <p:cNvGrpSpPr/>
        <p:nvPr/>
      </p:nvGrpSpPr>
      <p:grpSpPr>
        <a:xfrm>
          <a:off x="0" y="0"/>
          <a:ext cx="0" cy="0"/>
          <a:chOff x="0" y="0"/>
          <a:chExt cx="0" cy="0"/>
        </a:xfrm>
      </p:grpSpPr>
      <p:pic>
        <p:nvPicPr>
          <p:cNvPr id="2" name="Image 0" descr="Link">    </p:cNvPr>
          <p:cNvPicPr>
            <a:picLocks noChangeAspect="1"/>
          </p:cNvPicPr>
          <p:nvPr/>
        </p:nvPicPr>
        <p:blipFill>
          <a:blip r:embed="rId1"/>
          <a:srcRect l="0" r="0" t="0" b="0"/>
          <a:stretch/>
        </p:blipFill>
        <p:spPr>
          <a:xfrm>
            <a:off x="10109200" y="812800"/>
            <a:ext cx="1270000" cy="1270000"/>
          </a:xfrm>
          <a:prstGeom prst="rect">
            <a:avLst/>
          </a:prstGeom>
        </p:spPr>
      </p:pic>
      <p:sp>
        <p:nvSpPr>
          <p:cNvPr id="3" name="Text 0"/>
          <p:cNvSpPr/>
          <p:nvPr/>
        </p:nvSpPr>
        <p:spPr>
          <a:xfrm>
            <a:off x="812800" y="24867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D0C8"/>
                </a:solidFill>
                <a:latin typeface="Nunito Sans" pitchFamily="34" charset="0"/>
                <a:ea typeface="Nunito Sans" pitchFamily="34" charset="-122"/>
                <a:cs typeface="Nunito Sans" pitchFamily="34" charset="-120"/>
              </a:rPr>
              <a:t>MEDIEN UND INFORMATIK · 1. SEK · DI 27.10.2026</a:t>
            </a:r>
            <a:endParaRPr lang="en-US" sz="1200" dirty="0"/>
          </a:p>
        </p:txBody>
      </p:sp>
      <p:sp>
        <p:nvSpPr>
          <p:cNvPr id="4" name="Text 1"/>
          <p:cNvSpPr/>
          <p:nvPr>
            <p:ph type="title"/>
          </p:nvPr>
        </p:nvSpPr>
        <p:spPr>
          <a:xfrm>
            <a:off x="812800" y="290324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F6F4EE"/>
                </a:solidFill>
                <a:latin typeface="Domine" pitchFamily="18" charset="0"/>
                <a:ea typeface="Domine" pitchFamily="18" charset="-122"/>
                <a:cs typeface="Domine" pitchFamily="18" charset="-120"/>
              </a:rPr>
              <a:t>Der Post ist da</a:t>
            </a:r>
            <a:endParaRPr lang="en-US" sz="4800" dirty="0"/>
          </a:p>
        </p:txBody>
      </p:sp>
      <p:sp>
        <p:nvSpPr>
          <p:cNvPr id="5" name="Text 2"/>
          <p:cNvSpPr/>
          <p:nvPr/>
        </p:nvSpPr>
        <p:spPr>
          <a:xfrm>
            <a:off x="812800" y="377696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C3D5E0"/>
                </a:solidFill>
                <a:latin typeface="Nunito Sans" pitchFamily="34" charset="0"/>
                <a:ea typeface="Nunito Sans" pitchFamily="34" charset="-122"/>
                <a:cs typeface="Nunito Sans" pitchFamily="34" charset="-120"/>
              </a:rPr>
              <a:t>Internetdienste und Ferienfotos: 1F und 1G</a:t>
            </a:r>
            <a:endParaRPr lang="en-US" sz="22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5E0"/>
                </a:solidFill>
                <a:latin typeface="Nunito Sans" pitchFamily="34" charset="0"/>
                <a:ea typeface="Nunito Sans" pitchFamily="34" charset="-122"/>
                <a:cs typeface="Nunito Sans" pitchFamily="34" charset="-120"/>
              </a:rPr>
              <a:t>Kapitel 1 · Eine Entdeckungsreise durch das Internet · Prüfung am Dienstag, 10.11.2026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HEUTE</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Ablauf der Lektion</a:t>
            </a:r>
            <a:endParaRPr lang="en-US" sz="3200" dirty="0"/>
          </a:p>
        </p:txBody>
      </p:sp>
      <p:sp>
        <p:nvSpPr>
          <p:cNvPr id="4" name="Shape 2"/>
          <p:cNvSpPr/>
          <p:nvPr/>
        </p:nvSpPr>
        <p:spPr>
          <a:xfrm>
            <a:off x="815975" y="1750616"/>
            <a:ext cx="10560050" cy="468610"/>
          </a:xfrm>
          <a:prstGeom prst="roundRect">
            <a:avLst>
              <a:gd name="adj" fmla="val 21004"/>
            </a:avLst>
          </a:prstGeom>
          <a:solidFill>
            <a:srgbClr val="FCFBF7"/>
          </a:solidFill>
          <a:ln w="6350">
            <a:solidFill>
              <a:srgbClr val="D9DEDF"/>
            </a:solidFill>
            <a:prstDash val="solid"/>
          </a:ln>
        </p:spPr>
      </p:sp>
      <p:sp>
        <p:nvSpPr>
          <p:cNvPr id="5" name="Text 3"/>
          <p:cNvSpPr/>
          <p:nvPr/>
        </p:nvSpPr>
        <p:spPr>
          <a:xfrm>
            <a:off x="1022350" y="1842691"/>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4 Min</a:t>
            </a:r>
            <a:endParaRPr lang="en-US" sz="1600" dirty="0"/>
          </a:p>
        </p:txBody>
      </p:sp>
      <p:sp>
        <p:nvSpPr>
          <p:cNvPr id="6" name="Text 4"/>
          <p:cNvSpPr/>
          <p:nvPr/>
        </p:nvSpPr>
        <p:spPr>
          <a:xfrm>
            <a:off x="2051050" y="1842691"/>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Aufwärmen</a:t>
            </a:r>
            <a:endParaRPr lang="en-US" sz="1600" dirty="0"/>
          </a:p>
        </p:txBody>
      </p:sp>
      <p:sp>
        <p:nvSpPr>
          <p:cNvPr id="7" name="Text 5"/>
          <p:cNvSpPr/>
          <p:nvPr/>
        </p:nvSpPr>
        <p:spPr>
          <a:xfrm>
            <a:off x="5302250" y="1842691"/>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Zwei Fragen zu Prim</a:t>
            </a:r>
            <a:endParaRPr lang="en-US" sz="1600" dirty="0"/>
          </a:p>
        </p:txBody>
      </p:sp>
      <p:sp>
        <p:nvSpPr>
          <p:cNvPr id="8" name="Shape 6"/>
          <p:cNvSpPr/>
          <p:nvPr/>
        </p:nvSpPr>
        <p:spPr>
          <a:xfrm>
            <a:off x="815975" y="2301776"/>
            <a:ext cx="10560050" cy="468610"/>
          </a:xfrm>
          <a:prstGeom prst="roundRect">
            <a:avLst>
              <a:gd name="adj" fmla="val 21004"/>
            </a:avLst>
          </a:prstGeom>
          <a:solidFill>
            <a:srgbClr val="FCFBF7"/>
          </a:solidFill>
          <a:ln w="6350">
            <a:solidFill>
              <a:srgbClr val="D9DEDF"/>
            </a:solidFill>
            <a:prstDash val="solid"/>
          </a:ln>
        </p:spPr>
      </p:sp>
      <p:sp>
        <p:nvSpPr>
          <p:cNvPr id="9" name="Text 7"/>
          <p:cNvSpPr/>
          <p:nvPr/>
        </p:nvSpPr>
        <p:spPr>
          <a:xfrm>
            <a:off x="1022350" y="2393851"/>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7 Min</a:t>
            </a:r>
            <a:endParaRPr lang="en-US" sz="1600" dirty="0"/>
          </a:p>
        </p:txBody>
      </p:sp>
      <p:sp>
        <p:nvSpPr>
          <p:cNvPr id="10" name="Text 8"/>
          <p:cNvSpPr/>
          <p:nvPr/>
        </p:nvSpPr>
        <p:spPr>
          <a:xfrm>
            <a:off x="2051050" y="2393851"/>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1F Der Post ist da</a:t>
            </a:r>
            <a:endParaRPr lang="en-US" sz="1600" dirty="0"/>
          </a:p>
        </p:txBody>
      </p:sp>
      <p:sp>
        <p:nvSpPr>
          <p:cNvPr id="11" name="Text 9"/>
          <p:cNvSpPr/>
          <p:nvPr/>
        </p:nvSpPr>
        <p:spPr>
          <a:xfrm>
            <a:off x="5302250" y="2393851"/>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Das Internet als Spedition, das WWW</a:t>
            </a:r>
            <a:endParaRPr lang="en-US" sz="1600" dirty="0"/>
          </a:p>
        </p:txBody>
      </p:sp>
      <p:sp>
        <p:nvSpPr>
          <p:cNvPr id="12" name="Shape 10"/>
          <p:cNvSpPr/>
          <p:nvPr/>
        </p:nvSpPr>
        <p:spPr>
          <a:xfrm>
            <a:off x="815975" y="2852936"/>
            <a:ext cx="10560050" cy="468610"/>
          </a:xfrm>
          <a:prstGeom prst="roundRect">
            <a:avLst>
              <a:gd name="adj" fmla="val 21004"/>
            </a:avLst>
          </a:prstGeom>
          <a:solidFill>
            <a:srgbClr val="FCFBF7"/>
          </a:solidFill>
          <a:ln w="6350">
            <a:solidFill>
              <a:srgbClr val="D9DEDF"/>
            </a:solidFill>
            <a:prstDash val="solid"/>
          </a:ln>
        </p:spPr>
      </p:sp>
      <p:sp>
        <p:nvSpPr>
          <p:cNvPr id="13" name="Text 11"/>
          <p:cNvSpPr/>
          <p:nvPr/>
        </p:nvSpPr>
        <p:spPr>
          <a:xfrm>
            <a:off x="1022350" y="2945011"/>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9 Min</a:t>
            </a:r>
            <a:endParaRPr lang="en-US" sz="1600" dirty="0"/>
          </a:p>
        </p:txBody>
      </p:sp>
      <p:sp>
        <p:nvSpPr>
          <p:cNvPr id="14" name="Text 12"/>
          <p:cNvSpPr/>
          <p:nvPr/>
        </p:nvSpPr>
        <p:spPr>
          <a:xfrm>
            <a:off x="2051050" y="2945011"/>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Sortieren und Glossar</a:t>
            </a:r>
            <a:endParaRPr lang="en-US" sz="1600" dirty="0"/>
          </a:p>
        </p:txBody>
      </p:sp>
      <p:sp>
        <p:nvSpPr>
          <p:cNvPr id="15" name="Text 13"/>
          <p:cNvSpPr/>
          <p:nvPr/>
        </p:nvSpPr>
        <p:spPr>
          <a:xfrm>
            <a:off x="5302250" y="2945011"/>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Infrastruktur oder Dienst? Aufgabe 121</a:t>
            </a:r>
            <a:endParaRPr lang="en-US" sz="1600" dirty="0"/>
          </a:p>
        </p:txBody>
      </p:sp>
      <p:sp>
        <p:nvSpPr>
          <p:cNvPr id="16" name="Shape 14"/>
          <p:cNvSpPr/>
          <p:nvPr/>
        </p:nvSpPr>
        <p:spPr>
          <a:xfrm>
            <a:off x="815975" y="3404096"/>
            <a:ext cx="10560050" cy="468610"/>
          </a:xfrm>
          <a:prstGeom prst="roundRect">
            <a:avLst>
              <a:gd name="adj" fmla="val 21004"/>
            </a:avLst>
          </a:prstGeom>
          <a:solidFill>
            <a:srgbClr val="FCFBF7"/>
          </a:solidFill>
          <a:ln w="6350">
            <a:solidFill>
              <a:srgbClr val="D9DEDF"/>
            </a:solidFill>
            <a:prstDash val="solid"/>
          </a:ln>
        </p:spPr>
      </p:sp>
      <p:sp>
        <p:nvSpPr>
          <p:cNvPr id="17" name="Text 15"/>
          <p:cNvSpPr/>
          <p:nvPr/>
        </p:nvSpPr>
        <p:spPr>
          <a:xfrm>
            <a:off x="1022350" y="3496171"/>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4 Min</a:t>
            </a:r>
            <a:endParaRPr lang="en-US" sz="1600" dirty="0"/>
          </a:p>
        </p:txBody>
      </p:sp>
      <p:sp>
        <p:nvSpPr>
          <p:cNvPr id="18" name="Text 16"/>
          <p:cNvSpPr/>
          <p:nvPr/>
        </p:nvSpPr>
        <p:spPr>
          <a:xfrm>
            <a:off x="2051050" y="3496171"/>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1G Einstieg</a:t>
            </a:r>
            <a:endParaRPr lang="en-US" sz="1600" dirty="0"/>
          </a:p>
        </p:txBody>
      </p:sp>
      <p:sp>
        <p:nvSpPr>
          <p:cNvPr id="19" name="Text 17"/>
          <p:cNvSpPr/>
          <p:nvPr/>
        </p:nvSpPr>
        <p:spPr>
          <a:xfrm>
            <a:off x="5302250" y="3496171"/>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Tolle Fotos, tolle Ferien? Was ist FOMO?</a:t>
            </a:r>
            <a:endParaRPr lang="en-US" sz="1600" dirty="0"/>
          </a:p>
        </p:txBody>
      </p:sp>
      <p:sp>
        <p:nvSpPr>
          <p:cNvPr id="20" name="Shape 18"/>
          <p:cNvSpPr/>
          <p:nvPr/>
        </p:nvSpPr>
        <p:spPr>
          <a:xfrm>
            <a:off x="815975" y="3955256"/>
            <a:ext cx="10560050" cy="468610"/>
          </a:xfrm>
          <a:prstGeom prst="roundRect">
            <a:avLst>
              <a:gd name="adj" fmla="val 21004"/>
            </a:avLst>
          </a:prstGeom>
          <a:solidFill>
            <a:srgbClr val="FCFBF7"/>
          </a:solidFill>
          <a:ln w="6350">
            <a:solidFill>
              <a:srgbClr val="D9DEDF"/>
            </a:solidFill>
            <a:prstDash val="solid"/>
          </a:ln>
        </p:spPr>
      </p:sp>
      <p:sp>
        <p:nvSpPr>
          <p:cNvPr id="21" name="Text 19"/>
          <p:cNvSpPr/>
          <p:nvPr/>
        </p:nvSpPr>
        <p:spPr>
          <a:xfrm>
            <a:off x="1022350" y="4047331"/>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8 Min</a:t>
            </a:r>
            <a:endParaRPr lang="en-US" sz="1600" dirty="0"/>
          </a:p>
        </p:txBody>
      </p:sp>
      <p:sp>
        <p:nvSpPr>
          <p:cNvPr id="22" name="Text 20"/>
          <p:cNvSpPr/>
          <p:nvPr/>
        </p:nvSpPr>
        <p:spPr>
          <a:xfrm>
            <a:off x="2051050" y="4047331"/>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Meinungsbarometer</a:t>
            </a:r>
            <a:endParaRPr lang="en-US" sz="1600" dirty="0"/>
          </a:p>
        </p:txBody>
      </p:sp>
      <p:sp>
        <p:nvSpPr>
          <p:cNvPr id="23" name="Text 21"/>
          <p:cNvSpPr/>
          <p:nvPr/>
        </p:nvSpPr>
        <p:spPr>
          <a:xfrm>
            <a:off x="5302250" y="4047331"/>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Vier Aussagen, wir beziehen Stellung</a:t>
            </a:r>
            <a:endParaRPr lang="en-US" sz="1600" dirty="0"/>
          </a:p>
        </p:txBody>
      </p:sp>
      <p:sp>
        <p:nvSpPr>
          <p:cNvPr id="24" name="Shape 22"/>
          <p:cNvSpPr/>
          <p:nvPr/>
        </p:nvSpPr>
        <p:spPr>
          <a:xfrm>
            <a:off x="815975" y="4506416"/>
            <a:ext cx="10560050" cy="468610"/>
          </a:xfrm>
          <a:prstGeom prst="roundRect">
            <a:avLst>
              <a:gd name="adj" fmla="val 21004"/>
            </a:avLst>
          </a:prstGeom>
          <a:solidFill>
            <a:srgbClr val="FCFBF7"/>
          </a:solidFill>
          <a:ln w="6350">
            <a:solidFill>
              <a:srgbClr val="D9DEDF"/>
            </a:solidFill>
            <a:prstDash val="solid"/>
          </a:ln>
        </p:spPr>
      </p:sp>
      <p:sp>
        <p:nvSpPr>
          <p:cNvPr id="25" name="Text 23"/>
          <p:cNvSpPr/>
          <p:nvPr/>
        </p:nvSpPr>
        <p:spPr>
          <a:xfrm>
            <a:off x="1022350" y="4598491"/>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12 Min</a:t>
            </a:r>
            <a:endParaRPr lang="en-US" sz="1600" dirty="0"/>
          </a:p>
        </p:txBody>
      </p:sp>
      <p:sp>
        <p:nvSpPr>
          <p:cNvPr id="26" name="Text 24"/>
          <p:cNvSpPr/>
          <p:nvPr/>
        </p:nvSpPr>
        <p:spPr>
          <a:xfrm>
            <a:off x="2051050" y="4598491"/>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Auftrag</a:t>
            </a:r>
            <a:endParaRPr lang="en-US" sz="1600" dirty="0"/>
          </a:p>
        </p:txBody>
      </p:sp>
      <p:sp>
        <p:nvSpPr>
          <p:cNvPr id="27" name="Text 25"/>
          <p:cNvSpPr/>
          <p:nvPr/>
        </p:nvSpPr>
        <p:spPr>
          <a:xfrm>
            <a:off x="5302250" y="4598491"/>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Aufgaben 122 und 123, Rat an Lisa</a:t>
            </a:r>
            <a:endParaRPr lang="en-US" sz="1600" dirty="0"/>
          </a:p>
        </p:txBody>
      </p:sp>
      <p:sp>
        <p:nvSpPr>
          <p:cNvPr id="28" name="Shape 26"/>
          <p:cNvSpPr/>
          <p:nvPr/>
        </p:nvSpPr>
        <p:spPr>
          <a:xfrm>
            <a:off x="815975" y="5057577"/>
            <a:ext cx="10560050" cy="468610"/>
          </a:xfrm>
          <a:prstGeom prst="roundRect">
            <a:avLst>
              <a:gd name="adj" fmla="val 21004"/>
            </a:avLst>
          </a:prstGeom>
          <a:solidFill>
            <a:srgbClr val="FCFBF7"/>
          </a:solidFill>
          <a:ln w="6350">
            <a:solidFill>
              <a:srgbClr val="D9DEDF"/>
            </a:solidFill>
            <a:prstDash val="solid"/>
          </a:ln>
        </p:spPr>
      </p:sp>
      <p:sp>
        <p:nvSpPr>
          <p:cNvPr id="29" name="Text 27"/>
          <p:cNvSpPr/>
          <p:nvPr/>
        </p:nvSpPr>
        <p:spPr>
          <a:xfrm>
            <a:off x="1022350" y="5149652"/>
            <a:ext cx="8763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1 Min</a:t>
            </a:r>
            <a:endParaRPr lang="en-US" sz="1600" dirty="0"/>
          </a:p>
        </p:txBody>
      </p:sp>
      <p:sp>
        <p:nvSpPr>
          <p:cNvPr id="30" name="Text 28"/>
          <p:cNvSpPr/>
          <p:nvPr/>
        </p:nvSpPr>
        <p:spPr>
          <a:xfrm>
            <a:off x="2051050" y="5149652"/>
            <a:ext cx="313944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Abschluss</a:t>
            </a:r>
            <a:endParaRPr lang="en-US" sz="1600" dirty="0"/>
          </a:p>
        </p:txBody>
      </p:sp>
      <p:sp>
        <p:nvSpPr>
          <p:cNvPr id="31" name="Text 29"/>
          <p:cNvSpPr/>
          <p:nvPr/>
        </p:nvSpPr>
        <p:spPr>
          <a:xfrm>
            <a:off x="5302250" y="5149652"/>
            <a:ext cx="575564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B6B"/>
                </a:solidFill>
                <a:latin typeface="Nunito Sans" pitchFamily="34" charset="0"/>
                <a:ea typeface="Nunito Sans" pitchFamily="34" charset="-122"/>
                <a:cs typeface="Nunito Sans" pitchFamily="34" charset="-120"/>
              </a:rPr>
              <a:t>Das nehmen wir mit</a:t>
            </a:r>
            <a:endParaRPr lang="en-US" sz="1600" dirty="0"/>
          </a:p>
        </p:txBody>
      </p:sp>
      <p:sp>
        <p:nvSpPr>
          <p:cNvPr id="32" name="Text 3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33" name="Text 31"/>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E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AUFWÄRMEN · 4 MIN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Zwei Fragen zu Prim</a:t>
            </a:r>
            <a:endParaRPr lang="en-US" sz="3200" dirty="0"/>
          </a:p>
        </p:txBody>
      </p:sp>
      <p:sp>
        <p:nvSpPr>
          <p:cNvPr id="4" name="Text 2"/>
          <p:cNvSpPr/>
          <p:nvPr/>
        </p:nvSpPr>
        <p:spPr>
          <a:xfrm>
            <a:off x="812800" y="1905000"/>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4304D"/>
                </a:solidFill>
                <a:latin typeface="Domine" pitchFamily="18" charset="0"/>
                <a:ea typeface="Domine" pitchFamily="18" charset="-122"/>
                <a:cs typeface="Domine" pitchFamily="18" charset="-120"/>
              </a:rPr>
              <a:t>Ein Netz hat 8 Dörfer. Wie viele Verbindungen braucht das günstigste Netz?</a:t>
            </a:r>
            <a:endParaRPr lang="en-US" sz="2200" dirty="0"/>
          </a:p>
        </p:txBody>
      </p:sp>
      <p:sp>
        <p:nvSpPr>
          <p:cNvPr id="5" name="Text 3"/>
          <p:cNvSpPr/>
          <p:nvPr/>
        </p:nvSpPr>
        <p:spPr>
          <a:xfrm>
            <a:off x="812800" y="2794000"/>
            <a:ext cx="9525000" cy="487660"/>
          </a:xfrm>
          <a:prstGeom prst="roundRect">
            <a:avLst>
              <a:gd name="adj" fmla="val 20834"/>
            </a:avLst>
          </a:prstGeom>
          <a:solidFill>
            <a:srgbClr val="D6EAE7"/>
          </a:solidFill>
          <a:ln/>
        </p:spPr>
        <p:txBody>
          <a:bodyPr wrap="square" lIns="148042" tIns="71842" rIns="0" bIns="46442"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7 Verbindungen: immer eine weniger als Dörfer (n minus 1).</a:t>
            </a:r>
            <a:endParaRPr lang="en-US" sz="1600" dirty="0"/>
          </a:p>
        </p:txBody>
      </p:sp>
      <p:sp>
        <p:nvSpPr>
          <p:cNvPr id="6" name="Text 4"/>
          <p:cNvSpPr/>
          <p:nvPr/>
        </p:nvSpPr>
        <p:spPr>
          <a:xfrm>
            <a:off x="812800" y="3683000"/>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4304D"/>
                </a:solidFill>
                <a:latin typeface="Domine" pitchFamily="18" charset="0"/>
                <a:ea typeface="Domine" pitchFamily="18" charset="-122"/>
                <a:cs typeface="Domine" pitchFamily="18" charset="-120"/>
              </a:rPr>
              <a:t>Was ist ein Algorithmus?</a:t>
            </a:r>
            <a:endParaRPr lang="en-US" sz="2200" dirty="0"/>
          </a:p>
        </p:txBody>
      </p:sp>
      <p:sp>
        <p:nvSpPr>
          <p:cNvPr id="7" name="Text 5"/>
          <p:cNvSpPr/>
          <p:nvPr/>
        </p:nvSpPr>
        <p:spPr>
          <a:xfrm>
            <a:off x="812800" y="4191000"/>
            <a:ext cx="9525000" cy="487660"/>
          </a:xfrm>
          <a:prstGeom prst="roundRect">
            <a:avLst>
              <a:gd name="adj" fmla="val 20834"/>
            </a:avLst>
          </a:prstGeom>
          <a:solidFill>
            <a:srgbClr val="D6EAE7"/>
          </a:solidFill>
          <a:ln/>
        </p:spPr>
        <p:txBody>
          <a:bodyPr wrap="square" lIns="148042" tIns="71842" rIns="0" bIns="46442"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Eine Anleitung in Schritten, die ein Problem löst. Prim ist ein Beispiel.</a:t>
            </a:r>
            <a:endParaRPr lang="en-US" sz="1600" dirty="0"/>
          </a:p>
        </p:txBody>
      </p:sp>
      <p:sp>
        <p:nvSpPr>
          <p:cNvPr id="8" name="Text 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9" name="Text 7"/>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LERNZIELE</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Das kannst du am Ende der Lektion</a:t>
            </a:r>
            <a:endParaRPr lang="en-US" sz="3200" dirty="0"/>
          </a:p>
        </p:txBody>
      </p:sp>
      <p:sp>
        <p:nvSpPr>
          <p:cNvPr id="4" name="Shape 2"/>
          <p:cNvSpPr/>
          <p:nvPr/>
        </p:nvSpPr>
        <p:spPr>
          <a:xfrm>
            <a:off x="815975" y="1750616"/>
            <a:ext cx="10560050" cy="666750"/>
          </a:xfrm>
          <a:prstGeom prst="roundRect">
            <a:avLst>
              <a:gd name="adj" fmla="val 14762"/>
            </a:avLst>
          </a:prstGeom>
          <a:solidFill>
            <a:srgbClr val="FCFBF7"/>
          </a:solidFill>
          <a:ln w="6350">
            <a:solidFill>
              <a:srgbClr val="D9DEDF"/>
            </a:solidFill>
            <a:prstDash val="solid"/>
          </a:ln>
        </p:spPr>
      </p:sp>
      <p:pic>
        <p:nvPicPr>
          <p:cNvPr id="5" name="Image 0" descr="Check">    </p:cNvPr>
          <p:cNvPicPr>
            <a:picLocks noChangeAspect="1"/>
          </p:cNvPicPr>
          <p:nvPr/>
        </p:nvPicPr>
        <p:blipFill>
          <a:blip r:embed="rId1"/>
          <a:srcRect l="0" r="0" t="0" b="0"/>
          <a:stretch/>
        </p:blipFill>
        <p:spPr>
          <a:xfrm>
            <a:off x="1022350" y="1906191"/>
            <a:ext cx="355600" cy="355600"/>
          </a:xfrm>
          <a:prstGeom prst="rect">
            <a:avLst/>
          </a:prstGeom>
        </p:spPr>
      </p:pic>
      <p:sp>
        <p:nvSpPr>
          <p:cNvPr id="6" name="Text 3"/>
          <p:cNvSpPr/>
          <p:nvPr/>
        </p:nvSpPr>
        <p:spPr>
          <a:xfrm>
            <a:off x="1555750" y="1941711"/>
            <a:ext cx="948372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Du erklärst den Unterschied zwischen der Infrastruktur des Internets und seinen Diensten.</a:t>
            </a:r>
            <a:endParaRPr lang="en-US" sz="1600" dirty="0"/>
          </a:p>
        </p:txBody>
      </p:sp>
      <p:sp>
        <p:nvSpPr>
          <p:cNvPr id="7" name="Shape 4"/>
          <p:cNvSpPr/>
          <p:nvPr/>
        </p:nvSpPr>
        <p:spPr>
          <a:xfrm>
            <a:off x="815975" y="2576116"/>
            <a:ext cx="10560050" cy="666750"/>
          </a:xfrm>
          <a:prstGeom prst="roundRect">
            <a:avLst>
              <a:gd name="adj" fmla="val 14762"/>
            </a:avLst>
          </a:prstGeom>
          <a:solidFill>
            <a:srgbClr val="FCFBF7"/>
          </a:solidFill>
          <a:ln w="6350">
            <a:solidFill>
              <a:srgbClr val="D9DEDF"/>
            </a:solidFill>
            <a:prstDash val="solid"/>
          </a:ln>
        </p:spPr>
      </p:sp>
      <p:pic>
        <p:nvPicPr>
          <p:cNvPr id="8" name="Image 1" descr="Check">    </p:cNvPr>
          <p:cNvPicPr>
            <a:picLocks noChangeAspect="1"/>
          </p:cNvPicPr>
          <p:nvPr/>
        </p:nvPicPr>
        <p:blipFill>
          <a:blip r:embed="rId2"/>
          <a:srcRect l="0" r="0" t="0" b="0"/>
          <a:stretch/>
        </p:blipFill>
        <p:spPr>
          <a:xfrm>
            <a:off x="1022350" y="2731691"/>
            <a:ext cx="355600" cy="355600"/>
          </a:xfrm>
          <a:prstGeom prst="rect">
            <a:avLst/>
          </a:prstGeom>
        </p:spPr>
      </p:pic>
      <p:sp>
        <p:nvSpPr>
          <p:cNvPr id="9" name="Text 5"/>
          <p:cNvSpPr/>
          <p:nvPr/>
        </p:nvSpPr>
        <p:spPr>
          <a:xfrm>
            <a:off x="1555750" y="2767211"/>
            <a:ext cx="948372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Du überträgst das Bild einer Spedition (Strassen und Lieferfahrzeuge) auf das Internet.</a:t>
            </a:r>
            <a:endParaRPr lang="en-US" sz="1600" dirty="0"/>
          </a:p>
        </p:txBody>
      </p:sp>
      <p:sp>
        <p:nvSpPr>
          <p:cNvPr id="10" name="Shape 6"/>
          <p:cNvSpPr/>
          <p:nvPr/>
        </p:nvSpPr>
        <p:spPr>
          <a:xfrm>
            <a:off x="815975" y="3401616"/>
            <a:ext cx="10560050" cy="666750"/>
          </a:xfrm>
          <a:prstGeom prst="roundRect">
            <a:avLst>
              <a:gd name="adj" fmla="val 14762"/>
            </a:avLst>
          </a:prstGeom>
          <a:solidFill>
            <a:srgbClr val="FCFBF7"/>
          </a:solidFill>
          <a:ln w="6350">
            <a:solidFill>
              <a:srgbClr val="D9DEDF"/>
            </a:solidFill>
            <a:prstDash val="solid"/>
          </a:ln>
        </p:spPr>
      </p:sp>
      <p:pic>
        <p:nvPicPr>
          <p:cNvPr id="11" name="Image 2" descr="Check">    </p:cNvPr>
          <p:cNvPicPr>
            <a:picLocks noChangeAspect="1"/>
          </p:cNvPicPr>
          <p:nvPr/>
        </p:nvPicPr>
        <p:blipFill>
          <a:blip r:embed="rId3"/>
          <a:srcRect l="0" r="0" t="0" b="0"/>
          <a:stretch/>
        </p:blipFill>
        <p:spPr>
          <a:xfrm>
            <a:off x="1022350" y="3557191"/>
            <a:ext cx="355600" cy="355600"/>
          </a:xfrm>
          <a:prstGeom prst="rect">
            <a:avLst/>
          </a:prstGeom>
        </p:spPr>
      </p:pic>
      <p:sp>
        <p:nvSpPr>
          <p:cNvPr id="12" name="Text 7"/>
          <p:cNvSpPr/>
          <p:nvPr/>
        </p:nvSpPr>
        <p:spPr>
          <a:xfrm>
            <a:off x="1555750" y="3592711"/>
            <a:ext cx="948372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Du erklärst, was FOMO ist, und begründest deine Haltung zu Ferienfotos.</a:t>
            </a:r>
            <a:endParaRPr lang="en-US" sz="1600" dirty="0"/>
          </a:p>
        </p:txBody>
      </p:sp>
      <p:sp>
        <p:nvSpPr>
          <p:cNvPr id="13" name="Text 8"/>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4" name="Text 9"/>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1F DER POST IST DA</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Das Internet als Spedition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0141"/>
          <a:ext cx="10553700" cy="1756966"/>
        </p:xfrm>
        <a:graphic>
          <a:graphicData uri="http://schemas.openxmlformats.org/drawingml/2006/table">
            <a:tbl>
              <a:tblPr/>
              <a:tblGrid>
                <a:gridCol w="3588258"/>
                <a:gridCol w="6965442"/>
              </a:tblGrid>
              <a:tr h="439241">
                <a:tc>
                  <a:txBody>
                    <a:bodyPr/>
                    <a:lstStyle/>
                    <a:p>
                      <a:pPr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Bei der Spedition</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c>
                  <a:txBody>
                    <a:bodyPr/>
                    <a:lstStyle/>
                    <a:p>
                      <a:pPr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Im Internet</a:t>
                      </a:r>
                      <a:endParaRPr lang="en-US" sz="1600" dirty="0">
                        <a:latin typeface="Nunito Sans" charset="0"/>
                        <a:ea typeface="Nunito Sans" charset="0"/>
                        <a:cs typeface="Nunito Sans" charset="0"/>
                      </a:endParaRPr>
                    </a:p>
                  </a:txBody>
                  <a:tcPr marL="71120" marR="71120" marT="71120" marB="71120" anchor="t">
                    <a:lnL w="12700" cap="flat" cmpd="sng" algn="ctr">
                      <a:solidFill>
                        <a:srgbClr val="B6B5B0"/>
                      </a:solidFill>
                      <a:prstDash val="solid"/>
                      <a:round/>
                      <a:headEnd type="none" w="med" len="med"/>
                      <a:tailEnd type="none" w="med" len="med"/>
                    </a:lnL>
                    <a:lnR w="12700" cap="flat" cmpd="sng" algn="ctr">
                      <a:solidFill>
                        <a:srgbClr val="B6B5B0"/>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6B5B0"/>
                      </a:solidFill>
                      <a:prstDash val="solid"/>
                      <a:round/>
                      <a:headEnd type="none" w="med" len="med"/>
                      <a:tailEnd type="none" w="med" len="med"/>
                    </a:lnB>
                    <a:solidFill>
                      <a:srgbClr val="E4E2DC"/>
                    </a:solidFill>
                  </a:tcPr>
                </a:tc>
              </a:tr>
              <a:tr h="439241">
                <a:tc>
                  <a:txBody>
                    <a:bodyPr/>
                    <a:lstStyle/>
                    <a:p>
                      <a:pPr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Strassennetz</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Infrastruktur: Kabel, Router, Server</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6B5B0"/>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9241">
                <a:tc>
                  <a:txBody>
                    <a:bodyPr/>
                    <a:lstStyle/>
                    <a:p>
                      <a:pPr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Lieferfahrzeuge</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Dienste: WWW, E-Mail, Internettelefonie</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39241">
                <a:tc>
                  <a:txBody>
                    <a:bodyPr/>
                    <a:lstStyle/>
                    <a:p>
                      <a:pPr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Pakete</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Daten: Webseiten, Bilder, Videos, Nachrichten</a:t>
                      </a:r>
                      <a:endParaRPr lang="en-US" sz="1600" dirty="0">
                        <a:latin typeface="Nunito Sans" charset="0"/>
                        <a:ea typeface="Nunito Sans" charset="0"/>
                        <a:cs typeface="Nunito Sans" charset="0"/>
                      </a:endParaRPr>
                    </a:p>
                  </a:txBody>
                  <a:tcPr marL="71120" marR="71120" marT="71120" marB="7112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3720306"/>
            <a:ext cx="10566400" cy="538460"/>
          </a:xfrm>
          <a:prstGeom prst="roundRect">
            <a:avLst>
              <a:gd name="adj" fmla="val 18869"/>
            </a:avLst>
          </a:prstGeom>
          <a:solidFill>
            <a:srgbClr val="E39A3B"/>
          </a:solidFill>
          <a:ln/>
        </p:spPr>
        <p:txBody>
          <a:bodyPr wrap="square" lIns="173442" tIns="97242" rIns="0" bIns="71842"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Die Infrastruktur steht für alle bereit. Ein Dienst kümmert sich darum, Daten über sie zu transportieren.</a:t>
            </a:r>
            <a:endParaRPr lang="en-US" sz="1600" dirty="0"/>
          </a:p>
        </p:txBody>
      </p:sp>
      <p:sp>
        <p:nvSpPr>
          <p:cNvPr id="6" name="Text 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7" name="Text 4"/>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1F DER POST IST DA</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Das WWW ist ein Dienst</a:t>
            </a:r>
            <a:endParaRPr lang="en-US" sz="3200" dirty="0"/>
          </a:p>
        </p:txBody>
      </p:sp>
      <p:sp>
        <p:nvSpPr>
          <p:cNvPr id="4" name="Shape 2"/>
          <p:cNvSpPr/>
          <p:nvPr/>
        </p:nvSpPr>
        <p:spPr>
          <a:xfrm>
            <a:off x="815975" y="1750616"/>
            <a:ext cx="3414117" cy="1794371"/>
          </a:xfrm>
          <a:prstGeom prst="roundRect">
            <a:avLst>
              <a:gd name="adj" fmla="val 5485"/>
            </a:avLst>
          </a:prstGeom>
          <a:solidFill>
            <a:srgbClr val="FCFBF7"/>
          </a:solidFill>
          <a:ln w="6350">
            <a:solidFill>
              <a:srgbClr val="D9DEDF"/>
            </a:solidFill>
            <a:prstDash val="solid"/>
          </a:ln>
        </p:spPr>
      </p:sp>
      <p:pic>
        <p:nvPicPr>
          <p:cNvPr id="5" name="Image 0" descr="Globe">    </p:cNvPr>
          <p:cNvPicPr>
            <a:picLocks noChangeAspect="1"/>
          </p:cNvPicPr>
          <p:nvPr/>
        </p:nvPicPr>
        <p:blipFill>
          <a:blip r:embed="rId1"/>
          <a:srcRect l="0" r="0" t="0" b="0"/>
          <a:stretch/>
        </p:blipFill>
        <p:spPr>
          <a:xfrm>
            <a:off x="996950" y="1931591"/>
            <a:ext cx="355600" cy="355600"/>
          </a:xfrm>
          <a:prstGeom prst="rect">
            <a:avLst/>
          </a:prstGeom>
        </p:spPr>
      </p:pic>
      <p:sp>
        <p:nvSpPr>
          <p:cNvPr id="6" name="Text 3"/>
          <p:cNvSpPr/>
          <p:nvPr/>
        </p:nvSpPr>
        <p:spPr>
          <a:xfrm>
            <a:off x="996950" y="2363391"/>
            <a:ext cx="314373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Was ist das WWW?</a:t>
            </a:r>
            <a:endParaRPr lang="en-US" sz="1600" dirty="0"/>
          </a:p>
        </p:txBody>
      </p:sp>
      <p:sp>
        <p:nvSpPr>
          <p:cNvPr id="7" name="Text 4"/>
          <p:cNvSpPr/>
          <p:nvPr/>
        </p:nvSpPr>
        <p:spPr>
          <a:xfrm>
            <a:off x="996950" y="2724051"/>
            <a:ext cx="314373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Der meistgenutzte Internetdienst. Er transportiert Webseiten, Bilder, Videos und Audiodaten.</a:t>
            </a:r>
            <a:endParaRPr lang="en-US" sz="1200" dirty="0"/>
          </a:p>
        </p:txBody>
      </p:sp>
      <p:sp>
        <p:nvSpPr>
          <p:cNvPr id="8" name="Shape 5"/>
          <p:cNvSpPr/>
          <p:nvPr/>
        </p:nvSpPr>
        <p:spPr>
          <a:xfrm>
            <a:off x="4388842" y="1750616"/>
            <a:ext cx="3414216" cy="1794371"/>
          </a:xfrm>
          <a:prstGeom prst="roundRect">
            <a:avLst>
              <a:gd name="adj" fmla="val 5485"/>
            </a:avLst>
          </a:prstGeom>
          <a:solidFill>
            <a:srgbClr val="FCFBF7"/>
          </a:solidFill>
          <a:ln w="6350">
            <a:solidFill>
              <a:srgbClr val="D9DEDF"/>
            </a:solidFill>
            <a:prstDash val="solid"/>
          </a:ln>
        </p:spPr>
      </p:sp>
      <p:pic>
        <p:nvPicPr>
          <p:cNvPr id="9" name="Image 1" descr="Chat">    </p:cNvPr>
          <p:cNvPicPr>
            <a:picLocks noChangeAspect="1"/>
          </p:cNvPicPr>
          <p:nvPr/>
        </p:nvPicPr>
        <p:blipFill>
          <a:blip r:embed="rId2"/>
          <a:srcRect l="0" r="0" t="0" b="0"/>
          <a:stretch/>
        </p:blipFill>
        <p:spPr>
          <a:xfrm>
            <a:off x="4569817" y="1931591"/>
            <a:ext cx="355600" cy="355600"/>
          </a:xfrm>
          <a:prstGeom prst="rect">
            <a:avLst/>
          </a:prstGeom>
        </p:spPr>
      </p:pic>
      <p:sp>
        <p:nvSpPr>
          <p:cNvPr id="10" name="Text 6"/>
          <p:cNvSpPr/>
          <p:nvPr/>
        </p:nvSpPr>
        <p:spPr>
          <a:xfrm>
            <a:off x="4569817" y="2363391"/>
            <a:ext cx="314383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Wie funktioniert es?</a:t>
            </a:r>
            <a:endParaRPr lang="en-US" sz="1600" dirty="0"/>
          </a:p>
        </p:txBody>
      </p:sp>
      <p:sp>
        <p:nvSpPr>
          <p:cNvPr id="11" name="Text 7"/>
          <p:cNvSpPr/>
          <p:nvPr/>
        </p:nvSpPr>
        <p:spPr>
          <a:xfrm>
            <a:off x="4569817" y="2724051"/>
            <a:ext cx="314383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Anfrage und Antwort: Dein Browser fragt einen Webserver mit der Webadresse (URL). Der Server schickt die Seite zurück.</a:t>
            </a:r>
            <a:endParaRPr lang="en-US" sz="1200" dirty="0"/>
          </a:p>
        </p:txBody>
      </p:sp>
      <p:sp>
        <p:nvSpPr>
          <p:cNvPr id="12" name="Shape 8"/>
          <p:cNvSpPr/>
          <p:nvPr/>
        </p:nvSpPr>
        <p:spPr>
          <a:xfrm>
            <a:off x="7961809" y="1750616"/>
            <a:ext cx="3414216" cy="1794371"/>
          </a:xfrm>
          <a:prstGeom prst="roundRect">
            <a:avLst>
              <a:gd name="adj" fmla="val 5485"/>
            </a:avLst>
          </a:prstGeom>
          <a:solidFill>
            <a:srgbClr val="FCFBF7"/>
          </a:solidFill>
          <a:ln w="6350">
            <a:solidFill>
              <a:srgbClr val="D9DEDF"/>
            </a:solidFill>
            <a:prstDash val="solid"/>
          </a:ln>
        </p:spPr>
      </p:sp>
      <p:pic>
        <p:nvPicPr>
          <p:cNvPr id="13" name="Image 2" descr="Warning">    </p:cNvPr>
          <p:cNvPicPr>
            <a:picLocks noChangeAspect="1"/>
          </p:cNvPicPr>
          <p:nvPr/>
        </p:nvPicPr>
        <p:blipFill>
          <a:blip r:embed="rId3"/>
          <a:srcRect l="0" r="0" t="0" b="0"/>
          <a:stretch/>
        </p:blipFill>
        <p:spPr>
          <a:xfrm>
            <a:off x="8142784" y="1931591"/>
            <a:ext cx="355600" cy="355600"/>
          </a:xfrm>
          <a:prstGeom prst="rect">
            <a:avLst/>
          </a:prstGeom>
        </p:spPr>
      </p:pic>
      <p:sp>
        <p:nvSpPr>
          <p:cNvPr id="14" name="Text 9"/>
          <p:cNvSpPr/>
          <p:nvPr/>
        </p:nvSpPr>
        <p:spPr>
          <a:xfrm>
            <a:off x="8142784" y="2363391"/>
            <a:ext cx="314383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Häufige Verwechslung</a:t>
            </a:r>
            <a:endParaRPr lang="en-US" sz="1600" dirty="0"/>
          </a:p>
        </p:txBody>
      </p:sp>
      <p:sp>
        <p:nvSpPr>
          <p:cNvPr id="15" name="Text 10"/>
          <p:cNvSpPr/>
          <p:nvPr/>
        </p:nvSpPr>
        <p:spPr>
          <a:xfrm>
            <a:off x="8142784" y="2724051"/>
            <a:ext cx="3143834"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Internet und WWW sind nicht dasselbe. Das WWW ist ein Dienst von vielen, daneben gibt es zum Beispiel E-Mail.</a:t>
            </a:r>
            <a:endParaRPr lang="en-US" sz="1200" dirty="0"/>
          </a:p>
        </p:txBody>
      </p:sp>
      <p:sp>
        <p:nvSpPr>
          <p:cNvPr id="16" name="Text 11"/>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7" name="Text 12"/>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E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1F DER POST IST DA</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Der Weg einer Webseite</a:t>
            </a:r>
            <a:endParaRPr lang="en-US" sz="3200" dirty="0"/>
          </a:p>
        </p:txBody>
      </p:sp>
      <p:pic>
        <p:nvPicPr>
          <p:cNvPr id="4" name="Image 0" descr="connector">    </p:cNvPr>
          <p:cNvPicPr>
            <a:picLocks noChangeAspect="1"/>
          </p:cNvPicPr>
          <p:nvPr/>
        </p:nvPicPr>
        <p:blipFill>
          <a:blip r:embed="rId1"/>
          <a:srcRect l="0" r="0" t="0" b="0"/>
          <a:stretch/>
        </p:blipFill>
        <p:spPr>
          <a:xfrm>
            <a:off x="3511550" y="2698750"/>
            <a:ext cx="1282700" cy="190500"/>
          </a:xfrm>
          <a:prstGeom prst="rect">
            <a:avLst/>
          </a:prstGeom>
        </p:spPr>
      </p:pic>
      <p:pic>
        <p:nvPicPr>
          <p:cNvPr id="5" name="Image 1" descr="connector">    </p:cNvPr>
          <p:cNvPicPr>
            <a:picLocks noChangeAspect="1"/>
          </p:cNvPicPr>
          <p:nvPr/>
        </p:nvPicPr>
        <p:blipFill>
          <a:blip r:embed="rId2"/>
          <a:srcRect l="0" r="0" t="0" b="0"/>
          <a:stretch/>
        </p:blipFill>
        <p:spPr>
          <a:xfrm>
            <a:off x="7397750" y="2698750"/>
            <a:ext cx="1282700" cy="190500"/>
          </a:xfrm>
          <a:prstGeom prst="rect">
            <a:avLst/>
          </a:prstGeom>
        </p:spPr>
      </p:pic>
      <p:pic>
        <p:nvPicPr>
          <p:cNvPr id="6" name="Image 2" descr="connector">    </p:cNvPr>
          <p:cNvPicPr>
            <a:picLocks noChangeAspect="1"/>
          </p:cNvPicPr>
          <p:nvPr/>
        </p:nvPicPr>
        <p:blipFill>
          <a:blip r:embed="rId3"/>
          <a:srcRect l="0" r="0" t="0" b="0"/>
          <a:stretch/>
        </p:blipFill>
        <p:spPr>
          <a:xfrm>
            <a:off x="3511550" y="3333750"/>
            <a:ext cx="1282700" cy="190500"/>
          </a:xfrm>
          <a:prstGeom prst="rect">
            <a:avLst/>
          </a:prstGeom>
        </p:spPr>
      </p:pic>
      <p:pic>
        <p:nvPicPr>
          <p:cNvPr id="7" name="Image 3" descr="connector">    </p:cNvPr>
          <p:cNvPicPr>
            <a:picLocks noChangeAspect="1"/>
          </p:cNvPicPr>
          <p:nvPr/>
        </p:nvPicPr>
        <p:blipFill>
          <a:blip r:embed="rId4"/>
          <a:srcRect l="0" r="0" t="0" b="0"/>
          <a:stretch/>
        </p:blipFill>
        <p:spPr>
          <a:xfrm>
            <a:off x="7397750" y="3333750"/>
            <a:ext cx="1282700" cy="190500"/>
          </a:xfrm>
          <a:prstGeom prst="rect">
            <a:avLst/>
          </a:prstGeom>
        </p:spPr>
      </p:pic>
      <p:sp>
        <p:nvSpPr>
          <p:cNvPr id="8" name="Shape 2"/>
          <p:cNvSpPr/>
          <p:nvPr/>
        </p:nvSpPr>
        <p:spPr>
          <a:xfrm>
            <a:off x="815975" y="2162175"/>
            <a:ext cx="2787650" cy="1149251"/>
          </a:xfrm>
          <a:prstGeom prst="roundRect">
            <a:avLst>
              <a:gd name="adj" fmla="val 8564"/>
            </a:avLst>
          </a:prstGeom>
          <a:solidFill>
            <a:srgbClr val="FCFBF7"/>
          </a:solidFill>
          <a:ln w="6350">
            <a:solidFill>
              <a:srgbClr val="D9DEDF"/>
            </a:solidFill>
            <a:prstDash val="solid"/>
          </a:ln>
        </p:spPr>
      </p:sp>
      <p:sp>
        <p:nvSpPr>
          <p:cNvPr id="9" name="Text 3"/>
          <p:cNvSpPr/>
          <p:nvPr/>
        </p:nvSpPr>
        <p:spPr>
          <a:xfrm>
            <a:off x="996950" y="2343150"/>
            <a:ext cx="249847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Dein iPad</a:t>
            </a:r>
            <a:endParaRPr lang="en-US" sz="1600" dirty="0"/>
          </a:p>
        </p:txBody>
      </p:sp>
      <p:sp>
        <p:nvSpPr>
          <p:cNvPr id="10" name="Text 4"/>
          <p:cNvSpPr/>
          <p:nvPr/>
        </p:nvSpPr>
        <p:spPr>
          <a:xfrm>
            <a:off x="996950" y="2703810"/>
            <a:ext cx="249847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Im Browser gibst du eine Webadresse (URL) ein.</a:t>
            </a:r>
            <a:endParaRPr lang="en-US" sz="1200" dirty="0"/>
          </a:p>
        </p:txBody>
      </p:sp>
      <p:sp>
        <p:nvSpPr>
          <p:cNvPr id="11" name="Shape 5"/>
          <p:cNvSpPr/>
          <p:nvPr/>
        </p:nvSpPr>
        <p:spPr>
          <a:xfrm>
            <a:off x="4702175" y="2162175"/>
            <a:ext cx="2787650" cy="1149251"/>
          </a:xfrm>
          <a:prstGeom prst="roundRect">
            <a:avLst>
              <a:gd name="adj" fmla="val 8564"/>
            </a:avLst>
          </a:prstGeom>
          <a:solidFill>
            <a:srgbClr val="FCFBF7"/>
          </a:solidFill>
          <a:ln w="6350">
            <a:solidFill>
              <a:srgbClr val="D9DEDF"/>
            </a:solidFill>
            <a:prstDash val="solid"/>
          </a:ln>
        </p:spPr>
      </p:sp>
      <p:sp>
        <p:nvSpPr>
          <p:cNvPr id="12" name="Text 6"/>
          <p:cNvSpPr/>
          <p:nvPr/>
        </p:nvSpPr>
        <p:spPr>
          <a:xfrm>
            <a:off x="4883150" y="2343150"/>
            <a:ext cx="249847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Router und Kabel</a:t>
            </a:r>
            <a:endParaRPr lang="en-US" sz="1600" dirty="0"/>
          </a:p>
        </p:txBody>
      </p:sp>
      <p:sp>
        <p:nvSpPr>
          <p:cNvPr id="13" name="Text 7"/>
          <p:cNvSpPr/>
          <p:nvPr/>
        </p:nvSpPr>
        <p:spPr>
          <a:xfrm>
            <a:off x="4883150" y="2703810"/>
            <a:ext cx="249847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Die Datenpakete finden mit der IP-Adresse ihren Weg.</a:t>
            </a:r>
            <a:endParaRPr lang="en-US" sz="1200" dirty="0"/>
          </a:p>
        </p:txBody>
      </p:sp>
      <p:sp>
        <p:nvSpPr>
          <p:cNvPr id="14" name="Shape 8"/>
          <p:cNvSpPr/>
          <p:nvPr/>
        </p:nvSpPr>
        <p:spPr>
          <a:xfrm>
            <a:off x="8588375" y="2162175"/>
            <a:ext cx="2787650" cy="1149251"/>
          </a:xfrm>
          <a:prstGeom prst="roundRect">
            <a:avLst>
              <a:gd name="adj" fmla="val 8564"/>
            </a:avLst>
          </a:prstGeom>
          <a:solidFill>
            <a:srgbClr val="FCFBF7"/>
          </a:solidFill>
          <a:ln w="6350">
            <a:solidFill>
              <a:srgbClr val="D9DEDF"/>
            </a:solidFill>
            <a:prstDash val="solid"/>
          </a:ln>
        </p:spPr>
      </p:sp>
      <p:sp>
        <p:nvSpPr>
          <p:cNvPr id="15" name="Text 9"/>
          <p:cNvSpPr/>
          <p:nvPr/>
        </p:nvSpPr>
        <p:spPr>
          <a:xfrm>
            <a:off x="8769350" y="2343150"/>
            <a:ext cx="249847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Webserver</a:t>
            </a:r>
            <a:endParaRPr lang="en-US" sz="1600" dirty="0"/>
          </a:p>
        </p:txBody>
      </p:sp>
      <p:sp>
        <p:nvSpPr>
          <p:cNvPr id="16" name="Text 10"/>
          <p:cNvSpPr/>
          <p:nvPr/>
        </p:nvSpPr>
        <p:spPr>
          <a:xfrm>
            <a:off x="8769350" y="2703810"/>
            <a:ext cx="249847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Der Server speichert die Seite und schickt sie zurück.</a:t>
            </a:r>
            <a:endParaRPr lang="en-US" sz="1200" dirty="0"/>
          </a:p>
        </p:txBody>
      </p:sp>
      <p:sp>
        <p:nvSpPr>
          <p:cNvPr id="17" name="Text 11"/>
          <p:cNvSpPr/>
          <p:nvPr/>
        </p:nvSpPr>
        <p:spPr>
          <a:xfrm>
            <a:off x="3644900" y="2514600"/>
            <a:ext cx="10160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Anfrage</a:t>
            </a:r>
            <a:endParaRPr lang="en-US" sz="1200" dirty="0"/>
          </a:p>
        </p:txBody>
      </p:sp>
      <p:sp>
        <p:nvSpPr>
          <p:cNvPr id="18" name="Text 12"/>
          <p:cNvSpPr/>
          <p:nvPr/>
        </p:nvSpPr>
        <p:spPr>
          <a:xfrm>
            <a:off x="7531100" y="2514600"/>
            <a:ext cx="10160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Anfrage</a:t>
            </a:r>
            <a:endParaRPr lang="en-US" sz="1200" dirty="0"/>
          </a:p>
        </p:txBody>
      </p:sp>
      <p:sp>
        <p:nvSpPr>
          <p:cNvPr id="19" name="Text 13"/>
          <p:cNvSpPr/>
          <p:nvPr/>
        </p:nvSpPr>
        <p:spPr>
          <a:xfrm>
            <a:off x="3644900" y="3530600"/>
            <a:ext cx="10160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304D"/>
                </a:solidFill>
                <a:latin typeface="Nunito Sans" pitchFamily="34" charset="0"/>
                <a:ea typeface="Nunito Sans" pitchFamily="34" charset="-122"/>
                <a:cs typeface="Nunito Sans" pitchFamily="34" charset="-120"/>
              </a:rPr>
              <a:t>Antwort</a:t>
            </a:r>
            <a:endParaRPr lang="en-US" sz="1200" dirty="0"/>
          </a:p>
        </p:txBody>
      </p:sp>
      <p:sp>
        <p:nvSpPr>
          <p:cNvPr id="20" name="Text 14"/>
          <p:cNvSpPr/>
          <p:nvPr/>
        </p:nvSpPr>
        <p:spPr>
          <a:xfrm>
            <a:off x="7531100" y="3530600"/>
            <a:ext cx="10160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4304D"/>
                </a:solidFill>
                <a:latin typeface="Nunito Sans" pitchFamily="34" charset="0"/>
                <a:ea typeface="Nunito Sans" pitchFamily="34" charset="-122"/>
                <a:cs typeface="Nunito Sans" pitchFamily="34" charset="-120"/>
              </a:rPr>
              <a:t>Antwort</a:t>
            </a:r>
            <a:endParaRPr lang="en-US" sz="1200" dirty="0"/>
          </a:p>
        </p:txBody>
      </p:sp>
      <p:sp>
        <p:nvSpPr>
          <p:cNvPr id="21" name="Text 15"/>
          <p:cNvSpPr/>
          <p:nvPr/>
        </p:nvSpPr>
        <p:spPr>
          <a:xfrm>
            <a:off x="812800" y="457200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Das WWW regelt, wie Anfrage und Antwort aussehen. Die Infrastruktur transportiert die Datenpakete.</a:t>
            </a:r>
            <a:endParaRPr lang="en-US" sz="1600" dirty="0"/>
          </a:p>
        </p:txBody>
      </p:sp>
      <p:sp>
        <p:nvSpPr>
          <p:cNvPr id="22" name="Text 16"/>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23" name="Text 17"/>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E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AUFTRAG · 3 MIN · ZU ZWEIT</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Infrastruktur oder Dienst?</a:t>
            </a:r>
            <a:endParaRPr lang="en-US" sz="3200" dirty="0"/>
          </a:p>
        </p:txBody>
      </p:sp>
      <p:sp>
        <p:nvSpPr>
          <p:cNvPr id="4" name="Text 2"/>
          <p:cNvSpPr/>
          <p:nvPr/>
        </p:nvSpPr>
        <p:spPr>
          <a:xfrm>
            <a:off x="819150" y="1753791"/>
            <a:ext cx="2514600" cy="601960"/>
          </a:xfrm>
          <a:prstGeom prst="roundRect">
            <a:avLst>
              <a:gd name="adj" fmla="val 15823"/>
            </a:avLst>
          </a:prstGeom>
          <a:solidFill>
            <a:srgbClr val="FCFBF7"/>
          </a:solidFill>
          <a:ln w="12700">
            <a:solidFill>
              <a:srgbClr val="14304D"/>
            </a:solidFill>
            <a:prstDash val="solid"/>
          </a:ln>
        </p:spPr>
        <p:txBody>
          <a:bodyPr wrap="square" lIns="45572" tIns="130852" rIns="45572" bIns="105452" rtlCol="0" anchor="t">
            <a:normAutofit/>
          </a:bodyPr>
          <a:lstStyle/>
          <a:p>
            <a:pPr algn="ctr"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WWW</a:t>
            </a:r>
            <a:endParaRPr lang="en-US" sz="1600" dirty="0"/>
          </a:p>
        </p:txBody>
      </p:sp>
      <p:sp>
        <p:nvSpPr>
          <p:cNvPr id="5" name="Text 3"/>
          <p:cNvSpPr/>
          <p:nvPr/>
        </p:nvSpPr>
        <p:spPr>
          <a:xfrm>
            <a:off x="3498850" y="1753791"/>
            <a:ext cx="2514600" cy="601960"/>
          </a:xfrm>
          <a:prstGeom prst="roundRect">
            <a:avLst>
              <a:gd name="adj" fmla="val 15823"/>
            </a:avLst>
          </a:prstGeom>
          <a:solidFill>
            <a:srgbClr val="FCFBF7"/>
          </a:solidFill>
          <a:ln w="12700">
            <a:solidFill>
              <a:srgbClr val="14304D"/>
            </a:solidFill>
            <a:prstDash val="solid"/>
          </a:ln>
        </p:spPr>
        <p:txBody>
          <a:bodyPr wrap="square" lIns="45572" tIns="130852" rIns="45572" bIns="105452" rtlCol="0" anchor="t">
            <a:normAutofit/>
          </a:bodyPr>
          <a:lstStyle/>
          <a:p>
            <a:pPr algn="ctr"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Router</a:t>
            </a:r>
            <a:endParaRPr lang="en-US" sz="1600" dirty="0"/>
          </a:p>
        </p:txBody>
      </p:sp>
      <p:sp>
        <p:nvSpPr>
          <p:cNvPr id="6" name="Text 4"/>
          <p:cNvSpPr/>
          <p:nvPr/>
        </p:nvSpPr>
        <p:spPr>
          <a:xfrm>
            <a:off x="6178550" y="1753791"/>
            <a:ext cx="2514600" cy="601960"/>
          </a:xfrm>
          <a:prstGeom prst="roundRect">
            <a:avLst>
              <a:gd name="adj" fmla="val 15823"/>
            </a:avLst>
          </a:prstGeom>
          <a:solidFill>
            <a:srgbClr val="FCFBF7"/>
          </a:solidFill>
          <a:ln w="12700">
            <a:solidFill>
              <a:srgbClr val="14304D"/>
            </a:solidFill>
            <a:prstDash val="solid"/>
          </a:ln>
        </p:spPr>
        <p:txBody>
          <a:bodyPr wrap="square" lIns="45572" tIns="130852" rIns="45572" bIns="105452" rtlCol="0" anchor="t">
            <a:normAutofit/>
          </a:bodyPr>
          <a:lstStyle/>
          <a:p>
            <a:pPr algn="ctr"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E-Mail</a:t>
            </a:r>
            <a:endParaRPr lang="en-US" sz="1600" dirty="0"/>
          </a:p>
        </p:txBody>
      </p:sp>
      <p:sp>
        <p:nvSpPr>
          <p:cNvPr id="7" name="Text 5"/>
          <p:cNvSpPr/>
          <p:nvPr/>
        </p:nvSpPr>
        <p:spPr>
          <a:xfrm>
            <a:off x="8858250" y="1753791"/>
            <a:ext cx="2514600" cy="601960"/>
          </a:xfrm>
          <a:prstGeom prst="roundRect">
            <a:avLst>
              <a:gd name="adj" fmla="val 15823"/>
            </a:avLst>
          </a:prstGeom>
          <a:solidFill>
            <a:srgbClr val="FCFBF7"/>
          </a:solidFill>
          <a:ln w="12700">
            <a:solidFill>
              <a:srgbClr val="14304D"/>
            </a:solidFill>
            <a:prstDash val="solid"/>
          </a:ln>
        </p:spPr>
        <p:txBody>
          <a:bodyPr wrap="square" lIns="45572" tIns="130852" rIns="45572" bIns="105452" rtlCol="0" anchor="t">
            <a:normAutofit/>
          </a:bodyPr>
          <a:lstStyle/>
          <a:p>
            <a:pPr algn="ctr"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Glasfaserkabel</a:t>
            </a:r>
            <a:endParaRPr lang="en-US" sz="1600" dirty="0"/>
          </a:p>
        </p:txBody>
      </p:sp>
      <p:sp>
        <p:nvSpPr>
          <p:cNvPr id="8" name="Text 6"/>
          <p:cNvSpPr/>
          <p:nvPr/>
        </p:nvSpPr>
        <p:spPr>
          <a:xfrm>
            <a:off x="819150" y="2520851"/>
            <a:ext cx="2514600" cy="601960"/>
          </a:xfrm>
          <a:prstGeom prst="roundRect">
            <a:avLst>
              <a:gd name="adj" fmla="val 15823"/>
            </a:avLst>
          </a:prstGeom>
          <a:solidFill>
            <a:srgbClr val="FCFBF7"/>
          </a:solidFill>
          <a:ln w="12700">
            <a:solidFill>
              <a:srgbClr val="14304D"/>
            </a:solidFill>
            <a:prstDash val="solid"/>
          </a:ln>
        </p:spPr>
        <p:txBody>
          <a:bodyPr wrap="square" lIns="45572" tIns="130852" rIns="45572" bIns="105452" rtlCol="0" anchor="t">
            <a:normAutofit/>
          </a:bodyPr>
          <a:lstStyle/>
          <a:p>
            <a:pPr algn="ctr"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Soziale Netzwerke</a:t>
            </a:r>
            <a:endParaRPr lang="en-US" sz="1600" dirty="0"/>
          </a:p>
        </p:txBody>
      </p:sp>
      <p:sp>
        <p:nvSpPr>
          <p:cNvPr id="9" name="Text 7"/>
          <p:cNvSpPr/>
          <p:nvPr/>
        </p:nvSpPr>
        <p:spPr>
          <a:xfrm>
            <a:off x="3498850" y="2520851"/>
            <a:ext cx="2514600" cy="601960"/>
          </a:xfrm>
          <a:prstGeom prst="roundRect">
            <a:avLst>
              <a:gd name="adj" fmla="val 15823"/>
            </a:avLst>
          </a:prstGeom>
          <a:solidFill>
            <a:srgbClr val="FCFBF7"/>
          </a:solidFill>
          <a:ln w="12700">
            <a:solidFill>
              <a:srgbClr val="14304D"/>
            </a:solidFill>
            <a:prstDash val="solid"/>
          </a:ln>
        </p:spPr>
        <p:txBody>
          <a:bodyPr wrap="square" lIns="45572" tIns="130852" rIns="45572" bIns="105452" rtlCol="0" anchor="t">
            <a:normAutofit/>
          </a:bodyPr>
          <a:lstStyle/>
          <a:p>
            <a:pPr algn="ctr"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Server</a:t>
            </a:r>
            <a:endParaRPr lang="en-US" sz="1600" dirty="0"/>
          </a:p>
        </p:txBody>
      </p:sp>
      <p:sp>
        <p:nvSpPr>
          <p:cNvPr id="10" name="Text 8"/>
          <p:cNvSpPr/>
          <p:nvPr/>
        </p:nvSpPr>
        <p:spPr>
          <a:xfrm>
            <a:off x="6178550" y="2520851"/>
            <a:ext cx="2514600" cy="601960"/>
          </a:xfrm>
          <a:prstGeom prst="roundRect">
            <a:avLst>
              <a:gd name="adj" fmla="val 15823"/>
            </a:avLst>
          </a:prstGeom>
          <a:solidFill>
            <a:srgbClr val="FCFBF7"/>
          </a:solidFill>
          <a:ln w="12700">
            <a:solidFill>
              <a:srgbClr val="14304D"/>
            </a:solidFill>
            <a:prstDash val="solid"/>
          </a:ln>
        </p:spPr>
        <p:txBody>
          <a:bodyPr wrap="square" lIns="45572" tIns="130852" rIns="45572" bIns="105452" rtlCol="0" anchor="t">
            <a:normAutofit/>
          </a:bodyPr>
          <a:lstStyle/>
          <a:p>
            <a:pPr algn="ctr"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Internettelefonie</a:t>
            </a:r>
            <a:endParaRPr lang="en-US" sz="1600" dirty="0"/>
          </a:p>
        </p:txBody>
      </p:sp>
      <p:sp>
        <p:nvSpPr>
          <p:cNvPr id="11" name="Text 9"/>
          <p:cNvSpPr/>
          <p:nvPr/>
        </p:nvSpPr>
        <p:spPr>
          <a:xfrm>
            <a:off x="8858250" y="2520851"/>
            <a:ext cx="2514600" cy="601960"/>
          </a:xfrm>
          <a:prstGeom prst="roundRect">
            <a:avLst>
              <a:gd name="adj" fmla="val 15823"/>
            </a:avLst>
          </a:prstGeom>
          <a:solidFill>
            <a:srgbClr val="FCFBF7"/>
          </a:solidFill>
          <a:ln w="12700">
            <a:solidFill>
              <a:srgbClr val="14304D"/>
            </a:solidFill>
            <a:prstDash val="solid"/>
          </a:ln>
        </p:spPr>
        <p:txBody>
          <a:bodyPr wrap="square" lIns="45572" tIns="130852" rIns="45572" bIns="105452" rtlCol="0" anchor="t">
            <a:normAutofit/>
          </a:bodyPr>
          <a:lstStyle/>
          <a:p>
            <a:pPr algn="ctr"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Unterseekabel</a:t>
            </a:r>
            <a:endParaRPr lang="en-US" sz="1600" dirty="0"/>
          </a:p>
        </p:txBody>
      </p:sp>
      <p:sp>
        <p:nvSpPr>
          <p:cNvPr id="12" name="Text 10"/>
          <p:cNvSpPr/>
          <p:nvPr/>
        </p:nvSpPr>
        <p:spPr>
          <a:xfrm>
            <a:off x="812800" y="333236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Sortiert die acht Begriffe in zwei Gruppen und begründet mit einem Satz.</a:t>
            </a:r>
            <a:endParaRPr lang="en-US" sz="1600" dirty="0"/>
          </a:p>
        </p:txBody>
      </p:sp>
      <p:sp>
        <p:nvSpPr>
          <p:cNvPr id="13" name="Text 11"/>
          <p:cNvSpPr/>
          <p:nvPr/>
        </p:nvSpPr>
        <p:spPr>
          <a:xfrm>
            <a:off x="812800" y="382002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Tipp: Ist es eher die Strasse oder das Lieferfahrzeug?</a:t>
            </a:r>
            <a:endParaRPr lang="en-US" sz="1600" dirty="0"/>
          </a:p>
        </p:txBody>
      </p:sp>
      <p:sp>
        <p:nvSpPr>
          <p:cNvPr id="14" name="Text 12"/>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5" name="Text 13"/>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LÖSUNG</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Zwei Gruppen</a:t>
            </a:r>
            <a:endParaRPr lang="en-US" sz="3200" dirty="0"/>
          </a:p>
        </p:txBody>
      </p:sp>
      <p:sp>
        <p:nvSpPr>
          <p:cNvPr id="4" name="Shape 2"/>
          <p:cNvSpPr/>
          <p:nvPr/>
        </p:nvSpPr>
        <p:spPr>
          <a:xfrm>
            <a:off x="815975" y="1750616"/>
            <a:ext cx="5200650" cy="2089051"/>
          </a:xfrm>
          <a:prstGeom prst="roundRect">
            <a:avLst>
              <a:gd name="adj" fmla="val 4711"/>
            </a:avLst>
          </a:prstGeom>
          <a:solidFill>
            <a:srgbClr val="D6EAE7"/>
          </a:solidFill>
          <a:ln w="6350">
            <a:solidFill>
              <a:srgbClr val="9CC9C3"/>
            </a:solidFill>
            <a:prstDash val="solid"/>
          </a:ln>
        </p:spPr>
      </p:sp>
      <p:sp>
        <p:nvSpPr>
          <p:cNvPr id="5" name="Text 3"/>
          <p:cNvSpPr/>
          <p:nvPr/>
        </p:nvSpPr>
        <p:spPr>
          <a:xfrm>
            <a:off x="996950" y="1931591"/>
            <a:ext cx="498386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Infrastruktur (Strassennetz)</a:t>
            </a:r>
            <a:endParaRPr lang="en-US" sz="1600" dirty="0"/>
          </a:p>
        </p:txBody>
      </p:sp>
      <p:sp>
        <p:nvSpPr>
          <p:cNvPr id="6" name="Text 4"/>
          <p:cNvSpPr/>
          <p:nvPr/>
        </p:nvSpPr>
        <p:spPr>
          <a:xfrm>
            <a:off x="996950" y="2292251"/>
            <a:ext cx="498386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Router</a:t>
            </a:r>
            <a:endParaRPr lang="en-US" sz="1600" dirty="0"/>
          </a:p>
        </p:txBody>
      </p:sp>
      <p:sp>
        <p:nvSpPr>
          <p:cNvPr id="7" name="Text 5"/>
          <p:cNvSpPr/>
          <p:nvPr/>
        </p:nvSpPr>
        <p:spPr>
          <a:xfrm>
            <a:off x="996950" y="2652911"/>
            <a:ext cx="498386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Glasfaserkabel</a:t>
            </a:r>
            <a:endParaRPr lang="en-US" sz="1600" dirty="0"/>
          </a:p>
        </p:txBody>
      </p:sp>
      <p:sp>
        <p:nvSpPr>
          <p:cNvPr id="8" name="Text 6"/>
          <p:cNvSpPr/>
          <p:nvPr/>
        </p:nvSpPr>
        <p:spPr>
          <a:xfrm>
            <a:off x="996950" y="3013571"/>
            <a:ext cx="498386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Unterseekabel</a:t>
            </a:r>
            <a:endParaRPr lang="en-US" sz="1600" dirty="0"/>
          </a:p>
        </p:txBody>
      </p:sp>
      <p:sp>
        <p:nvSpPr>
          <p:cNvPr id="9" name="Text 7"/>
          <p:cNvSpPr/>
          <p:nvPr/>
        </p:nvSpPr>
        <p:spPr>
          <a:xfrm>
            <a:off x="996950" y="3374231"/>
            <a:ext cx="498386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Server</a:t>
            </a:r>
            <a:endParaRPr lang="en-US" sz="1600" dirty="0"/>
          </a:p>
        </p:txBody>
      </p:sp>
      <p:sp>
        <p:nvSpPr>
          <p:cNvPr id="10" name="Shape 8"/>
          <p:cNvSpPr/>
          <p:nvPr/>
        </p:nvSpPr>
        <p:spPr>
          <a:xfrm>
            <a:off x="6175375" y="1750616"/>
            <a:ext cx="5200650" cy="2089051"/>
          </a:xfrm>
          <a:prstGeom prst="roundRect">
            <a:avLst>
              <a:gd name="adj" fmla="val 4711"/>
            </a:avLst>
          </a:prstGeom>
          <a:solidFill>
            <a:srgbClr val="FCFBF7"/>
          </a:solidFill>
          <a:ln w="6350">
            <a:solidFill>
              <a:srgbClr val="D9DEDF"/>
            </a:solidFill>
            <a:prstDash val="solid"/>
          </a:ln>
        </p:spPr>
      </p:sp>
      <p:sp>
        <p:nvSpPr>
          <p:cNvPr id="11" name="Text 9"/>
          <p:cNvSpPr/>
          <p:nvPr/>
        </p:nvSpPr>
        <p:spPr>
          <a:xfrm>
            <a:off x="6356350" y="1931591"/>
            <a:ext cx="4983861"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Dienste (Lieferfahrzeuge)</a:t>
            </a:r>
            <a:endParaRPr lang="en-US" sz="1600" dirty="0"/>
          </a:p>
        </p:txBody>
      </p:sp>
      <p:sp>
        <p:nvSpPr>
          <p:cNvPr id="12" name="Text 10"/>
          <p:cNvSpPr/>
          <p:nvPr/>
        </p:nvSpPr>
        <p:spPr>
          <a:xfrm>
            <a:off x="6356350" y="2292251"/>
            <a:ext cx="498386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WWW</a:t>
            </a:r>
            <a:endParaRPr lang="en-US" sz="1600" dirty="0"/>
          </a:p>
        </p:txBody>
      </p:sp>
      <p:sp>
        <p:nvSpPr>
          <p:cNvPr id="13" name="Text 11"/>
          <p:cNvSpPr/>
          <p:nvPr/>
        </p:nvSpPr>
        <p:spPr>
          <a:xfrm>
            <a:off x="6356350" y="2652911"/>
            <a:ext cx="498386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E-Mail</a:t>
            </a:r>
            <a:endParaRPr lang="en-US" sz="1600" dirty="0"/>
          </a:p>
        </p:txBody>
      </p:sp>
      <p:sp>
        <p:nvSpPr>
          <p:cNvPr id="14" name="Text 12"/>
          <p:cNvSpPr/>
          <p:nvPr/>
        </p:nvSpPr>
        <p:spPr>
          <a:xfrm>
            <a:off x="6356350" y="3013571"/>
            <a:ext cx="498386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Internettelefonie</a:t>
            </a:r>
            <a:endParaRPr lang="en-US" sz="1600" dirty="0"/>
          </a:p>
        </p:txBody>
      </p:sp>
      <p:sp>
        <p:nvSpPr>
          <p:cNvPr id="15" name="Text 13"/>
          <p:cNvSpPr/>
          <p:nvPr/>
        </p:nvSpPr>
        <p:spPr>
          <a:xfrm>
            <a:off x="6356350" y="3374231"/>
            <a:ext cx="498386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Soziale Netzwerke</a:t>
            </a:r>
            <a:endParaRPr lang="en-US" sz="1600" dirty="0"/>
          </a:p>
        </p:txBody>
      </p:sp>
      <p:sp>
        <p:nvSpPr>
          <p:cNvPr id="16" name="Text 14"/>
          <p:cNvSpPr/>
          <p:nvPr/>
        </p:nvSpPr>
        <p:spPr>
          <a:xfrm>
            <a:off x="812800" y="4046041"/>
            <a:ext cx="10566400" cy="822920"/>
          </a:xfrm>
          <a:prstGeom prst="roundRect">
            <a:avLst>
              <a:gd name="adj" fmla="val 12346"/>
            </a:avLst>
          </a:prstGeom>
          <a:solidFill>
            <a:srgbClr val="E39A3B"/>
          </a:solidFill>
          <a:ln/>
        </p:spPr>
        <p:txBody>
          <a:bodyPr wrap="square" lIns="173442" tIns="97242" rIns="0" bIns="71842"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Merke: Die Infrastruktur ist das Netz aus Kabeln, Routern und Servern. Ein Dienst nutzt sie, um Daten zu transportieren.</a:t>
            </a:r>
            <a:endParaRPr lang="en-US" sz="1600" dirty="0"/>
          </a:p>
        </p:txBody>
      </p:sp>
      <p:sp>
        <p:nvSpPr>
          <p:cNvPr id="17" name="Text 15"/>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8" name="Text 16"/>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E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AUFTRAG · 4 MIN · ALLEIN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Dein Glossar ergänzen</a:t>
            </a:r>
            <a:endParaRPr lang="en-US" sz="3200" dirty="0"/>
          </a:p>
        </p:txBody>
      </p:sp>
      <p:sp>
        <p:nvSpPr>
          <p:cNvPr id="4" name="Text 2"/>
          <p:cNvSpPr/>
          <p:nvPr/>
        </p:nvSpPr>
        <p:spPr>
          <a:xfrm>
            <a:off x="812800" y="180330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1</a:t>
            </a:r>
            <a:endParaRPr lang="en-US" sz="1600" dirty="0"/>
          </a:p>
        </p:txBody>
      </p:sp>
      <p:sp>
        <p:nvSpPr>
          <p:cNvPr id="5" name="Text 3"/>
          <p:cNvSpPr/>
          <p:nvPr/>
        </p:nvSpPr>
        <p:spPr>
          <a:xfrm>
            <a:off x="1447800" y="1747441"/>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Arbeitsbuch Aufgabe 121: Ergänze im Glossar den Eintrag «Internetdienst» mit deiner eigenen Erklärung.</a:t>
            </a:r>
            <a:endParaRPr lang="en-US" sz="1600" dirty="0"/>
          </a:p>
        </p:txBody>
      </p:sp>
      <p:sp>
        <p:nvSpPr>
          <p:cNvPr id="6" name="Text 4"/>
          <p:cNvSpPr/>
          <p:nvPr/>
        </p:nvSpPr>
        <p:spPr>
          <a:xfrm>
            <a:off x="812800" y="249416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2</a:t>
            </a:r>
            <a:endParaRPr lang="en-US" sz="1600" dirty="0"/>
          </a:p>
        </p:txBody>
      </p:sp>
      <p:sp>
        <p:nvSpPr>
          <p:cNvPr id="7" name="Text 5"/>
          <p:cNvSpPr/>
          <p:nvPr/>
        </p:nvSpPr>
        <p:spPr>
          <a:xfrm>
            <a:off x="1447800" y="2580481"/>
            <a:ext cx="10744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Schreibe mindestens ein Stichwort dazu, in welchem Zusammenhang du den Begriff kennengelernt hast.</a:t>
            </a:r>
            <a:endParaRPr lang="en-US" sz="1600" dirty="0"/>
          </a:p>
        </p:txBody>
      </p:sp>
      <p:sp>
        <p:nvSpPr>
          <p:cNvPr id="8" name="Text 6"/>
          <p:cNvSpPr/>
          <p:nvPr/>
        </p:nvSpPr>
        <p:spPr>
          <a:xfrm>
            <a:off x="812800" y="318502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3</a:t>
            </a:r>
            <a:endParaRPr lang="en-US" sz="1600" dirty="0"/>
          </a:p>
        </p:txBody>
      </p:sp>
      <p:sp>
        <p:nvSpPr>
          <p:cNvPr id="9" name="Text 7"/>
          <p:cNvSpPr/>
          <p:nvPr/>
        </p:nvSpPr>
        <p:spPr>
          <a:xfrm>
            <a:off x="1447800" y="3129161"/>
            <a:ext cx="981075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Erkläre in zwei Sätzen mit dem Bild der Spedition: Was ist der Unterschied zwischen Infrastruktur und Dienst?</a:t>
            </a:r>
            <a:endParaRPr lang="en-US" sz="1600" dirty="0"/>
          </a:p>
        </p:txBody>
      </p:sp>
      <p:sp>
        <p:nvSpPr>
          <p:cNvPr id="10" name="Text 8"/>
          <p:cNvSpPr/>
          <p:nvPr/>
        </p:nvSpPr>
        <p:spPr>
          <a:xfrm>
            <a:off x="812800" y="390128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Das übst du für die Prüfung: Aufgaben 2 und 3.</a:t>
            </a:r>
            <a:endParaRPr lang="en-US" sz="1600" dirty="0"/>
          </a:p>
        </p:txBody>
      </p:sp>
      <p:sp>
        <p:nvSpPr>
          <p:cNvPr id="11"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2" name="Text 10"/>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304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D0C8"/>
                </a:solidFill>
                <a:latin typeface="Nunito Sans" pitchFamily="34" charset="0"/>
                <a:ea typeface="Nunito Sans" pitchFamily="34" charset="-122"/>
                <a:cs typeface="Nunito Sans" pitchFamily="34" charset="-120"/>
              </a:rPr>
              <a:t>1G TOLLE FOTOS, TOLLE FERIEN? · 4 MIN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4EE"/>
                </a:solidFill>
                <a:latin typeface="Domine" pitchFamily="18" charset="0"/>
                <a:ea typeface="Domine" pitchFamily="18" charset="-122"/>
                <a:cs typeface="Domine" pitchFamily="18" charset="-120"/>
              </a:rPr>
              <a:t>FOMO: Fear of Missing Out</a:t>
            </a:r>
            <a:endParaRPr lang="en-US" sz="3200" dirty="0"/>
          </a:p>
        </p:txBody>
      </p:sp>
      <p:sp>
        <p:nvSpPr>
          <p:cNvPr id="4" name="Text 2"/>
          <p:cNvSpPr/>
          <p:nvPr/>
        </p:nvSpPr>
        <p:spPr>
          <a:xfrm>
            <a:off x="812800" y="1747441"/>
            <a:ext cx="10883392"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6F4EE"/>
                </a:solidFill>
                <a:latin typeface="Domine" pitchFamily="18" charset="0"/>
                <a:ea typeface="Domine" pitchFamily="18" charset="-122"/>
                <a:cs typeface="Domine" pitchFamily="18" charset="-120"/>
              </a:rPr>
              <a:t>Die Angst, etwas zu verpassen.</a:t>
            </a:r>
            <a:endParaRPr lang="en-US" sz="2200" dirty="0"/>
          </a:p>
        </p:txBody>
      </p:sp>
      <p:sp>
        <p:nvSpPr>
          <p:cNvPr id="5" name="Shape 3"/>
          <p:cNvSpPr/>
          <p:nvPr/>
        </p:nvSpPr>
        <p:spPr>
          <a:xfrm>
            <a:off x="812800" y="2313781"/>
            <a:ext cx="5207000" cy="1285180"/>
          </a:xfrm>
          <a:prstGeom prst="roundRect">
            <a:avLst>
              <a:gd name="adj" fmla="val 7906"/>
            </a:avLst>
          </a:prstGeom>
          <a:solidFill>
            <a:srgbClr val="1E4268"/>
          </a:solidFill>
          <a:ln/>
        </p:spPr>
      </p:sp>
      <p:sp>
        <p:nvSpPr>
          <p:cNvPr id="6" name="Text 4"/>
          <p:cNvSpPr/>
          <p:nvPr/>
        </p:nvSpPr>
        <p:spPr>
          <a:xfrm>
            <a:off x="990600" y="2491581"/>
            <a:ext cx="499694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6FD0C8"/>
                </a:solidFill>
                <a:latin typeface="Nunito Sans" pitchFamily="34" charset="0"/>
                <a:ea typeface="Nunito Sans" pitchFamily="34" charset="-122"/>
                <a:cs typeface="Nunito Sans" pitchFamily="34" charset="-120"/>
              </a:rPr>
              <a:t>Was man sieht</a:t>
            </a:r>
            <a:endParaRPr lang="en-US" sz="1600" dirty="0"/>
          </a:p>
        </p:txBody>
      </p:sp>
      <p:sp>
        <p:nvSpPr>
          <p:cNvPr id="7" name="Text 5"/>
          <p:cNvSpPr/>
          <p:nvPr/>
        </p:nvSpPr>
        <p:spPr>
          <a:xfrm>
            <a:off x="990600" y="2852241"/>
            <a:ext cx="499694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Viele posten nur ihre Highlights. Das ist ein verdichteter Ausschnitt der Wirklichkeit.</a:t>
            </a:r>
            <a:endParaRPr lang="en-US" sz="1600" dirty="0"/>
          </a:p>
        </p:txBody>
      </p:sp>
      <p:sp>
        <p:nvSpPr>
          <p:cNvPr id="8" name="Shape 6"/>
          <p:cNvSpPr/>
          <p:nvPr/>
        </p:nvSpPr>
        <p:spPr>
          <a:xfrm>
            <a:off x="6172200" y="2313781"/>
            <a:ext cx="5207000" cy="1285180"/>
          </a:xfrm>
          <a:prstGeom prst="roundRect">
            <a:avLst>
              <a:gd name="adj" fmla="val 7906"/>
            </a:avLst>
          </a:prstGeom>
          <a:solidFill>
            <a:srgbClr val="1E4268"/>
          </a:solidFill>
          <a:ln/>
        </p:spPr>
      </p:sp>
      <p:sp>
        <p:nvSpPr>
          <p:cNvPr id="9" name="Text 7"/>
          <p:cNvSpPr/>
          <p:nvPr/>
        </p:nvSpPr>
        <p:spPr>
          <a:xfrm>
            <a:off x="6350000" y="2491581"/>
            <a:ext cx="499694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6FD0C8"/>
                </a:solidFill>
                <a:latin typeface="Nunito Sans" pitchFamily="34" charset="0"/>
                <a:ea typeface="Nunito Sans" pitchFamily="34" charset="-122"/>
                <a:cs typeface="Nunito Sans" pitchFamily="34" charset="-120"/>
              </a:rPr>
              <a:t>Was passieren kann</a:t>
            </a:r>
            <a:endParaRPr lang="en-US" sz="1600" dirty="0"/>
          </a:p>
        </p:txBody>
      </p:sp>
      <p:sp>
        <p:nvSpPr>
          <p:cNvPr id="10" name="Text 8"/>
          <p:cNvSpPr/>
          <p:nvPr/>
        </p:nvSpPr>
        <p:spPr>
          <a:xfrm>
            <a:off x="6350000" y="2852241"/>
            <a:ext cx="499694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Wer das eigene Leben damit vergleicht, findet es schnell langweilig. Der Vergleich ist aber unfair.</a:t>
            </a:r>
            <a:endParaRPr lang="en-US" sz="1600" dirty="0"/>
          </a:p>
        </p:txBody>
      </p:sp>
      <p:sp>
        <p:nvSpPr>
          <p:cNvPr id="11" name="Text 9"/>
          <p:cNvSpPr/>
          <p:nvPr/>
        </p:nvSpPr>
        <p:spPr>
          <a:xfrm>
            <a:off x="812800" y="380216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39A3B"/>
                </a:solidFill>
                <a:latin typeface="Nunito Sans" pitchFamily="34" charset="0"/>
                <a:ea typeface="Nunito Sans" pitchFamily="34" charset="-122"/>
                <a:cs typeface="Nunito Sans" pitchFamily="34" charset="-120"/>
              </a:rPr>
              <a:t>Kennst du dieses Gefühl? Du musst nichts erzählen, nur kurz darüber nachdenken.</a:t>
            </a:r>
            <a:endParaRPr lang="en-US" sz="1600" dirty="0"/>
          </a:p>
        </p:txBody>
      </p:sp>
      <p:sp>
        <p:nvSpPr>
          <p:cNvPr id="12" name="Text 10"/>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5E0"/>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3" name="Text 11"/>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FD0C8"/>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MEINUNGSBAROMETER · 8 MIN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Wo stehst du?</a:t>
            </a:r>
            <a:endParaRPr lang="en-US" sz="3200" dirty="0"/>
          </a:p>
        </p:txBody>
      </p:sp>
      <p:sp>
        <p:nvSpPr>
          <p:cNvPr id="4" name="Text 2"/>
          <p:cNvSpPr/>
          <p:nvPr/>
        </p:nvSpPr>
        <p:spPr>
          <a:xfrm>
            <a:off x="812800" y="17474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1</a:t>
            </a:r>
            <a:endParaRPr lang="en-US" sz="1600" dirty="0"/>
          </a:p>
        </p:txBody>
      </p:sp>
      <p:sp>
        <p:nvSpPr>
          <p:cNvPr id="5" name="Text 3"/>
          <p:cNvSpPr/>
          <p:nvPr/>
        </p:nvSpPr>
        <p:spPr>
          <a:xfrm>
            <a:off x="1447800" y="18337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«In den Ferien muss man jeden Tag etwas posten.»</a:t>
            </a:r>
            <a:endParaRPr lang="en-US" sz="1600" dirty="0"/>
          </a:p>
        </p:txBody>
      </p:sp>
      <p:sp>
        <p:nvSpPr>
          <p:cNvPr id="6" name="Text 4"/>
          <p:cNvSpPr/>
          <p:nvPr/>
        </p:nvSpPr>
        <p:spPr>
          <a:xfrm>
            <a:off x="812800" y="23570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2</a:t>
            </a:r>
            <a:endParaRPr lang="en-US" sz="1600" dirty="0"/>
          </a:p>
        </p:txBody>
      </p:sp>
      <p:sp>
        <p:nvSpPr>
          <p:cNvPr id="7" name="Text 5"/>
          <p:cNvSpPr/>
          <p:nvPr/>
        </p:nvSpPr>
        <p:spPr>
          <a:xfrm>
            <a:off x="1447800" y="24433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«Wenn andere tolle Ferienfotos posten, wirken meine Ferien schnell langweilig.»</a:t>
            </a:r>
            <a:endParaRPr lang="en-US" sz="1600" dirty="0"/>
          </a:p>
        </p:txBody>
      </p:sp>
      <p:sp>
        <p:nvSpPr>
          <p:cNvPr id="8" name="Text 6"/>
          <p:cNvSpPr/>
          <p:nvPr/>
        </p:nvSpPr>
        <p:spPr>
          <a:xfrm>
            <a:off x="812800" y="29666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3</a:t>
            </a:r>
            <a:endParaRPr lang="en-US" sz="1600" dirty="0"/>
          </a:p>
        </p:txBody>
      </p:sp>
      <p:sp>
        <p:nvSpPr>
          <p:cNvPr id="9" name="Text 7"/>
          <p:cNvSpPr/>
          <p:nvPr/>
        </p:nvSpPr>
        <p:spPr>
          <a:xfrm>
            <a:off x="1447800" y="30529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«Auf Ferienfotos sieht man meistens nur die besten Momente.»</a:t>
            </a:r>
            <a:endParaRPr lang="en-US" sz="1600" dirty="0"/>
          </a:p>
        </p:txBody>
      </p:sp>
      <p:sp>
        <p:nvSpPr>
          <p:cNvPr id="10" name="Text 8"/>
          <p:cNvSpPr/>
          <p:nvPr/>
        </p:nvSpPr>
        <p:spPr>
          <a:xfrm>
            <a:off x="812800" y="35762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4</a:t>
            </a:r>
            <a:endParaRPr lang="en-US" sz="1600" dirty="0"/>
          </a:p>
        </p:txBody>
      </p:sp>
      <p:sp>
        <p:nvSpPr>
          <p:cNvPr id="11" name="Text 9"/>
          <p:cNvSpPr/>
          <p:nvPr/>
        </p:nvSpPr>
        <p:spPr>
          <a:xfrm>
            <a:off x="1447800" y="36625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«Ein Foto mit Ortsangabe ist während der Ferien kein Problem.»</a:t>
            </a:r>
            <a:endParaRPr lang="en-US" sz="1600" dirty="0"/>
          </a:p>
        </p:txBody>
      </p:sp>
      <p:sp>
        <p:nvSpPr>
          <p:cNvPr id="12" name="Text 10"/>
          <p:cNvSpPr/>
          <p:nvPr/>
        </p:nvSpPr>
        <p:spPr>
          <a:xfrm>
            <a:off x="819150" y="4242991"/>
            <a:ext cx="2552700" cy="403820"/>
          </a:xfrm>
          <a:custGeom>
            <a:avLst/>
            <a:gdLst/>
            <a:ahLst/>
            <a:cxnLst/>
            <a:rect l="l" t="t" r="r" b="b"/>
            <a:pathLst>
              <a:path w="2552700" h="403820">
                <a:moveTo>
                  <a:pt x="95250" y="0"/>
                </a:moveTo>
                <a:lnTo>
                  <a:pt x="2457450" y="0"/>
                </a:lnTo>
                <a:arcTo hR="95250" wR="95250" stAng="16200000" swAng="5400000"/>
                <a:lnTo>
                  <a:pt x="2552700" y="308570"/>
                </a:lnTo>
                <a:arcTo hR="95250" wR="95250" stAng="0" swAng="5400000"/>
                <a:lnTo>
                  <a:pt x="95250" y="403820"/>
                </a:lnTo>
                <a:arcTo hR="95250" wR="95250" stAng="5400000" swAng="5400000"/>
                <a:lnTo>
                  <a:pt x="0" y="95250"/>
                </a:lnTo>
                <a:arcTo hR="95250" wR="95250" stAng="10800000" swAng="5400000"/>
                <a:close/>
              </a:path>
            </a:pathLst>
          </a:custGeom>
          <a:solidFill>
            <a:srgbClr val="D6EAE7"/>
          </a:solidFill>
          <a:ln w="12700">
            <a:solidFill>
              <a:srgbClr val="0B6E6E"/>
            </a:solidFill>
            <a:prstDash val="solid"/>
          </a:ln>
        </p:spPr>
        <p:txBody>
          <a:bodyPr wrap="square" lIns="20574" tIns="95250" rIns="20574" bIns="69850" rtlCol="0" anchor="t">
            <a:normAutofit/>
          </a:bodyPr>
          <a:lstStyle/>
          <a:p>
            <a:pPr algn="ctr" indent="0" marL="0">
              <a:lnSpc>
                <a:spcPts val="1680"/>
              </a:lnSpc>
              <a:buNone/>
            </a:pPr>
            <a:r>
              <a:rPr lang="en-US" sz="1200" b="1" dirty="0">
                <a:solidFill>
                  <a:srgbClr val="14304D"/>
                </a:solidFill>
                <a:latin typeface="Nunito Sans" pitchFamily="34" charset="0"/>
                <a:ea typeface="Nunito Sans" pitchFamily="34" charset="-122"/>
                <a:cs typeface="Nunito Sans" pitchFamily="34" charset="-120"/>
              </a:rPr>
              <a:t>Stimme zu</a:t>
            </a:r>
            <a:endParaRPr lang="en-US" sz="1200" dirty="0"/>
          </a:p>
        </p:txBody>
      </p:sp>
      <p:sp>
        <p:nvSpPr>
          <p:cNvPr id="13" name="Text 11"/>
          <p:cNvSpPr/>
          <p:nvPr/>
        </p:nvSpPr>
        <p:spPr>
          <a:xfrm>
            <a:off x="3486150" y="4242991"/>
            <a:ext cx="2552700" cy="403820"/>
          </a:xfrm>
          <a:custGeom>
            <a:avLst/>
            <a:gdLst/>
            <a:ahLst/>
            <a:cxnLst/>
            <a:rect l="l" t="t" r="r" b="b"/>
            <a:pathLst>
              <a:path w="2552700" h="403820">
                <a:moveTo>
                  <a:pt x="95250" y="0"/>
                </a:moveTo>
                <a:lnTo>
                  <a:pt x="2457450" y="0"/>
                </a:lnTo>
                <a:arcTo hR="95250" wR="95250" stAng="16200000" swAng="5400000"/>
                <a:lnTo>
                  <a:pt x="2552700" y="308570"/>
                </a:lnTo>
                <a:arcTo hR="95250" wR="95250" stAng="0" swAng="5400000"/>
                <a:lnTo>
                  <a:pt x="95250" y="403820"/>
                </a:lnTo>
                <a:arcTo hR="95250" wR="95250" stAng="5400000" swAng="5400000"/>
                <a:lnTo>
                  <a:pt x="0" y="95250"/>
                </a:lnTo>
                <a:arcTo hR="95250" wR="95250" stAng="10800000" swAng="5400000"/>
                <a:close/>
              </a:path>
            </a:pathLst>
          </a:custGeom>
          <a:solidFill>
            <a:srgbClr val="FCFBF7"/>
          </a:solidFill>
          <a:ln w="12700">
            <a:solidFill>
              <a:srgbClr val="0B6E6E"/>
            </a:solidFill>
            <a:prstDash val="solid"/>
          </a:ln>
        </p:spPr>
        <p:txBody>
          <a:bodyPr wrap="square" lIns="20574" tIns="95250" rIns="20574" bIns="69850" rtlCol="0" anchor="t">
            <a:normAutofit/>
          </a:bodyPr>
          <a:lstStyle/>
          <a:p>
            <a:pPr algn="ctr" indent="0" marL="0">
              <a:lnSpc>
                <a:spcPts val="1680"/>
              </a:lnSpc>
              <a:buNone/>
            </a:pPr>
            <a:r>
              <a:rPr lang="en-US" sz="1200" b="1" dirty="0">
                <a:solidFill>
                  <a:srgbClr val="14304D"/>
                </a:solidFill>
                <a:latin typeface="Nunito Sans" pitchFamily="34" charset="0"/>
                <a:ea typeface="Nunito Sans" pitchFamily="34" charset="-122"/>
                <a:cs typeface="Nunito Sans" pitchFamily="34" charset="-120"/>
              </a:rPr>
              <a:t>Stimme eher zu</a:t>
            </a:r>
            <a:endParaRPr lang="en-US" sz="1200" dirty="0"/>
          </a:p>
        </p:txBody>
      </p:sp>
      <p:sp>
        <p:nvSpPr>
          <p:cNvPr id="14" name="Text 12"/>
          <p:cNvSpPr/>
          <p:nvPr/>
        </p:nvSpPr>
        <p:spPr>
          <a:xfrm>
            <a:off x="6153150" y="4242991"/>
            <a:ext cx="2552700" cy="403820"/>
          </a:xfrm>
          <a:custGeom>
            <a:avLst/>
            <a:gdLst/>
            <a:ahLst/>
            <a:cxnLst/>
            <a:rect l="l" t="t" r="r" b="b"/>
            <a:pathLst>
              <a:path w="2552700" h="403820">
                <a:moveTo>
                  <a:pt x="95250" y="0"/>
                </a:moveTo>
                <a:lnTo>
                  <a:pt x="2457450" y="0"/>
                </a:lnTo>
                <a:arcTo hR="95250" wR="95250" stAng="16200000" swAng="5400000"/>
                <a:lnTo>
                  <a:pt x="2552700" y="308570"/>
                </a:lnTo>
                <a:arcTo hR="95250" wR="95250" stAng="0" swAng="5400000"/>
                <a:lnTo>
                  <a:pt x="95250" y="403820"/>
                </a:lnTo>
                <a:arcTo hR="95250" wR="95250" stAng="5400000" swAng="5400000"/>
                <a:lnTo>
                  <a:pt x="0" y="95250"/>
                </a:lnTo>
                <a:arcTo hR="95250" wR="95250" stAng="10800000" swAng="5400000"/>
                <a:close/>
              </a:path>
            </a:pathLst>
          </a:custGeom>
          <a:solidFill>
            <a:srgbClr val="FCFBF7"/>
          </a:solidFill>
          <a:ln w="12700">
            <a:solidFill>
              <a:srgbClr val="0B6E6E"/>
            </a:solidFill>
            <a:prstDash val="solid"/>
          </a:ln>
        </p:spPr>
        <p:txBody>
          <a:bodyPr wrap="square" lIns="20574" tIns="95250" rIns="20574" bIns="69850" rtlCol="0" anchor="t">
            <a:normAutofit/>
          </a:bodyPr>
          <a:lstStyle/>
          <a:p>
            <a:pPr algn="ctr" indent="0" marL="0">
              <a:lnSpc>
                <a:spcPts val="1680"/>
              </a:lnSpc>
              <a:buNone/>
            </a:pPr>
            <a:r>
              <a:rPr lang="en-US" sz="1200" b="1" dirty="0">
                <a:solidFill>
                  <a:srgbClr val="14304D"/>
                </a:solidFill>
                <a:latin typeface="Nunito Sans" pitchFamily="34" charset="0"/>
                <a:ea typeface="Nunito Sans" pitchFamily="34" charset="-122"/>
                <a:cs typeface="Nunito Sans" pitchFamily="34" charset="-120"/>
              </a:rPr>
              <a:t>Stimme eher nicht zu</a:t>
            </a:r>
            <a:endParaRPr lang="en-US" sz="1200" dirty="0"/>
          </a:p>
        </p:txBody>
      </p:sp>
      <p:sp>
        <p:nvSpPr>
          <p:cNvPr id="15" name="Text 13"/>
          <p:cNvSpPr/>
          <p:nvPr/>
        </p:nvSpPr>
        <p:spPr>
          <a:xfrm>
            <a:off x="8820150" y="4242991"/>
            <a:ext cx="2552700" cy="403820"/>
          </a:xfrm>
          <a:custGeom>
            <a:avLst/>
            <a:gdLst/>
            <a:ahLst/>
            <a:cxnLst/>
            <a:rect l="l" t="t" r="r" b="b"/>
            <a:pathLst>
              <a:path w="2552700" h="403820">
                <a:moveTo>
                  <a:pt x="95250" y="0"/>
                </a:moveTo>
                <a:lnTo>
                  <a:pt x="2457450" y="0"/>
                </a:lnTo>
                <a:arcTo hR="95250" wR="95250" stAng="16200000" swAng="5400000"/>
                <a:lnTo>
                  <a:pt x="2552700" y="308570"/>
                </a:lnTo>
                <a:arcTo hR="95250" wR="95250" stAng="0" swAng="5400000"/>
                <a:lnTo>
                  <a:pt x="95250" y="403820"/>
                </a:lnTo>
                <a:arcTo hR="95250" wR="95250" stAng="5400000" swAng="5400000"/>
                <a:lnTo>
                  <a:pt x="0" y="95250"/>
                </a:lnTo>
                <a:arcTo hR="95250" wR="95250" stAng="10800000" swAng="5400000"/>
                <a:close/>
              </a:path>
            </a:pathLst>
          </a:custGeom>
          <a:solidFill>
            <a:srgbClr val="D6EAE7"/>
          </a:solidFill>
          <a:ln w="12700">
            <a:solidFill>
              <a:srgbClr val="0B6E6E"/>
            </a:solidFill>
            <a:prstDash val="solid"/>
          </a:ln>
        </p:spPr>
        <p:txBody>
          <a:bodyPr wrap="square" lIns="20574" tIns="95250" rIns="20574" bIns="69850" rtlCol="0" anchor="t">
            <a:normAutofit/>
          </a:bodyPr>
          <a:lstStyle/>
          <a:p>
            <a:pPr algn="ctr" indent="0" marL="0">
              <a:lnSpc>
                <a:spcPts val="1680"/>
              </a:lnSpc>
              <a:buNone/>
            </a:pPr>
            <a:r>
              <a:rPr lang="en-US" sz="1200" b="1" dirty="0">
                <a:solidFill>
                  <a:srgbClr val="14304D"/>
                </a:solidFill>
                <a:latin typeface="Nunito Sans" pitchFamily="34" charset="0"/>
                <a:ea typeface="Nunito Sans" pitchFamily="34" charset="-122"/>
                <a:cs typeface="Nunito Sans" pitchFamily="34" charset="-120"/>
              </a:rPr>
              <a:t>Stimme nicht zu</a:t>
            </a:r>
            <a:endParaRPr lang="en-US" sz="12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7" name="Text 15"/>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9EEF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6E6E"/>
                </a:solidFill>
                <a:latin typeface="Nunito Sans" pitchFamily="34" charset="0"/>
                <a:ea typeface="Nunito Sans" pitchFamily="34" charset="-122"/>
                <a:cs typeface="Nunito Sans" pitchFamily="34" charset="-120"/>
              </a:rPr>
              <a:t>AUFTRAG · 12 MIN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304D"/>
                </a:solidFill>
                <a:latin typeface="Domine" pitchFamily="18" charset="0"/>
                <a:ea typeface="Domine" pitchFamily="18" charset="-122"/>
                <a:cs typeface="Domine" pitchFamily="18" charset="-120"/>
              </a:rPr>
              <a:t>Position beziehen und begründen</a:t>
            </a:r>
            <a:endParaRPr lang="en-US" sz="3200" dirty="0"/>
          </a:p>
        </p:txBody>
      </p:sp>
      <p:sp>
        <p:nvSpPr>
          <p:cNvPr id="4" name="Text 2"/>
          <p:cNvSpPr/>
          <p:nvPr/>
        </p:nvSpPr>
        <p:spPr>
          <a:xfrm>
            <a:off x="812800" y="180330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1</a:t>
            </a:r>
            <a:endParaRPr lang="en-US" sz="1600" dirty="0"/>
          </a:p>
        </p:txBody>
      </p:sp>
      <p:sp>
        <p:nvSpPr>
          <p:cNvPr id="5" name="Text 3"/>
          <p:cNvSpPr/>
          <p:nvPr/>
        </p:nvSpPr>
        <p:spPr>
          <a:xfrm>
            <a:off x="1447800" y="1747441"/>
            <a:ext cx="588645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4 Min, allein:</a:t>
            </a:r>
            <a:r>
              <a:rPr lang="en-US" sz="1600" dirty="0">
                <a:solidFill>
                  <a:srgbClr val="14304D"/>
                </a:solidFill>
                <a:latin typeface="Nunito Sans" pitchFamily="34" charset="0"/>
                <a:ea typeface="Nunito Sans" pitchFamily="34" charset="-122"/>
                <a:cs typeface="Nunito Sans" pitchFamily="34" charset="-120"/>
              </a:rPr>
              <a:t> Aufgabe 122. Nimm zu den Aussagen im Arbeitsbuch Stellung.</a:t>
            </a:r>
            <a:endParaRPr lang="en-US" sz="1600" dirty="0"/>
          </a:p>
        </p:txBody>
      </p:sp>
      <p:sp>
        <p:nvSpPr>
          <p:cNvPr id="6" name="Text 4"/>
          <p:cNvSpPr/>
          <p:nvPr/>
        </p:nvSpPr>
        <p:spPr>
          <a:xfrm>
            <a:off x="812800" y="255002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2</a:t>
            </a:r>
            <a:endParaRPr lang="en-US" sz="1600" dirty="0"/>
          </a:p>
        </p:txBody>
      </p:sp>
      <p:sp>
        <p:nvSpPr>
          <p:cNvPr id="7" name="Text 5"/>
          <p:cNvSpPr/>
          <p:nvPr/>
        </p:nvSpPr>
        <p:spPr>
          <a:xfrm>
            <a:off x="1447800" y="2494161"/>
            <a:ext cx="588645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4 Min, Gruppe:</a:t>
            </a:r>
            <a:r>
              <a:rPr lang="en-US" sz="1600" dirty="0">
                <a:solidFill>
                  <a:srgbClr val="14304D"/>
                </a:solidFill>
                <a:latin typeface="Nunito Sans" pitchFamily="34" charset="0"/>
                <a:ea typeface="Nunito Sans" pitchFamily="34" charset="-122"/>
                <a:cs typeface="Nunito Sans" pitchFamily="34" charset="-120"/>
              </a:rPr>
              <a:t> Aufgabe 123. Vergleicht eure Positionen. Wo seid ihr verschieden? Begründet.</a:t>
            </a:r>
            <a:endParaRPr lang="en-US" sz="1600" dirty="0"/>
          </a:p>
        </p:txBody>
      </p:sp>
      <p:sp>
        <p:nvSpPr>
          <p:cNvPr id="8" name="Text 6"/>
          <p:cNvSpPr/>
          <p:nvPr/>
        </p:nvSpPr>
        <p:spPr>
          <a:xfrm>
            <a:off x="812800" y="32967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0B6E6E"/>
          </a:solidFill>
          <a:ln/>
        </p:spPr>
        <p:txBody>
          <a:bodyPr wrap="square" lIns="0" tIns="0" rIns="0" bIns="0" rtlCol="0" anchor="t">
            <a:normAutofit/>
          </a:bodyPr>
          <a:lstStyle/>
          <a:p>
            <a:pPr algn="ctr" indent="0" marL="0">
              <a:lnSpc>
                <a:spcPts val="3600"/>
              </a:lnSpc>
              <a:buNone/>
            </a:pPr>
            <a:r>
              <a:rPr lang="en-US" sz="1600" b="1" dirty="0">
                <a:solidFill>
                  <a:srgbClr val="F6F4EE"/>
                </a:solidFill>
                <a:latin typeface="Nunito Sans" pitchFamily="34" charset="0"/>
                <a:ea typeface="Nunito Sans" pitchFamily="34" charset="-122"/>
                <a:cs typeface="Nunito Sans" pitchFamily="34" charset="-120"/>
              </a:rPr>
              <a:t>3</a:t>
            </a:r>
            <a:endParaRPr lang="en-US" sz="1600" dirty="0"/>
          </a:p>
        </p:txBody>
      </p:sp>
      <p:sp>
        <p:nvSpPr>
          <p:cNvPr id="9" name="Text 7"/>
          <p:cNvSpPr/>
          <p:nvPr/>
        </p:nvSpPr>
        <p:spPr>
          <a:xfrm>
            <a:off x="1447800" y="3240881"/>
            <a:ext cx="588645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304D"/>
                </a:solidFill>
                <a:latin typeface="Nunito Sans" pitchFamily="34" charset="0"/>
                <a:ea typeface="Nunito Sans" pitchFamily="34" charset="-122"/>
                <a:cs typeface="Nunito Sans" pitchFamily="34" charset="-120"/>
              </a:rPr>
              <a:t>4 Min, Gruppe:</a:t>
            </a:r>
            <a:r>
              <a:rPr lang="en-US" sz="1600" dirty="0">
                <a:solidFill>
                  <a:srgbClr val="14304D"/>
                </a:solidFill>
                <a:latin typeface="Nunito Sans" pitchFamily="34" charset="0"/>
                <a:ea typeface="Nunito Sans" pitchFamily="34" charset="-122"/>
                <a:cs typeface="Nunito Sans" pitchFamily="34" charset="-120"/>
              </a:rPr>
              <a:t> Schreibt einen Rat an Lisa in zwei Sätzen. Sie ist unsicher, wie viel sie in den Ferien posten soll.</a:t>
            </a:r>
            <a:endParaRPr lang="en-US" sz="1600" dirty="0"/>
          </a:p>
        </p:txBody>
      </p:sp>
      <p:sp>
        <p:nvSpPr>
          <p:cNvPr id="10" name="Shape 8"/>
          <p:cNvSpPr/>
          <p:nvPr/>
        </p:nvSpPr>
        <p:spPr>
          <a:xfrm>
            <a:off x="7470775" y="1750616"/>
            <a:ext cx="3905250" cy="2056011"/>
          </a:xfrm>
          <a:prstGeom prst="roundRect">
            <a:avLst>
              <a:gd name="adj" fmla="val 4787"/>
            </a:avLst>
          </a:prstGeom>
          <a:solidFill>
            <a:srgbClr val="FCFBF7"/>
          </a:solidFill>
          <a:ln w="6350">
            <a:solidFill>
              <a:srgbClr val="D9DEDF"/>
            </a:solidFill>
            <a:prstDash val="solid"/>
          </a:ln>
        </p:spPr>
      </p:sp>
      <p:sp>
        <p:nvSpPr>
          <p:cNvPr id="11" name="Text 9"/>
          <p:cNvSpPr/>
          <p:nvPr/>
        </p:nvSpPr>
        <p:spPr>
          <a:xfrm>
            <a:off x="7677150" y="1956991"/>
            <a:ext cx="3597275"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6E6E"/>
                </a:solidFill>
                <a:latin typeface="Nunito Sans" pitchFamily="34" charset="0"/>
                <a:ea typeface="Nunito Sans" pitchFamily="34" charset="-122"/>
                <a:cs typeface="Nunito Sans" pitchFamily="34" charset="-120"/>
              </a:rPr>
              <a:t>Satzanfänge</a:t>
            </a:r>
            <a:endParaRPr lang="en-US" sz="1600" dirty="0"/>
          </a:p>
        </p:txBody>
      </p:sp>
      <p:sp>
        <p:nvSpPr>
          <p:cNvPr id="12" name="Text 10"/>
          <p:cNvSpPr/>
          <p:nvPr/>
        </p:nvSpPr>
        <p:spPr>
          <a:xfrm>
            <a:off x="7677150" y="2343051"/>
            <a:ext cx="35972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«Lisa, du musst nicht ...»</a:t>
            </a:r>
            <a:endParaRPr lang="en-US" sz="1600" dirty="0"/>
          </a:p>
        </p:txBody>
      </p:sp>
      <p:sp>
        <p:nvSpPr>
          <p:cNvPr id="13" name="Text 11"/>
          <p:cNvSpPr/>
          <p:nvPr/>
        </p:nvSpPr>
        <p:spPr>
          <a:xfrm>
            <a:off x="7677150" y="2729111"/>
            <a:ext cx="35972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«Poste lieber ...»</a:t>
            </a:r>
            <a:endParaRPr lang="en-US" sz="1600" dirty="0"/>
          </a:p>
        </p:txBody>
      </p:sp>
      <p:sp>
        <p:nvSpPr>
          <p:cNvPr id="14" name="Text 12"/>
          <p:cNvSpPr/>
          <p:nvPr/>
        </p:nvSpPr>
        <p:spPr>
          <a:xfrm>
            <a:off x="7677150" y="3115171"/>
            <a:ext cx="35972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304D"/>
                </a:solidFill>
                <a:latin typeface="Nunito Sans" pitchFamily="34" charset="0"/>
                <a:ea typeface="Nunito Sans" pitchFamily="34" charset="-122"/>
                <a:cs typeface="Nunito Sans" pitchFamily="34" charset="-120"/>
              </a:rPr>
              <a:t>«Denk daran, dass ...»</a:t>
            </a:r>
            <a:endParaRPr lang="en-US" sz="1600" dirty="0"/>
          </a:p>
        </p:txBody>
      </p:sp>
      <p:sp>
        <p:nvSpPr>
          <p:cNvPr id="15" name="Text 13"/>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B6B"/>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6" name="Text 14"/>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0B6E6E"/>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304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FD0C8"/>
                </a:solidFill>
                <a:latin typeface="Nunito Sans" pitchFamily="34" charset="0"/>
                <a:ea typeface="Nunito Sans" pitchFamily="34" charset="-122"/>
                <a:cs typeface="Nunito Sans" pitchFamily="34" charset="-120"/>
              </a:rPr>
              <a:t>ABSCHLUSS · 1 MIN</a:t>
            </a:r>
            <a:endParaRPr lang="en-US" sz="1200" dirty="0"/>
          </a:p>
        </p:txBody>
      </p:sp>
      <p:sp>
        <p:nvSpPr>
          <p:cNvPr id="3" name="Text 1"/>
          <p:cNvSpPr/>
          <p:nvPr>
            <p:ph type="title"/>
          </p:nvPr>
        </p:nvSpPr>
        <p:spPr>
          <a:xfrm>
            <a:off x="812800" y="10769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6F4EE"/>
                </a:solidFill>
                <a:latin typeface="Domine" pitchFamily="18" charset="0"/>
                <a:ea typeface="Domine" pitchFamily="18" charset="-122"/>
                <a:cs typeface="Domine" pitchFamily="18" charset="-120"/>
              </a:rPr>
              <a:t>Das nimmst du mit</a:t>
            </a:r>
            <a:endParaRPr lang="en-US" sz="3200" dirty="0"/>
          </a:p>
        </p:txBody>
      </p:sp>
      <p:sp>
        <p:nvSpPr>
          <p:cNvPr id="4" name="Text 2"/>
          <p:cNvSpPr/>
          <p:nvPr/>
        </p:nvSpPr>
        <p:spPr>
          <a:xfrm>
            <a:off x="812800" y="17474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6FD0C8"/>
          </a:solidFill>
          <a:ln/>
        </p:spPr>
        <p:txBody>
          <a:bodyPr wrap="square" lIns="0" tIns="0" rIns="0" bIns="0" rtlCol="0" anchor="t">
            <a:normAutofit/>
          </a:bodyPr>
          <a:lstStyle/>
          <a:p>
            <a:pPr algn="ctr" indent="0" marL="0">
              <a:lnSpc>
                <a:spcPts val="3600"/>
              </a:lnSpc>
              <a:buNone/>
            </a:pPr>
            <a:r>
              <a:rPr lang="en-US" sz="1600" b="1" dirty="0">
                <a:solidFill>
                  <a:srgbClr val="14304D"/>
                </a:solidFill>
                <a:latin typeface="Nunito Sans" pitchFamily="34" charset="0"/>
                <a:ea typeface="Nunito Sans" pitchFamily="34" charset="-122"/>
                <a:cs typeface="Nunito Sans" pitchFamily="34" charset="-120"/>
              </a:rPr>
              <a:t>1</a:t>
            </a:r>
            <a:endParaRPr lang="en-US" sz="1600" dirty="0"/>
          </a:p>
        </p:txBody>
      </p:sp>
      <p:sp>
        <p:nvSpPr>
          <p:cNvPr id="5" name="Text 3"/>
          <p:cNvSpPr/>
          <p:nvPr/>
        </p:nvSpPr>
        <p:spPr>
          <a:xfrm>
            <a:off x="1447800" y="18337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Ich kann Infrastruktur und Dienste unterscheiden, zum Beispiel mit dem Bild der Spedition.</a:t>
            </a:r>
            <a:endParaRPr lang="en-US" sz="1600" dirty="0"/>
          </a:p>
        </p:txBody>
      </p:sp>
      <p:sp>
        <p:nvSpPr>
          <p:cNvPr id="6" name="Text 4"/>
          <p:cNvSpPr/>
          <p:nvPr/>
        </p:nvSpPr>
        <p:spPr>
          <a:xfrm>
            <a:off x="812800" y="23824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6FD0C8"/>
          </a:solidFill>
          <a:ln/>
        </p:spPr>
        <p:txBody>
          <a:bodyPr wrap="square" lIns="0" tIns="0" rIns="0" bIns="0" rtlCol="0" anchor="t">
            <a:normAutofit/>
          </a:bodyPr>
          <a:lstStyle/>
          <a:p>
            <a:pPr algn="ctr" indent="0" marL="0">
              <a:lnSpc>
                <a:spcPts val="3600"/>
              </a:lnSpc>
              <a:buNone/>
            </a:pPr>
            <a:r>
              <a:rPr lang="en-US" sz="1600" b="1" dirty="0">
                <a:solidFill>
                  <a:srgbClr val="14304D"/>
                </a:solidFill>
                <a:latin typeface="Nunito Sans" pitchFamily="34" charset="0"/>
                <a:ea typeface="Nunito Sans" pitchFamily="34" charset="-122"/>
                <a:cs typeface="Nunito Sans" pitchFamily="34" charset="-120"/>
              </a:rPr>
              <a:t>2</a:t>
            </a:r>
            <a:endParaRPr lang="en-US" sz="1600" dirty="0"/>
          </a:p>
        </p:txBody>
      </p:sp>
      <p:sp>
        <p:nvSpPr>
          <p:cNvPr id="7" name="Text 5"/>
          <p:cNvSpPr/>
          <p:nvPr/>
        </p:nvSpPr>
        <p:spPr>
          <a:xfrm>
            <a:off x="1447800" y="24687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Ich weiss, dass das WWW ein Dienst ist und nicht das ganze Internet.</a:t>
            </a:r>
            <a:endParaRPr lang="en-US" sz="1600" dirty="0"/>
          </a:p>
        </p:txBody>
      </p:sp>
      <p:sp>
        <p:nvSpPr>
          <p:cNvPr id="8" name="Text 6"/>
          <p:cNvSpPr/>
          <p:nvPr/>
        </p:nvSpPr>
        <p:spPr>
          <a:xfrm>
            <a:off x="812800" y="3017441"/>
            <a:ext cx="457200" cy="457200"/>
          </a:xfrm>
          <a:custGeom>
            <a:avLst/>
            <a:gdLst/>
            <a:ahLst/>
            <a:cxnLst/>
            <a:rect l="l" t="t" r="r" b="b"/>
            <a:pathLst>
              <a:path w="457200" h="457200">
                <a:moveTo>
                  <a:pt x="228600" y="0"/>
                </a:moveTo>
                <a:lnTo>
                  <a:pt x="228600" y="0"/>
                </a:lnTo>
                <a:arcTo hR="228600" wR="228600" stAng="16200000" swAng="5400000"/>
                <a:lnTo>
                  <a:pt x="457200" y="228600"/>
                </a:lnTo>
                <a:arcTo hR="228600" wR="228600" stAng="0" swAng="5400000"/>
                <a:lnTo>
                  <a:pt x="228600" y="457200"/>
                </a:lnTo>
                <a:arcTo hR="228600" wR="228600" stAng="5400000" swAng="5400000"/>
                <a:lnTo>
                  <a:pt x="0" y="228600"/>
                </a:lnTo>
                <a:arcTo hR="228600" wR="228600" stAng="10800000" swAng="5400000"/>
                <a:close/>
              </a:path>
            </a:pathLst>
          </a:custGeom>
          <a:solidFill>
            <a:srgbClr val="6FD0C8"/>
          </a:solidFill>
          <a:ln/>
        </p:spPr>
        <p:txBody>
          <a:bodyPr wrap="square" lIns="0" tIns="0" rIns="0" bIns="0" rtlCol="0" anchor="t">
            <a:normAutofit/>
          </a:bodyPr>
          <a:lstStyle/>
          <a:p>
            <a:pPr algn="ctr" indent="0" marL="0">
              <a:lnSpc>
                <a:spcPts val="3600"/>
              </a:lnSpc>
              <a:buNone/>
            </a:pPr>
            <a:r>
              <a:rPr lang="en-US" sz="1600" b="1" dirty="0">
                <a:solidFill>
                  <a:srgbClr val="14304D"/>
                </a:solidFill>
                <a:latin typeface="Nunito Sans" pitchFamily="34" charset="0"/>
                <a:ea typeface="Nunito Sans" pitchFamily="34" charset="-122"/>
                <a:cs typeface="Nunito Sans" pitchFamily="34" charset="-120"/>
              </a:rPr>
              <a:t>3</a:t>
            </a:r>
            <a:endParaRPr lang="en-US" sz="1600" dirty="0"/>
          </a:p>
        </p:txBody>
      </p:sp>
      <p:sp>
        <p:nvSpPr>
          <p:cNvPr id="9" name="Text 7"/>
          <p:cNvSpPr/>
          <p:nvPr/>
        </p:nvSpPr>
        <p:spPr>
          <a:xfrm>
            <a:off x="1447800" y="3103761"/>
            <a:ext cx="98107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Nunito Sans" pitchFamily="34" charset="0"/>
                <a:ea typeface="Nunito Sans" pitchFamily="34" charset="-122"/>
                <a:cs typeface="Nunito Sans" pitchFamily="34" charset="-120"/>
              </a:rPr>
              <a:t>Ich erkenne FOMO und kann meine Position zu Ferienfotos begründen.</a:t>
            </a:r>
            <a:endParaRPr lang="en-US" sz="1600" dirty="0"/>
          </a:p>
        </p:txBody>
      </p:sp>
      <p:sp>
        <p:nvSpPr>
          <p:cNvPr id="10" name="Text 8"/>
          <p:cNvSpPr/>
          <p:nvPr/>
        </p:nvSpPr>
        <p:spPr>
          <a:xfrm>
            <a:off x="812800" y="367784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E39A3B"/>
                </a:solidFill>
                <a:latin typeface="Nunito Sans" pitchFamily="34" charset="0"/>
                <a:ea typeface="Nunito Sans" pitchFamily="34" charset="-122"/>
                <a:cs typeface="Nunito Sans" pitchFamily="34" charset="-120"/>
              </a:rPr>
              <a:t>Nächste Woche, Di 03.11.: Wirkung von Fotos und Repetition für die Prüfung.</a:t>
            </a:r>
            <a:endParaRPr lang="en-US" sz="1600" dirty="0"/>
          </a:p>
        </p:txBody>
      </p:sp>
      <p:sp>
        <p:nvSpPr>
          <p:cNvPr id="11" name="Text 9"/>
          <p:cNvSpPr/>
          <p:nvPr/>
        </p:nvSpPr>
        <p:spPr>
          <a:xfrm>
            <a:off x="8128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5E0"/>
                </a:solidFill>
                <a:latin typeface="Nunito Sans" pitchFamily="34" charset="0"/>
                <a:ea typeface="Nunito Sans" pitchFamily="34" charset="-122"/>
                <a:cs typeface="Nunito Sans" pitchFamily="34" charset="-120"/>
              </a:rPr>
              <a:t>M&amp;I 1. Sek · Kapitel 1 · Eine Entdeckungsreise durch das Internet</a:t>
            </a:r>
            <a:endParaRPr lang="en-US" sz="1200" dirty="0"/>
          </a:p>
        </p:txBody>
      </p:sp>
      <p:sp>
        <p:nvSpPr>
          <p:cNvPr id="12" name="Text 10"/>
          <p:cNvSpPr/>
          <p:nvPr/>
        </p:nvSpPr>
        <p:spPr>
          <a:xfrm>
            <a:off x="7978140" y="6238280"/>
            <a:ext cx="340106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6FD0C8"/>
                </a:solidFill>
                <a:latin typeface="Nunito Sans" pitchFamily="34" charset="0"/>
                <a:ea typeface="Nunito Sans" pitchFamily="34" charset="-122"/>
                <a:cs typeface="Nunito Sans" pitchFamily="34" charset="-120"/>
              </a:rPr>
              <a:t>Prüfung 1: Di 10.11.2026</a:t>
            </a:r>
            <a:endParaRPr lang="en-US" sz="1200" dirty="0"/>
          </a:p>
        </p:txBody>
      </p:sp>
    </p:spTree>
  </p:cSld>
  <p:clrMapOvr>
    <a:masterClrMapping/>
  </p:clrMapOvr>
</p:sld>
</file>

<file path=ppt/theme/theme1.xml><?xml version="1.0" encoding="utf-8"?>
<a:theme xmlns:a="http://schemas.openxmlformats.org/drawingml/2006/main" name="M&amp;I Kapitel 1: Dienste und Fotos (27.10.2026)">
  <a:themeElements>
    <a:clrScheme name="M&amp;I Kapitel 1: Dienste und Fotos (27.10.2026)">
      <a:dk1>
        <a:srgbClr val="14304D"/>
      </a:dk1>
      <a:lt1>
        <a:srgbClr val="F6F4EE"/>
      </a:lt1>
      <a:dk2>
        <a:srgbClr val="4D6175"/>
      </a:dk2>
      <a:lt2>
        <a:srgbClr val="DFE0DE"/>
      </a:lt2>
      <a:accent1>
        <a:srgbClr val="0B6E6E"/>
      </a:accent1>
      <a:accent2>
        <a:srgbClr val="6FD0C8"/>
      </a:accent2>
      <a:accent3>
        <a:srgbClr val="E39A3B"/>
      </a:accent3>
      <a:accent4>
        <a:srgbClr val="1E4268"/>
      </a:accent4>
      <a:accent5>
        <a:srgbClr val="4A5B6B"/>
      </a:accent5>
      <a:accent6>
        <a:srgbClr val="D6EAE7"/>
      </a:accent6>
      <a:hlink>
        <a:srgbClr val="0563C1"/>
      </a:hlink>
      <a:folHlink>
        <a:srgbClr val="954F72"/>
      </a:folHlink>
    </a:clrScheme>
    <a:fontScheme name="M&amp;I Kapitel 1: Dienste und Fotos (27.10.2026)">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M&amp;I Kapitel 1: Dienste und Fotos (27.10.2026)</dc:title>
  <dc:subject/>
  <dc:creator/>
  <cp:lastModifiedBy/>
  <cp:revision>1</cp:revision>
  <dcterms:created xsi:type="dcterms:W3CDTF">2026-10-19T19:18:39Z</dcterms:created>
  <dcterms:modified xsi:type="dcterms:W3CDTF">2026-10-19T19:18:39Z</dcterms:modified>
</cp:coreProperties>
</file>