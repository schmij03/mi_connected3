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sldIdLst>
    <p:sldId id="263" r:id="rId5"/>
    <p:sldId id="264" r:id="rId6"/>
    <p:sldId id="278" r:id="rId7"/>
    <p:sldId id="281" r:id="rId8"/>
    <p:sldId id="265" r:id="rId9"/>
    <p:sldId id="266" r:id="rId10"/>
    <p:sldId id="267" r:id="rId11"/>
    <p:sldId id="268"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unkle Formatvorlage 2 - Akzent 1/Akz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1"/>
    <p:restoredTop sz="96301"/>
  </p:normalViewPr>
  <p:slideViewPr>
    <p:cSldViewPr snapToGrid="0" snapToObjects="1">
      <p:cViewPr varScale="1">
        <p:scale>
          <a:sx n="127" d="100"/>
          <a:sy n="127" d="100"/>
        </p:scale>
        <p:origin x="44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 Schmid" userId="1110e7f4-0253-46c7-a340-3f814eeafb47" providerId="ADAL" clId="{01880861-311D-531E-A1C6-52F600E95700}"/>
    <pc:docChg chg="delSld">
      <pc:chgData name="Jan Schmid" userId="1110e7f4-0253-46c7-a340-3f814eeafb47" providerId="ADAL" clId="{01880861-311D-531E-A1C6-52F600E95700}" dt="2026-10-19T18:12:15.181" v="14" actId="2696"/>
      <pc:docMkLst>
        <pc:docMk/>
      </pc:docMkLst>
      <pc:sldChg chg="del">
        <pc:chgData name="Jan Schmid" userId="1110e7f4-0253-46c7-a340-3f814eeafb47" providerId="ADAL" clId="{01880861-311D-531E-A1C6-52F600E95700}" dt="2026-10-19T18:12:15.181" v="14" actId="2696"/>
        <pc:sldMkLst>
          <pc:docMk/>
          <pc:sldMk cId="0"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3124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Themenwechsel deutlich machen: «Jetzt ein ganz anderes Thema.»</a:t>
            </a:r>
          </a:p>
          <a:p>
            <a:r>
              <a:t>Situation vorlesen. Frage: «Was glaubt ihr, warum ruckelt das Video?» Zwei bis drei Vermutungen sammeln, nicht werten. Einfach sagen: «Wir prüfen das gleich.»</a:t>
            </a:r>
          </a:p>
          <a:p>
            <a:r>
              <a:t>Mögliche Vermutungen der Kinder: schlechtes WLAN, zu viele Leute, Handy zu alt, weit weg von zu Hause, Wetter. Die Auflösung folgt mit Auftrag 2.</a:t>
            </a:r>
          </a:p>
          <a:p>
            <a:r>
              <a:t>Zeit: 2 Minuten.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Arbeitsbuch Aufgabe 113, alle sieben Aussagen.</a:t>
            </a:r>
          </a:p>
          <a:p>
            <a:r>
              <a:t>Ablauf: 5 Minuten Einzelarbeit. Die Kinder lesen jede Aussage und kreuzen richtig oder falsch an. Wer unsicher ist, kreuzt trotzdem an, es gibt keine Note.</a:t>
            </a:r>
          </a:p>
          <a:p>
            <a:r>
              <a:t>Danach im Plenum auflösen mit den nächsten zwei Folien (Lösung 1 von 2 und 2 von 2). Pro Aussage kurz Handzeichen, dann Lösung zeigen.</a:t>
            </a:r>
          </a:p>
          <a:p>
            <a:r>
              <a:t>Achtung: Nicht alle Lösungen sind nur richtig oder falsch. Aussage 4 (Wetter) ist «unwahrscheinlich», Aussage 7 (Netz beschädigt) ist «möglich». Beide Kreuze gelten, wenn das Kind es begründen kann.</a:t>
            </a:r>
          </a:p>
          <a:p>
            <a:r>
              <a:t>Kurzlösung: 1 falsch, 2 richtig, 3 falsch, 4 unwahrscheinlich, 5 richtig, 6 richtig, 7 möglich.</a:t>
            </a:r>
          </a:p>
          <a:p>
            <a:r>
              <a:t>Schnelle Kinder: Aufgabe 114 im Arbeitsbuch (weitere Gründe für eine Störung überlegen, zum Beispiel Stromausfall oder Cyberangriff).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Diese Folie nach den 5 Minuten Einzelarbeit zeigen. Pro Aussage: zuerst fragen «Wer hat richtig angekreuzt, wer falsch?» (Handzeichen), dann die Lösung zeigen und kurz begründen. Die Kinder korrigieren im Arbeitsbuch mit einer anderen Farbe.</a:t>
            </a:r>
          </a:p>
          <a:p>
            <a:r>
              <a:t>Ausführliche Lösungen (Handbuch connected 3):</a:t>
            </a:r>
          </a:p>
          <a:p>
            <a:r>
              <a:t>1. Die Router in Frankreich haben zwischen 12 und 15 Uhr Mittagspause. FALSCH. Router sind die tragenden Säulen des Internets. Sie arbeiten rund um die Uhr und werden nur selten vom Netz genommen, zum Beispiel für eine Wartung oder Reparatur. Der Fall, dass alle Router eines Landes gleichzeitig abgeschaltet werden, kommt nie vor.</a:t>
            </a:r>
          </a:p>
          <a:p>
            <a:r>
              <a:t>2. Es sind gleichzeitig zu viele Gäste im WLAN von Lisas Ferienanlage aktiv. RICHTIG. Der Anschluss vom Haus oder von der Ferienanlage zum nächsten Router ist eine Engstelle, vor allem wenn dort noch keine Glasfaserkabel installiert sind, sondern noch langsamere Kupferleitungen im Einsatz sind. Je mehr Personen in der Ferienanlage gleichzeitig das Internet nutzen, desto langsamer wird die Datenübertragung. Auch das WLAN-Netz kann nur eine begrenzte Datenmenge pro Sekunde übertragen; diese Datenmenge müssen sich die Nutzerinnen und Nutzer teilen.</a:t>
            </a:r>
          </a:p>
          <a:p>
            <a:r>
              <a:t>Bild für die Klasse: Wie eine schmale Strasse zur Ferienanlage. Am Abend wollen alle gleichzeitig durch.</a:t>
            </a:r>
          </a:p>
          <a:p>
            <a:r>
              <a:t>3. Die Leitungen in die Schweiz sind sehr lang. Daher braucht die Übertragung viel Zeit. FALSCH. Die Länge der weltweiten Glasfaserkabel spielt keine Rolle für die Geschwindigkeit der Datenübertragung. Denn in den Glasfaserkabeln werden die Daten mit Lichtgeschwindigkeit transportiert. (Mehr dazu auf der Folie «200 000 km/s».)</a:t>
            </a:r>
          </a:p>
          <a:p>
            <a:r>
              <a:t>4. Das Wetter kann schuld sein. UNWAHRSCHEINLICH. Das Wetter kann indirekt Netzausfälle verursachen, wenn zum Beispiel ein Hurrikan mehrere Routerstandorte zerstört. Ein einzelner Blitzeinschlag in eine Leitung, einen Router oder einen Server hätte eher geringe Auswirkungen auf die Datenübertragung, weil die Daten einfach einen anderen Weg nehmen können.</a:t>
            </a:r>
          </a:p>
          <a:p>
            <a:r>
              <a:t>Hinweis: Bei Aussage 4 haben manche Kinder vielleicht «richtig» angekreuzt. Das ist nicht ganz falsch, aber sehr selten. Darum heisst die Lösung «unwahrscheinlich».</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Gleiches Vorgehen wie auf der vorherigen Folie: Handzeichen, Lösung zeigen, im Arbeitsbuch korrigieren.</a:t>
            </a:r>
          </a:p>
          <a:p>
            <a:r>
              <a:t>Ausführliche Lösungen (Handbuch connected 3):</a:t>
            </a:r>
          </a:p>
          <a:p>
            <a:r>
              <a:t>5. Die Daten müssen auf ihrem Weg sehr viele Kreuzungen passieren (Router). RICHTIG. Die Anzahl der Router hat tatsächlich Auswirkungen auf die Geschwindigkeit. Jeder Router ist wie eine Kreuzung, an der die Daten kurz warten müssen.</a:t>
            </a:r>
          </a:p>
          <a:p>
            <a:r>
              <a:t>6. Videodaten sind sehr umfangreich und verursachen in Netzen mit geringer Übertragungskapazität schnell Datenstau. RICHTIG. Videodaten sind in der Tat gross und werden zur Übertragung in viele kleine Datenpakete aufgeteilt. Das verzögert den Transport deutlich, weil die grosse Anzahl Pakete in einem nicht so schnellen Netz zu Stau führen kann.</a:t>
            </a:r>
          </a:p>
          <a:p>
            <a:r>
              <a:t>7. Das Netz ist an einer entscheidenden Stelle beschädigt. MÖGLICH. Eine Beschädigung an einer entscheidenden Stelle kann den Datentransfer stören. Es muss sich aber um eine wirklich wichtige Stelle handeln, zum Beispiel eines von zwei Seekabeln, die einen Kontinent mit dem Rest der Welt verbinden.</a:t>
            </a:r>
          </a:p>
          <a:p>
            <a:r>
              <a:t>Zum Abschluss fragen: «Welche Vermutungen von vorhin waren richtig?» Kurz auf die gesammelten Vermutungen zurückkommen.</a:t>
            </a:r>
          </a:p>
          <a:p>
            <a:r>
              <a:t>Überleitung zur nächsten Folie: Für Lisa sind Aussage 2 und 6 die wichtigsten Gründe. Genau diese zwei stehen auf der nächsten Folie.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ist die Kernbotschaft von Teil B. Beide Gründe vorlesen lassen.</a:t>
            </a:r>
          </a:p>
          <a:p>
            <a:r>
              <a:t>Bild zum Erklären: Die Leitung ist wie eine Strasse. Wenn am Abend alle Gäste gleichzeitig Videos schauen, sind sehr viele Autos (Datenpakete) auf derselben Strasse. Es gibt Stau.</a:t>
            </a:r>
          </a:p>
          <a:p>
            <a:r>
              <a:t>Kontrollfrage: «Wann ruckelt das Video in der Ferienanlage wohl weniger, am Abend oder am frühen Morgen?» Antwort: am frühen Morgen, weil dann weniger Gäste online sind.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Zusatzinformation, darf bei Zeitmangel wegfallen.</a:t>
            </a:r>
          </a:p>
          <a:p>
            <a:r>
              <a:t>Kurz erklären: Im Glasfaserkabel sind Daten unglaublich schnell, etwa 200 000 Kilometer pro Sekunde. 1000 Kilometer dauern etwa fünf Tausendstelsekunden. Die Länge der Leitung ist darum fast nie der Grund für ein ruckelndes Video.</a:t>
            </a:r>
          </a:p>
          <a:p>
            <a:r>
              <a:t>Vergleich für die Klasse: In einer Sekunde könnten die Daten etwa fünfmal um die Erde.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drei Lernziele nochmals zeigen. Die Kinder zeigen mit dem Daumen: hoch (kann ich), seitlich (fast), runter (noch nicht).</a:t>
            </a:r>
          </a:p>
          <a:p>
            <a:r>
              <a:t>Mögliche Kontrollfragen mit Lösung:</a:t>
            </a:r>
          </a:p>
          <a:p>
            <a:r>
              <a:t>Ziel 1: Nenne zwei Kriterien für eine gute Bewertung. Lösung zum Beispiel: viele Bewertungen, ein Textkommentar, persönliche Erfahrung, aktuelle Bewertungen.</a:t>
            </a:r>
          </a:p>
          <a:p>
            <a:r>
              <a:t>Ziel 2: Warum fälscht jemand Bewertungen? Lösung: um mehr zu verkaufen, um der Konkurrenz zu schaden, weil man Geld oder Rabatt bekommt.</a:t>
            </a:r>
          </a:p>
          <a:p>
            <a:r>
              <a:t>Ziel 3: Nenne zwei Gründe, warum ein Video ruckelt. Lösung: Viele teilen dieselbe Leitung; Videos brauchen sehr viele Daten.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Hausaufgabe erteilen und von der Klasse ins Aufgabenheft eintragen lassen: Arbeitsbuch Aufgabe 112.</a:t>
            </a:r>
          </a:p>
          <a:p>
            <a:r>
              <a:t>Auftrag: Die Kinder suchen zu Hause Online-Bewertungen zu einem Produkt, das sie interessiert (zum Beispiel ein Sportschuh, ein Handy, ein Kino in der Nähe). Sie prüfen die Bewertungen mit dem Raster auf AB 2 B und kreuzen an, welche Kriterien erfüllt sind.</a:t>
            </a:r>
          </a:p>
          <a:p>
            <a:r>
              <a:t>Wer keine Idee hat, nimmt einen Vorschlag von dir, zum Beispiel ein bestimmtes Handymodell.</a:t>
            </a:r>
          </a:p>
          <a:p>
            <a:r>
              <a:t>Die Hausaufgabe wird nächste Woche zu Beginn kurz besprochen, dafür musst du nichts vorbereiten.</a:t>
            </a:r>
          </a:p>
          <a:p>
            <a:r>
              <a:t>Ausblick vorlesen: Nächste Woche planen wir ein Netz und lernen dabei ein Verfahren kennen.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8">
    <p:bg>
      <p:bgPr>
        <a:solidFill>
          <a:srgbClr val="065A82"/>
        </a:solidFill>
        <a:effectLst/>
      </p:bgPr>
    </p:bg>
    <p:spTree>
      <p:nvGrpSpPr>
        <p:cNvPr id="1" name=""/>
        <p:cNvGrpSpPr/>
        <p:nvPr/>
      </p:nvGrpSpPr>
      <p:grpSpPr>
        <a:xfrm>
          <a:off x="0" y="0"/>
          <a:ext cx="0" cy="0"/>
          <a:chOff x="0" y="0"/>
          <a:chExt cx="0" cy="0"/>
        </a:xfrm>
      </p:grpSpPr>
      <p:sp>
        <p:nvSpPr>
          <p:cNvPr id="2" name="Text 0"/>
          <p:cNvSpPr txBox="1"/>
          <p:nvPr/>
        </p:nvSpPr>
        <p:spPr>
          <a:xfrm>
            <a:off x="822960" y="1737360"/>
            <a:ext cx="10543032" cy="219456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itchFamily="34" charset="0"/>
                <a:ea typeface="Calibri" pitchFamily="34" charset="-122"/>
                <a:cs typeface="Calibri" pitchFamily="34" charset="-120"/>
              </a:rPr>
              <a:t>Lisas Video ruckelt. Warum?</a:t>
            </a:r>
            <a:endParaRPr lang="en-US" sz="4000" dirty="0"/>
          </a:p>
        </p:txBody>
      </p:sp>
      <p:sp>
        <p:nvSpPr>
          <p:cNvPr id="3" name="Text 1"/>
          <p:cNvSpPr txBox="1"/>
          <p:nvPr/>
        </p:nvSpPr>
        <p:spPr>
          <a:xfrm>
            <a:off x="822960" y="4023360"/>
            <a:ext cx="10543032" cy="1280160"/>
          </a:xfrm>
          <a:prstGeom prst="rect">
            <a:avLst/>
          </a:prstGeom>
          <a:noFill/>
          <a:ln/>
        </p:spPr>
        <p:txBody>
          <a:bodyPr wrap="square" lIns="0" tIns="0" rIns="0" bIns="0" rtlCol="0" anchor="ctr"/>
          <a:lstStyle/>
          <a:p>
            <a:pPr marL="0" indent="0">
              <a:buNone/>
            </a:pPr>
            <a:r>
              <a:rPr lang="en-US" sz="2200" dirty="0">
                <a:solidFill>
                  <a:srgbClr val="C7E0EC"/>
                </a:solidFill>
                <a:latin typeface="Calibri" pitchFamily="34" charset="0"/>
                <a:ea typeface="Calibri" pitchFamily="34" charset="-122"/>
                <a:cs typeface="Calibri" pitchFamily="34" charset="-120"/>
              </a:rPr>
              <a:t>Sie sitzt am Abend in der Ferienanlage. Das Video lädt immer wieder nach.</a:t>
            </a:r>
            <a:endParaRPr lang="en-US" sz="2200" dirty="0"/>
          </a:p>
        </p:txBody>
      </p:sp>
      <p:sp>
        <p:nvSpPr>
          <p:cNvPr id="4" name="Shape 2"/>
          <p:cNvSpPr/>
          <p:nvPr/>
        </p:nvSpPr>
        <p:spPr>
          <a:xfrm>
            <a:off x="10451592" y="502920"/>
            <a:ext cx="1005840" cy="1005840"/>
          </a:xfrm>
          <a:prstGeom prst="ellipse">
            <a:avLst/>
          </a:prstGeom>
          <a:solidFill>
            <a:srgbClr val="E4572E"/>
          </a:solidFill>
          <a:ln/>
        </p:spPr>
        <p:txBody>
          <a:bodyPr/>
          <a:lstStyle/>
          <a:p>
            <a:endParaRPr lang="de-CH"/>
          </a:p>
        </p:txBody>
      </p:sp>
      <p:sp>
        <p:nvSpPr>
          <p:cNvPr id="5" name="Text 3"/>
          <p:cNvSpPr txBox="1"/>
          <p:nvPr/>
        </p:nvSpPr>
        <p:spPr>
          <a:xfrm>
            <a:off x="10451592" y="502920"/>
            <a:ext cx="1005840" cy="10058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11480"/>
            <a:ext cx="3017520" cy="6035040"/>
          </a:xfrm>
          <a:prstGeom prst="roundRect">
            <a:avLst>
              <a:gd name="adj" fmla="val 2424"/>
            </a:avLst>
          </a:prstGeom>
          <a:solidFill>
            <a:srgbClr val="065A82"/>
          </a:solidFill>
          <a:ln/>
        </p:spPr>
        <p:txBody>
          <a:bodyPr/>
          <a:lstStyle/>
          <a:p>
            <a:endParaRPr lang="de-CH"/>
          </a:p>
        </p:txBody>
      </p:sp>
      <p:sp>
        <p:nvSpPr>
          <p:cNvPr id="3" name="Text 1"/>
          <p:cNvSpPr txBox="1"/>
          <p:nvPr/>
        </p:nvSpPr>
        <p:spPr>
          <a:xfrm>
            <a:off x="868680" y="777240"/>
            <a:ext cx="2377440" cy="457200"/>
          </a:xfrm>
          <a:prstGeom prst="rect">
            <a:avLst/>
          </a:prstGeom>
          <a:noFill/>
          <a:ln/>
        </p:spPr>
        <p:txBody>
          <a:bodyPr wrap="square" lIns="0" tIns="0" rIns="0" bIns="0" rtlCol="0" anchor="ctr"/>
          <a:lstStyle/>
          <a:p>
            <a:pPr marL="0" indent="0">
              <a:buNone/>
            </a:pPr>
            <a:r>
              <a:rPr lang="en-US" sz="2000" b="1" dirty="0">
                <a:solidFill>
                  <a:srgbClr val="9FC6DA"/>
                </a:solidFill>
                <a:latin typeface="Calibri" pitchFamily="34" charset="0"/>
                <a:ea typeface="Calibri" pitchFamily="34" charset="-122"/>
                <a:cs typeface="Calibri" pitchFamily="34" charset="-120"/>
              </a:rPr>
              <a:t>Auftrag</a:t>
            </a:r>
            <a:endParaRPr lang="en-US" sz="2000" dirty="0"/>
          </a:p>
        </p:txBody>
      </p:sp>
      <p:sp>
        <p:nvSpPr>
          <p:cNvPr id="4" name="Text 2"/>
          <p:cNvSpPr txBox="1"/>
          <p:nvPr/>
        </p:nvSpPr>
        <p:spPr>
          <a:xfrm>
            <a:off x="868680" y="1188720"/>
            <a:ext cx="2377440" cy="1371600"/>
          </a:xfrm>
          <a:prstGeom prst="rect">
            <a:avLst/>
          </a:prstGeom>
          <a:noFill/>
          <a:ln/>
        </p:spPr>
        <p:txBody>
          <a:bodyPr wrap="square" lIns="0" tIns="0" rIns="0" bIns="0" rtlCol="0" anchor="ctr"/>
          <a:lstStyle/>
          <a:p>
            <a:pPr marL="0" indent="0">
              <a:buNone/>
            </a:pPr>
            <a:r>
              <a:rPr lang="en-US" sz="7200" b="1" dirty="0">
                <a:solidFill>
                  <a:srgbClr val="FFFFFF"/>
                </a:solidFill>
                <a:latin typeface="Calibri" pitchFamily="34" charset="0"/>
                <a:ea typeface="Calibri" pitchFamily="34" charset="-122"/>
                <a:cs typeface="Calibri" pitchFamily="34" charset="-120"/>
              </a:rPr>
              <a:t>2</a:t>
            </a:r>
            <a:endParaRPr lang="en-US" sz="7200" dirty="0"/>
          </a:p>
        </p:txBody>
      </p:sp>
      <p:sp>
        <p:nvSpPr>
          <p:cNvPr id="5" name="Text 3"/>
          <p:cNvSpPr txBox="1"/>
          <p:nvPr/>
        </p:nvSpPr>
        <p:spPr>
          <a:xfrm>
            <a:off x="868680" y="2697480"/>
            <a:ext cx="2377440" cy="320040"/>
          </a:xfrm>
          <a:prstGeom prst="rect">
            <a:avLst/>
          </a:prstGeom>
          <a:noFill/>
          <a:ln/>
        </p:spPr>
        <p:txBody>
          <a:bodyPr wrap="square" lIns="0" tIns="0" rIns="0" bIns="0" rtlCol="0" anchor="ctr"/>
          <a:lstStyle/>
          <a:p>
            <a:pPr marL="0" indent="0">
              <a:buNone/>
            </a:pPr>
            <a:r>
              <a:rPr lang="en-US" sz="1400" dirty="0">
                <a:solidFill>
                  <a:srgbClr val="9FC6DA"/>
                </a:solidFill>
                <a:latin typeface="Calibri" pitchFamily="34" charset="0"/>
                <a:ea typeface="Calibri" pitchFamily="34" charset="-122"/>
                <a:cs typeface="Calibri" pitchFamily="34" charset="-120"/>
              </a:rPr>
              <a:t>Zeit</a:t>
            </a:r>
            <a:endParaRPr lang="en-US" sz="1400" dirty="0"/>
          </a:p>
        </p:txBody>
      </p:sp>
      <p:sp>
        <p:nvSpPr>
          <p:cNvPr id="6" name="Text 4"/>
          <p:cNvSpPr txBox="1"/>
          <p:nvPr/>
        </p:nvSpPr>
        <p:spPr>
          <a:xfrm>
            <a:off x="868680" y="2999232"/>
            <a:ext cx="237744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5 Minuten</a:t>
            </a:r>
            <a:endParaRPr lang="en-US" sz="1900" dirty="0"/>
          </a:p>
        </p:txBody>
      </p:sp>
      <p:sp>
        <p:nvSpPr>
          <p:cNvPr id="7" name="Text 5"/>
          <p:cNvSpPr txBox="1"/>
          <p:nvPr/>
        </p:nvSpPr>
        <p:spPr>
          <a:xfrm>
            <a:off x="868680" y="3630168"/>
            <a:ext cx="2377440" cy="320040"/>
          </a:xfrm>
          <a:prstGeom prst="rect">
            <a:avLst/>
          </a:prstGeom>
          <a:noFill/>
          <a:ln/>
        </p:spPr>
        <p:txBody>
          <a:bodyPr wrap="square" lIns="0" tIns="0" rIns="0" bIns="0" rtlCol="0" anchor="ctr"/>
          <a:lstStyle/>
          <a:p>
            <a:pPr marL="0" indent="0">
              <a:buNone/>
            </a:pPr>
            <a:r>
              <a:rPr lang="en-US" sz="1400" dirty="0">
                <a:solidFill>
                  <a:srgbClr val="9FC6DA"/>
                </a:solidFill>
                <a:latin typeface="Calibri" pitchFamily="34" charset="0"/>
                <a:ea typeface="Calibri" pitchFamily="34" charset="-122"/>
                <a:cs typeface="Calibri" pitchFamily="34" charset="-120"/>
              </a:rPr>
              <a:t>Sozialform</a:t>
            </a:r>
            <a:endParaRPr lang="en-US" sz="1400" dirty="0"/>
          </a:p>
        </p:txBody>
      </p:sp>
      <p:sp>
        <p:nvSpPr>
          <p:cNvPr id="8" name="Text 6"/>
          <p:cNvSpPr txBox="1"/>
          <p:nvPr/>
        </p:nvSpPr>
        <p:spPr>
          <a:xfrm>
            <a:off x="868680" y="3931920"/>
            <a:ext cx="237744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EA</a:t>
            </a:r>
            <a:endParaRPr lang="en-US" sz="1900" dirty="0"/>
          </a:p>
        </p:txBody>
      </p:sp>
      <p:sp>
        <p:nvSpPr>
          <p:cNvPr id="11" name="Text 9"/>
          <p:cNvSpPr txBox="1"/>
          <p:nvPr/>
        </p:nvSpPr>
        <p:spPr>
          <a:xfrm>
            <a:off x="868680" y="4625211"/>
            <a:ext cx="2377440" cy="320040"/>
          </a:xfrm>
          <a:prstGeom prst="rect">
            <a:avLst/>
          </a:prstGeom>
          <a:noFill/>
          <a:ln/>
        </p:spPr>
        <p:txBody>
          <a:bodyPr wrap="square" lIns="0" tIns="0" rIns="0" bIns="0" rtlCol="0" anchor="ctr"/>
          <a:lstStyle/>
          <a:p>
            <a:pPr marL="0" indent="0">
              <a:buNone/>
            </a:pPr>
            <a:r>
              <a:rPr lang="en-US" sz="1400" dirty="0">
                <a:solidFill>
                  <a:srgbClr val="9FC6DA"/>
                </a:solidFill>
                <a:latin typeface="Calibri" pitchFamily="34" charset="0"/>
                <a:ea typeface="Calibri" pitchFamily="34" charset="-122"/>
                <a:cs typeface="Calibri" pitchFamily="34" charset="-120"/>
              </a:rPr>
              <a:t>Arbeitsbuch</a:t>
            </a:r>
            <a:endParaRPr lang="en-US" sz="1400" dirty="0"/>
          </a:p>
        </p:txBody>
      </p:sp>
      <p:sp>
        <p:nvSpPr>
          <p:cNvPr id="12" name="Text 10"/>
          <p:cNvSpPr txBox="1"/>
          <p:nvPr/>
        </p:nvSpPr>
        <p:spPr>
          <a:xfrm>
            <a:off x="868680" y="4926963"/>
            <a:ext cx="237744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Aufgabe 113</a:t>
            </a:r>
            <a:endParaRPr lang="en-US" sz="1900" dirty="0"/>
          </a:p>
        </p:txBody>
      </p:sp>
      <p:sp>
        <p:nvSpPr>
          <p:cNvPr id="13" name="Text 11"/>
          <p:cNvSpPr txBox="1"/>
          <p:nvPr/>
        </p:nvSpPr>
        <p:spPr>
          <a:xfrm>
            <a:off x="3886200" y="685800"/>
            <a:ext cx="7708392" cy="1005840"/>
          </a:xfrm>
          <a:prstGeom prst="rect">
            <a:avLst/>
          </a:prstGeom>
          <a:noFill/>
          <a:ln/>
        </p:spPr>
        <p:txBody>
          <a:bodyPr wrap="square" lIns="0" tIns="0" rIns="0" bIns="0" rtlCol="0" anchor="t"/>
          <a:lstStyle/>
          <a:p>
            <a:pPr marL="0" indent="0">
              <a:buNone/>
            </a:pPr>
            <a:r>
              <a:rPr lang="en-US" sz="3000" b="1" dirty="0">
                <a:solidFill>
                  <a:srgbClr val="065A82"/>
                </a:solidFill>
                <a:latin typeface="Calibri" pitchFamily="34" charset="0"/>
                <a:ea typeface="Calibri" pitchFamily="34" charset="-122"/>
                <a:cs typeface="Calibri" pitchFamily="34" charset="-120"/>
              </a:rPr>
              <a:t>Richtig oder falsch?</a:t>
            </a:r>
            <a:endParaRPr lang="en-US" sz="3000" dirty="0"/>
          </a:p>
        </p:txBody>
      </p:sp>
      <p:sp>
        <p:nvSpPr>
          <p:cNvPr id="14" name="Text 12"/>
          <p:cNvSpPr txBox="1"/>
          <p:nvPr/>
        </p:nvSpPr>
        <p:spPr>
          <a:xfrm>
            <a:off x="3886200" y="1691640"/>
            <a:ext cx="7708392" cy="448056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000" dirty="0">
                <a:solidFill>
                  <a:srgbClr val="1F2933"/>
                </a:solidFill>
                <a:latin typeface="Calibri" pitchFamily="34" charset="0"/>
                <a:ea typeface="Calibri" pitchFamily="34" charset="-122"/>
                <a:cs typeface="Calibri" pitchFamily="34" charset="-120"/>
              </a:rPr>
              <a:t>Lest </a:t>
            </a:r>
            <a:r>
              <a:rPr lang="en-US" sz="2000" dirty="0" err="1">
                <a:solidFill>
                  <a:srgbClr val="1F2933"/>
                </a:solidFill>
                <a:latin typeface="Calibri" pitchFamily="34" charset="0"/>
                <a:ea typeface="Calibri" pitchFamily="34" charset="-122"/>
                <a:cs typeface="Calibri" pitchFamily="34" charset="-120"/>
              </a:rPr>
              <a:t>eine</a:t>
            </a:r>
            <a:r>
              <a:rPr lang="en-US" sz="2000" dirty="0">
                <a:solidFill>
                  <a:srgbClr val="1F2933"/>
                </a:solidFill>
                <a:latin typeface="Calibri" pitchFamily="34" charset="0"/>
                <a:ea typeface="Calibri" pitchFamily="34" charset="-122"/>
                <a:cs typeface="Calibri" pitchFamily="34" charset="-120"/>
              </a:rPr>
              <a:t> </a:t>
            </a:r>
            <a:r>
              <a:rPr lang="en-US" sz="2000" dirty="0" err="1">
                <a:solidFill>
                  <a:srgbClr val="1F2933"/>
                </a:solidFill>
                <a:latin typeface="Calibri" pitchFamily="34" charset="0"/>
                <a:ea typeface="Calibri" pitchFamily="34" charset="-122"/>
                <a:cs typeface="Calibri" pitchFamily="34" charset="-120"/>
              </a:rPr>
              <a:t>Aussage</a:t>
            </a:r>
            <a:r>
              <a:rPr lang="en-US" sz="2000" dirty="0">
                <a:solidFill>
                  <a:srgbClr val="1F2933"/>
                </a:solidFill>
                <a:latin typeface="Calibri" pitchFamily="34" charset="0"/>
                <a:ea typeface="Calibri" pitchFamily="34" charset="-122"/>
                <a:cs typeface="Calibri" pitchFamily="34" charset="-120"/>
              </a:rPr>
              <a:t> </a:t>
            </a:r>
            <a:r>
              <a:rPr lang="en-US" sz="2000" dirty="0" err="1">
                <a:solidFill>
                  <a:srgbClr val="1F2933"/>
                </a:solidFill>
                <a:latin typeface="Calibri" pitchFamily="34" charset="0"/>
                <a:ea typeface="Calibri" pitchFamily="34" charset="-122"/>
                <a:cs typeface="Calibri" pitchFamily="34" charset="-120"/>
              </a:rPr>
              <a:t>durch</a:t>
            </a:r>
            <a:r>
              <a:rPr lang="en-US" sz="2000" dirty="0">
                <a:solidFill>
                  <a:srgbClr val="1F2933"/>
                </a:solidFill>
                <a:latin typeface="Calibri" pitchFamily="34" charset="0"/>
                <a:ea typeface="Calibri" pitchFamily="34" charset="-122"/>
                <a:cs typeface="Calibri" pitchFamily="34" charset="-120"/>
              </a:rPr>
              <a:t>.</a:t>
            </a:r>
            <a:endParaRPr lang="en-US" sz="2000" dirty="0"/>
          </a:p>
          <a:p>
            <a:pPr marL="342900" indent="-342900">
              <a:spcAft>
                <a:spcPts val="1200"/>
              </a:spcAft>
              <a:buSzPct val="100000"/>
              <a:buFont typeface="+mj-lt"/>
              <a:buAutoNum type="arabicPeriod"/>
            </a:pPr>
            <a:r>
              <a:rPr lang="en-US" sz="2000" dirty="0">
                <a:solidFill>
                  <a:srgbClr val="1F2933"/>
                </a:solidFill>
                <a:latin typeface="Calibri" pitchFamily="34" charset="0"/>
                <a:ea typeface="Calibri" pitchFamily="34" charset="-122"/>
                <a:cs typeface="Calibri" pitchFamily="34" charset="-120"/>
              </a:rPr>
              <a:t>Ihr kreuzt richtig oder falsch an.</a:t>
            </a:r>
            <a:endParaRPr lang="en-US" sz="2000" dirty="0"/>
          </a:p>
          <a:p>
            <a:pPr marL="342900" indent="-342900">
              <a:spcAft>
                <a:spcPts val="1200"/>
              </a:spcAft>
              <a:buSzPct val="100000"/>
              <a:buFont typeface="+mj-lt"/>
              <a:buAutoNum type="arabicPeriod"/>
            </a:pPr>
            <a:r>
              <a:rPr lang="en-US" sz="2000" dirty="0">
                <a:solidFill>
                  <a:srgbClr val="1F2933"/>
                </a:solidFill>
                <a:latin typeface="Calibri" pitchFamily="34" charset="0"/>
                <a:ea typeface="Calibri" pitchFamily="34" charset="-122"/>
                <a:cs typeface="Calibri" pitchFamily="34" charset="-120"/>
              </a:rPr>
              <a:t>Wir </a:t>
            </a:r>
            <a:r>
              <a:rPr lang="en-US" sz="2000" dirty="0" err="1">
                <a:solidFill>
                  <a:srgbClr val="1F2933"/>
                </a:solidFill>
                <a:latin typeface="Calibri" pitchFamily="34" charset="0"/>
                <a:ea typeface="Calibri" pitchFamily="34" charset="-122"/>
                <a:cs typeface="Calibri" pitchFamily="34" charset="-120"/>
              </a:rPr>
              <a:t>lösen</a:t>
            </a:r>
            <a:r>
              <a:rPr lang="en-US" sz="2000" dirty="0">
                <a:solidFill>
                  <a:srgbClr val="1F2933"/>
                </a:solidFill>
                <a:latin typeface="Calibri" pitchFamily="34" charset="0"/>
                <a:ea typeface="Calibri" pitchFamily="34" charset="-122"/>
                <a:cs typeface="Calibri" pitchFamily="34" charset="-120"/>
              </a:rPr>
              <a:t> </a:t>
            </a:r>
            <a:r>
              <a:rPr lang="en-US" sz="2000" dirty="0" err="1">
                <a:solidFill>
                  <a:srgbClr val="1F2933"/>
                </a:solidFill>
                <a:latin typeface="Calibri" pitchFamily="34" charset="0"/>
                <a:ea typeface="Calibri" pitchFamily="34" charset="-122"/>
                <a:cs typeface="Calibri" pitchFamily="34" charset="-120"/>
              </a:rPr>
              <a:t>anschliessend</a:t>
            </a:r>
            <a:r>
              <a:rPr lang="en-US" sz="2000" dirty="0">
                <a:solidFill>
                  <a:srgbClr val="1F2933"/>
                </a:solidFill>
                <a:latin typeface="Calibri" pitchFamily="34" charset="0"/>
                <a:ea typeface="Calibri" pitchFamily="34" charset="-122"/>
                <a:cs typeface="Calibri" pitchFamily="34" charset="-120"/>
              </a:rPr>
              <a:t> </a:t>
            </a:r>
            <a:r>
              <a:rPr lang="en-US" sz="2000" dirty="0" err="1">
                <a:solidFill>
                  <a:srgbClr val="1F2933"/>
                </a:solidFill>
                <a:latin typeface="Calibri" pitchFamily="34" charset="0"/>
                <a:ea typeface="Calibri" pitchFamily="34" charset="-122"/>
                <a:cs typeface="Calibri" pitchFamily="34" charset="-120"/>
              </a:rPr>
              <a:t>im</a:t>
            </a:r>
            <a:r>
              <a:rPr lang="en-US" sz="2000" dirty="0">
                <a:solidFill>
                  <a:srgbClr val="1F2933"/>
                </a:solidFill>
                <a:latin typeface="Calibri" pitchFamily="34" charset="0"/>
                <a:ea typeface="Calibri" pitchFamily="34" charset="-122"/>
                <a:cs typeface="Calibri" pitchFamily="34" charset="-120"/>
              </a:rPr>
              <a:t> Plenum auf.</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1091672" cy="82296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Lösung Aufgabe 113 (1 von 2)</a:t>
            </a:r>
            <a:endParaRPr lang="en-US" sz="3200" dirty="0"/>
          </a:p>
        </p:txBody>
      </p:sp>
      <p:sp>
        <p:nvSpPr>
          <p:cNvPr id="3" name="Text 1"/>
          <p:cNvSpPr txBox="1"/>
          <p:nvPr/>
        </p:nvSpPr>
        <p:spPr>
          <a:xfrm>
            <a:off x="731520" y="1463040"/>
            <a:ext cx="10543032" cy="3840480"/>
          </a:xfrm>
          <a:prstGeom prst="rect">
            <a:avLst/>
          </a:prstGeom>
          <a:noFill/>
          <a:ln/>
        </p:spPr>
        <p:txBody>
          <a:bodyPr wrap="square" lIns="0" tIns="0" rIns="0" bIns="0" rtlCol="0" anchor="t"/>
          <a:lstStyle/>
          <a:p>
            <a:pPr>
              <a:spcAft>
                <a:spcPts val="200"/>
              </a:spcAft>
            </a:pPr>
            <a:r>
              <a:rPr sz="1700" b="1" dirty="0">
                <a:solidFill>
                  <a:srgbClr val="C63D1E"/>
                </a:solidFill>
                <a:latin typeface="Calibri"/>
              </a:rPr>
              <a:t>1. </a:t>
            </a:r>
            <a:r>
              <a:rPr sz="1700" b="1" dirty="0" err="1">
                <a:solidFill>
                  <a:srgbClr val="C63D1E"/>
                </a:solidFill>
                <a:latin typeface="Calibri"/>
              </a:rPr>
              <a:t>Falsch</a:t>
            </a:r>
            <a:r>
              <a:rPr sz="1700" b="1" dirty="0">
                <a:solidFill>
                  <a:srgbClr val="C63D1E"/>
                </a:solidFill>
                <a:latin typeface="Calibri"/>
              </a:rPr>
              <a:t>: </a:t>
            </a:r>
            <a:r>
              <a:rPr sz="1700" b="1" dirty="0">
                <a:solidFill>
                  <a:srgbClr val="1F2933"/>
                </a:solidFill>
                <a:latin typeface="Calibri"/>
              </a:rPr>
              <a:t>Die Router in </a:t>
            </a:r>
            <a:r>
              <a:rPr sz="1700" b="1" dirty="0" err="1">
                <a:solidFill>
                  <a:srgbClr val="1F2933"/>
                </a:solidFill>
                <a:latin typeface="Calibri"/>
              </a:rPr>
              <a:t>Frankreich</a:t>
            </a:r>
            <a:r>
              <a:rPr sz="1700" b="1" dirty="0">
                <a:solidFill>
                  <a:srgbClr val="1F2933"/>
                </a:solidFill>
                <a:latin typeface="Calibri"/>
              </a:rPr>
              <a:t> </a:t>
            </a:r>
            <a:r>
              <a:rPr sz="1700" b="1" dirty="0" err="1">
                <a:solidFill>
                  <a:srgbClr val="1F2933"/>
                </a:solidFill>
                <a:latin typeface="Calibri"/>
              </a:rPr>
              <a:t>haben</a:t>
            </a:r>
            <a:r>
              <a:rPr sz="1700" b="1" dirty="0">
                <a:solidFill>
                  <a:srgbClr val="1F2933"/>
                </a:solidFill>
                <a:latin typeface="Calibri"/>
              </a:rPr>
              <a:t> </a:t>
            </a:r>
            <a:r>
              <a:rPr sz="1700" b="1" dirty="0" err="1">
                <a:solidFill>
                  <a:srgbClr val="1F2933"/>
                </a:solidFill>
                <a:latin typeface="Calibri"/>
              </a:rPr>
              <a:t>Mittagspause</a:t>
            </a:r>
            <a:r>
              <a:rPr sz="1700" b="1" dirty="0">
                <a:solidFill>
                  <a:srgbClr val="1F2933"/>
                </a:solidFill>
                <a:latin typeface="Calibri"/>
              </a:rPr>
              <a:t>.</a:t>
            </a:r>
          </a:p>
          <a:p>
            <a:pPr>
              <a:spcAft>
                <a:spcPts val="1000"/>
              </a:spcAft>
            </a:pPr>
            <a:r>
              <a:rPr sz="1500" dirty="0">
                <a:solidFill>
                  <a:srgbClr val="1F2933"/>
                </a:solidFill>
                <a:latin typeface="Calibri"/>
              </a:rPr>
              <a:t>Router </a:t>
            </a:r>
            <a:r>
              <a:rPr sz="1500" dirty="0" err="1">
                <a:solidFill>
                  <a:srgbClr val="1F2933"/>
                </a:solidFill>
                <a:latin typeface="Calibri"/>
              </a:rPr>
              <a:t>arbeiten</a:t>
            </a:r>
            <a:r>
              <a:rPr sz="1500" dirty="0">
                <a:solidFill>
                  <a:srgbClr val="1F2933"/>
                </a:solidFill>
                <a:latin typeface="Calibri"/>
              </a:rPr>
              <a:t> </a:t>
            </a:r>
            <a:r>
              <a:rPr sz="1500" dirty="0" err="1">
                <a:solidFill>
                  <a:srgbClr val="1F2933"/>
                </a:solidFill>
                <a:latin typeface="Calibri"/>
              </a:rPr>
              <a:t>rund</a:t>
            </a:r>
            <a:r>
              <a:rPr sz="1500" dirty="0">
                <a:solidFill>
                  <a:srgbClr val="1F2933"/>
                </a:solidFill>
                <a:latin typeface="Calibri"/>
              </a:rPr>
              <a:t> um die Uhr. Sie </a:t>
            </a:r>
            <a:r>
              <a:rPr sz="1500" dirty="0" err="1">
                <a:solidFill>
                  <a:srgbClr val="1F2933"/>
                </a:solidFill>
                <a:latin typeface="Calibri"/>
              </a:rPr>
              <a:t>werden</a:t>
            </a:r>
            <a:r>
              <a:rPr sz="1500" dirty="0">
                <a:solidFill>
                  <a:srgbClr val="1F2933"/>
                </a:solidFill>
                <a:latin typeface="Calibri"/>
              </a:rPr>
              <a:t> </a:t>
            </a:r>
            <a:r>
              <a:rPr sz="1500" dirty="0" err="1">
                <a:solidFill>
                  <a:srgbClr val="1F2933"/>
                </a:solidFill>
                <a:latin typeface="Calibri"/>
              </a:rPr>
              <a:t>nur</a:t>
            </a:r>
            <a:r>
              <a:rPr sz="1500" dirty="0">
                <a:solidFill>
                  <a:srgbClr val="1F2933"/>
                </a:solidFill>
                <a:latin typeface="Calibri"/>
              </a:rPr>
              <a:t> </a:t>
            </a:r>
            <a:r>
              <a:rPr sz="1500" dirty="0" err="1">
                <a:solidFill>
                  <a:srgbClr val="1F2933"/>
                </a:solidFill>
                <a:latin typeface="Calibri"/>
              </a:rPr>
              <a:t>selten</a:t>
            </a:r>
            <a:r>
              <a:rPr sz="1500" dirty="0">
                <a:solidFill>
                  <a:srgbClr val="1F2933"/>
                </a:solidFill>
                <a:latin typeface="Calibri"/>
              </a:rPr>
              <a:t> </a:t>
            </a:r>
            <a:r>
              <a:rPr sz="1500" dirty="0" err="1">
                <a:solidFill>
                  <a:srgbClr val="1F2933"/>
                </a:solidFill>
                <a:latin typeface="Calibri"/>
              </a:rPr>
              <a:t>vom</a:t>
            </a:r>
            <a:r>
              <a:rPr sz="1500" dirty="0">
                <a:solidFill>
                  <a:srgbClr val="1F2933"/>
                </a:solidFill>
                <a:latin typeface="Calibri"/>
              </a:rPr>
              <a:t> Netz </a:t>
            </a:r>
            <a:r>
              <a:rPr sz="1500" dirty="0" err="1">
                <a:solidFill>
                  <a:srgbClr val="1F2933"/>
                </a:solidFill>
                <a:latin typeface="Calibri"/>
              </a:rPr>
              <a:t>genommen</a:t>
            </a:r>
            <a:r>
              <a:rPr sz="1500" dirty="0">
                <a:solidFill>
                  <a:srgbClr val="1F2933"/>
                </a:solidFill>
                <a:latin typeface="Calibri"/>
              </a:rPr>
              <a:t>, </a:t>
            </a:r>
            <a:r>
              <a:rPr sz="1500" dirty="0" err="1">
                <a:solidFill>
                  <a:srgbClr val="1F2933"/>
                </a:solidFill>
                <a:latin typeface="Calibri"/>
              </a:rPr>
              <a:t>zum</a:t>
            </a:r>
            <a:r>
              <a:rPr sz="1500" dirty="0">
                <a:solidFill>
                  <a:srgbClr val="1F2933"/>
                </a:solidFill>
                <a:latin typeface="Calibri"/>
              </a:rPr>
              <a:t> </a:t>
            </a:r>
            <a:r>
              <a:rPr sz="1500" dirty="0" err="1">
                <a:solidFill>
                  <a:srgbClr val="1F2933"/>
                </a:solidFill>
                <a:latin typeface="Calibri"/>
              </a:rPr>
              <a:t>Beispiel</a:t>
            </a:r>
            <a:r>
              <a:rPr sz="1500" dirty="0">
                <a:solidFill>
                  <a:srgbClr val="1F2933"/>
                </a:solidFill>
                <a:latin typeface="Calibri"/>
              </a:rPr>
              <a:t> für </a:t>
            </a:r>
            <a:r>
              <a:rPr sz="1500" dirty="0" err="1">
                <a:solidFill>
                  <a:srgbClr val="1F2933"/>
                </a:solidFill>
                <a:latin typeface="Calibri"/>
              </a:rPr>
              <a:t>eine</a:t>
            </a:r>
            <a:r>
              <a:rPr sz="1500" dirty="0">
                <a:solidFill>
                  <a:srgbClr val="1F2933"/>
                </a:solidFill>
                <a:latin typeface="Calibri"/>
              </a:rPr>
              <a:t> </a:t>
            </a:r>
            <a:r>
              <a:rPr sz="1500" dirty="0" err="1">
                <a:solidFill>
                  <a:srgbClr val="1F2933"/>
                </a:solidFill>
                <a:latin typeface="Calibri"/>
              </a:rPr>
              <a:t>Wartung</a:t>
            </a:r>
            <a:r>
              <a:rPr sz="1500" dirty="0">
                <a:solidFill>
                  <a:srgbClr val="1F2933"/>
                </a:solidFill>
                <a:latin typeface="Calibri"/>
              </a:rPr>
              <a:t>. Dass alle Router </a:t>
            </a:r>
            <a:r>
              <a:rPr sz="1500" dirty="0" err="1">
                <a:solidFill>
                  <a:srgbClr val="1F2933"/>
                </a:solidFill>
                <a:latin typeface="Calibri"/>
              </a:rPr>
              <a:t>eines</a:t>
            </a:r>
            <a:r>
              <a:rPr sz="1500" dirty="0">
                <a:solidFill>
                  <a:srgbClr val="1F2933"/>
                </a:solidFill>
                <a:latin typeface="Calibri"/>
              </a:rPr>
              <a:t> Landes </a:t>
            </a:r>
            <a:r>
              <a:rPr sz="1500" dirty="0" err="1">
                <a:solidFill>
                  <a:srgbClr val="1F2933"/>
                </a:solidFill>
                <a:latin typeface="Calibri"/>
              </a:rPr>
              <a:t>gleichzeitig</a:t>
            </a:r>
            <a:r>
              <a:rPr sz="1500" dirty="0">
                <a:solidFill>
                  <a:srgbClr val="1F2933"/>
                </a:solidFill>
                <a:latin typeface="Calibri"/>
              </a:rPr>
              <a:t> </a:t>
            </a:r>
            <a:r>
              <a:rPr sz="1500" dirty="0" err="1">
                <a:solidFill>
                  <a:srgbClr val="1F2933"/>
                </a:solidFill>
                <a:latin typeface="Calibri"/>
              </a:rPr>
              <a:t>abgeschaltet</a:t>
            </a:r>
            <a:r>
              <a:rPr sz="1500" dirty="0">
                <a:solidFill>
                  <a:srgbClr val="1F2933"/>
                </a:solidFill>
                <a:latin typeface="Calibri"/>
              </a:rPr>
              <a:t> </a:t>
            </a:r>
            <a:r>
              <a:rPr sz="1500" dirty="0" err="1">
                <a:solidFill>
                  <a:srgbClr val="1F2933"/>
                </a:solidFill>
                <a:latin typeface="Calibri"/>
              </a:rPr>
              <a:t>werden</a:t>
            </a:r>
            <a:r>
              <a:rPr sz="1500" dirty="0">
                <a:solidFill>
                  <a:srgbClr val="1F2933"/>
                </a:solidFill>
                <a:latin typeface="Calibri"/>
              </a:rPr>
              <a:t>, </a:t>
            </a:r>
            <a:r>
              <a:rPr sz="1500" dirty="0" err="1">
                <a:solidFill>
                  <a:srgbClr val="1F2933"/>
                </a:solidFill>
                <a:latin typeface="Calibri"/>
              </a:rPr>
              <a:t>kommt</a:t>
            </a:r>
            <a:r>
              <a:rPr sz="1500" dirty="0">
                <a:solidFill>
                  <a:srgbClr val="1F2933"/>
                </a:solidFill>
                <a:latin typeface="Calibri"/>
              </a:rPr>
              <a:t> </a:t>
            </a:r>
            <a:r>
              <a:rPr sz="1500" dirty="0" err="1">
                <a:solidFill>
                  <a:srgbClr val="1F2933"/>
                </a:solidFill>
                <a:latin typeface="Calibri"/>
              </a:rPr>
              <a:t>nie</a:t>
            </a:r>
            <a:r>
              <a:rPr sz="1500" dirty="0">
                <a:solidFill>
                  <a:srgbClr val="1F2933"/>
                </a:solidFill>
                <a:latin typeface="Calibri"/>
              </a:rPr>
              <a:t> </a:t>
            </a:r>
            <a:r>
              <a:rPr sz="1500" dirty="0" err="1">
                <a:solidFill>
                  <a:srgbClr val="1F2933"/>
                </a:solidFill>
                <a:latin typeface="Calibri"/>
              </a:rPr>
              <a:t>vor</a:t>
            </a:r>
            <a:r>
              <a:rPr sz="1500" dirty="0">
                <a:solidFill>
                  <a:srgbClr val="1F2933"/>
                </a:solidFill>
                <a:latin typeface="Calibri"/>
              </a:rPr>
              <a:t>.</a:t>
            </a:r>
          </a:p>
          <a:p>
            <a:pPr>
              <a:spcAft>
                <a:spcPts val="200"/>
              </a:spcAft>
            </a:pPr>
            <a:r>
              <a:rPr sz="1700" b="1" dirty="0">
                <a:solidFill>
                  <a:srgbClr val="2E7D32"/>
                </a:solidFill>
                <a:latin typeface="Calibri"/>
              </a:rPr>
              <a:t>2. </a:t>
            </a:r>
            <a:r>
              <a:rPr sz="1700" b="1" dirty="0" err="1">
                <a:solidFill>
                  <a:srgbClr val="2E7D32"/>
                </a:solidFill>
                <a:latin typeface="Calibri"/>
              </a:rPr>
              <a:t>Richtig</a:t>
            </a:r>
            <a:r>
              <a:rPr sz="1700" b="1" dirty="0">
                <a:solidFill>
                  <a:srgbClr val="2E7D32"/>
                </a:solidFill>
                <a:latin typeface="Calibri"/>
              </a:rPr>
              <a:t>: </a:t>
            </a:r>
            <a:r>
              <a:rPr sz="1700" b="1" dirty="0">
                <a:solidFill>
                  <a:srgbClr val="1F2933"/>
                </a:solidFill>
                <a:latin typeface="Calibri"/>
              </a:rPr>
              <a:t>Zu </a:t>
            </a:r>
            <a:r>
              <a:rPr sz="1700" b="1" dirty="0" err="1">
                <a:solidFill>
                  <a:srgbClr val="1F2933"/>
                </a:solidFill>
                <a:latin typeface="Calibri"/>
              </a:rPr>
              <a:t>viele</a:t>
            </a:r>
            <a:r>
              <a:rPr sz="1700" b="1" dirty="0">
                <a:solidFill>
                  <a:srgbClr val="1F2933"/>
                </a:solidFill>
                <a:latin typeface="Calibri"/>
              </a:rPr>
              <a:t> </a:t>
            </a:r>
            <a:r>
              <a:rPr sz="1700" b="1" dirty="0" err="1">
                <a:solidFill>
                  <a:srgbClr val="1F2933"/>
                </a:solidFill>
                <a:latin typeface="Calibri"/>
              </a:rPr>
              <a:t>Gäste</a:t>
            </a:r>
            <a:r>
              <a:rPr sz="1700" b="1" dirty="0">
                <a:solidFill>
                  <a:srgbClr val="1F2933"/>
                </a:solidFill>
                <a:latin typeface="Calibri"/>
              </a:rPr>
              <a:t> </a:t>
            </a:r>
            <a:r>
              <a:rPr sz="1700" b="1" dirty="0" err="1">
                <a:solidFill>
                  <a:srgbClr val="1F2933"/>
                </a:solidFill>
                <a:latin typeface="Calibri"/>
              </a:rPr>
              <a:t>sind</a:t>
            </a:r>
            <a:r>
              <a:rPr sz="1700" b="1" dirty="0">
                <a:solidFill>
                  <a:srgbClr val="1F2933"/>
                </a:solidFill>
                <a:latin typeface="Calibri"/>
              </a:rPr>
              <a:t> </a:t>
            </a:r>
            <a:r>
              <a:rPr sz="1700" b="1" dirty="0" err="1">
                <a:solidFill>
                  <a:srgbClr val="1F2933"/>
                </a:solidFill>
                <a:latin typeface="Calibri"/>
              </a:rPr>
              <a:t>gleichzeitig</a:t>
            </a:r>
            <a:r>
              <a:rPr sz="1700" b="1" dirty="0">
                <a:solidFill>
                  <a:srgbClr val="1F2933"/>
                </a:solidFill>
                <a:latin typeface="Calibri"/>
              </a:rPr>
              <a:t> </a:t>
            </a:r>
            <a:r>
              <a:rPr sz="1700" b="1" dirty="0" err="1">
                <a:solidFill>
                  <a:srgbClr val="1F2933"/>
                </a:solidFill>
                <a:latin typeface="Calibri"/>
              </a:rPr>
              <a:t>im</a:t>
            </a:r>
            <a:r>
              <a:rPr sz="1700" b="1" dirty="0">
                <a:solidFill>
                  <a:srgbClr val="1F2933"/>
                </a:solidFill>
                <a:latin typeface="Calibri"/>
              </a:rPr>
              <a:t> WLAN der </a:t>
            </a:r>
            <a:r>
              <a:rPr sz="1700" b="1" dirty="0" err="1">
                <a:solidFill>
                  <a:srgbClr val="1F2933"/>
                </a:solidFill>
                <a:latin typeface="Calibri"/>
              </a:rPr>
              <a:t>Ferienanlage</a:t>
            </a:r>
            <a:r>
              <a:rPr sz="1700" b="1" dirty="0">
                <a:solidFill>
                  <a:srgbClr val="1F2933"/>
                </a:solidFill>
                <a:latin typeface="Calibri"/>
              </a:rPr>
              <a:t>.</a:t>
            </a:r>
          </a:p>
          <a:p>
            <a:pPr>
              <a:spcAft>
                <a:spcPts val="1000"/>
              </a:spcAft>
            </a:pPr>
            <a:r>
              <a:rPr sz="1500" dirty="0">
                <a:solidFill>
                  <a:srgbClr val="1F2933"/>
                </a:solidFill>
                <a:latin typeface="Calibri"/>
              </a:rPr>
              <a:t>Der Anschluss der </a:t>
            </a:r>
            <a:r>
              <a:rPr sz="1500" dirty="0" err="1">
                <a:solidFill>
                  <a:srgbClr val="1F2933"/>
                </a:solidFill>
                <a:latin typeface="Calibri"/>
              </a:rPr>
              <a:t>Ferienanlage</a:t>
            </a:r>
            <a:r>
              <a:rPr sz="1500" dirty="0">
                <a:solidFill>
                  <a:srgbClr val="1F2933"/>
                </a:solidFill>
                <a:latin typeface="Calibri"/>
              </a:rPr>
              <a:t> </a:t>
            </a:r>
            <a:r>
              <a:rPr sz="1500" dirty="0" err="1">
                <a:solidFill>
                  <a:srgbClr val="1F2933"/>
                </a:solidFill>
                <a:latin typeface="Calibri"/>
              </a:rPr>
              <a:t>zum</a:t>
            </a:r>
            <a:r>
              <a:rPr sz="1500" dirty="0">
                <a:solidFill>
                  <a:srgbClr val="1F2933"/>
                </a:solidFill>
                <a:latin typeface="Calibri"/>
              </a:rPr>
              <a:t> </a:t>
            </a:r>
            <a:r>
              <a:rPr sz="1500" dirty="0" err="1">
                <a:solidFill>
                  <a:srgbClr val="1F2933"/>
                </a:solidFill>
                <a:latin typeface="Calibri"/>
              </a:rPr>
              <a:t>nächsten</a:t>
            </a:r>
            <a:r>
              <a:rPr sz="1500" dirty="0">
                <a:solidFill>
                  <a:srgbClr val="1F2933"/>
                </a:solidFill>
                <a:latin typeface="Calibri"/>
              </a:rPr>
              <a:t> Router </a:t>
            </a:r>
            <a:r>
              <a:rPr sz="1500" dirty="0" err="1">
                <a:solidFill>
                  <a:srgbClr val="1F2933"/>
                </a:solidFill>
                <a:latin typeface="Calibri"/>
              </a:rPr>
              <a:t>ist</a:t>
            </a:r>
            <a:r>
              <a:rPr sz="1500" dirty="0">
                <a:solidFill>
                  <a:srgbClr val="1F2933"/>
                </a:solidFill>
                <a:latin typeface="Calibri"/>
              </a:rPr>
              <a:t> </a:t>
            </a:r>
            <a:r>
              <a:rPr sz="1500" dirty="0" err="1">
                <a:solidFill>
                  <a:srgbClr val="1F2933"/>
                </a:solidFill>
                <a:latin typeface="Calibri"/>
              </a:rPr>
              <a:t>eine</a:t>
            </a:r>
            <a:r>
              <a:rPr sz="1500" dirty="0">
                <a:solidFill>
                  <a:srgbClr val="1F2933"/>
                </a:solidFill>
                <a:latin typeface="Calibri"/>
              </a:rPr>
              <a:t> </a:t>
            </a:r>
            <a:r>
              <a:rPr sz="1500" dirty="0" err="1">
                <a:solidFill>
                  <a:srgbClr val="1F2933"/>
                </a:solidFill>
                <a:latin typeface="Calibri"/>
              </a:rPr>
              <a:t>Engstelle</a:t>
            </a:r>
            <a:r>
              <a:rPr sz="1500" dirty="0">
                <a:solidFill>
                  <a:srgbClr val="1F2933"/>
                </a:solidFill>
                <a:latin typeface="Calibri"/>
              </a:rPr>
              <a:t>, </a:t>
            </a:r>
            <a:r>
              <a:rPr sz="1500" dirty="0" err="1">
                <a:solidFill>
                  <a:srgbClr val="1F2933"/>
                </a:solidFill>
                <a:latin typeface="Calibri"/>
              </a:rPr>
              <a:t>vor</a:t>
            </a:r>
            <a:r>
              <a:rPr sz="1500" dirty="0">
                <a:solidFill>
                  <a:srgbClr val="1F2933"/>
                </a:solidFill>
                <a:latin typeface="Calibri"/>
              </a:rPr>
              <a:t> </a:t>
            </a:r>
            <a:r>
              <a:rPr sz="1500" dirty="0" err="1">
                <a:solidFill>
                  <a:srgbClr val="1F2933"/>
                </a:solidFill>
                <a:latin typeface="Calibri"/>
              </a:rPr>
              <a:t>allem</a:t>
            </a:r>
            <a:r>
              <a:rPr sz="1500" dirty="0">
                <a:solidFill>
                  <a:srgbClr val="1F2933"/>
                </a:solidFill>
                <a:latin typeface="Calibri"/>
              </a:rPr>
              <a:t> </a:t>
            </a:r>
            <a:r>
              <a:rPr sz="1500" dirty="0" err="1">
                <a:solidFill>
                  <a:srgbClr val="1F2933"/>
                </a:solidFill>
                <a:latin typeface="Calibri"/>
              </a:rPr>
              <a:t>mit</a:t>
            </a:r>
            <a:r>
              <a:rPr sz="1500" dirty="0">
                <a:solidFill>
                  <a:srgbClr val="1F2933"/>
                </a:solidFill>
                <a:latin typeface="Calibri"/>
              </a:rPr>
              <a:t> </a:t>
            </a:r>
            <a:r>
              <a:rPr sz="1500" dirty="0" err="1">
                <a:solidFill>
                  <a:srgbClr val="1F2933"/>
                </a:solidFill>
                <a:latin typeface="Calibri"/>
              </a:rPr>
              <a:t>alten</a:t>
            </a:r>
            <a:r>
              <a:rPr sz="1500" dirty="0">
                <a:solidFill>
                  <a:srgbClr val="1F2933"/>
                </a:solidFill>
                <a:latin typeface="Calibri"/>
              </a:rPr>
              <a:t> </a:t>
            </a:r>
            <a:r>
              <a:rPr sz="1500" dirty="0" err="1">
                <a:solidFill>
                  <a:srgbClr val="1F2933"/>
                </a:solidFill>
                <a:latin typeface="Calibri"/>
              </a:rPr>
              <a:t>Kupferleitungen</a:t>
            </a:r>
            <a:r>
              <a:rPr sz="1500" dirty="0">
                <a:solidFill>
                  <a:srgbClr val="1F2933"/>
                </a:solidFill>
                <a:latin typeface="Calibri"/>
              </a:rPr>
              <a:t>. Je </a:t>
            </a:r>
            <a:r>
              <a:rPr sz="1500" dirty="0" err="1">
                <a:solidFill>
                  <a:srgbClr val="1F2933"/>
                </a:solidFill>
                <a:latin typeface="Calibri"/>
              </a:rPr>
              <a:t>mehr</a:t>
            </a:r>
            <a:r>
              <a:rPr sz="1500" dirty="0">
                <a:solidFill>
                  <a:srgbClr val="1F2933"/>
                </a:solidFill>
                <a:latin typeface="Calibri"/>
              </a:rPr>
              <a:t> </a:t>
            </a:r>
            <a:r>
              <a:rPr sz="1500" dirty="0" err="1">
                <a:solidFill>
                  <a:srgbClr val="1F2933"/>
                </a:solidFill>
                <a:latin typeface="Calibri"/>
              </a:rPr>
              <a:t>Gäste</a:t>
            </a:r>
            <a:r>
              <a:rPr sz="1500" dirty="0">
                <a:solidFill>
                  <a:srgbClr val="1F2933"/>
                </a:solidFill>
                <a:latin typeface="Calibri"/>
              </a:rPr>
              <a:t> online </a:t>
            </a:r>
            <a:r>
              <a:rPr sz="1500" dirty="0" err="1">
                <a:solidFill>
                  <a:srgbClr val="1F2933"/>
                </a:solidFill>
                <a:latin typeface="Calibri"/>
              </a:rPr>
              <a:t>sind</a:t>
            </a:r>
            <a:r>
              <a:rPr sz="1500" dirty="0">
                <a:solidFill>
                  <a:srgbClr val="1F2933"/>
                </a:solidFill>
                <a:latin typeface="Calibri"/>
              </a:rPr>
              <a:t>, </a:t>
            </a:r>
            <a:r>
              <a:rPr sz="1500" dirty="0" err="1">
                <a:solidFill>
                  <a:srgbClr val="1F2933"/>
                </a:solidFill>
                <a:latin typeface="Calibri"/>
              </a:rPr>
              <a:t>desto</a:t>
            </a:r>
            <a:r>
              <a:rPr sz="1500" dirty="0">
                <a:solidFill>
                  <a:srgbClr val="1F2933"/>
                </a:solidFill>
                <a:latin typeface="Calibri"/>
              </a:rPr>
              <a:t> </a:t>
            </a:r>
            <a:r>
              <a:rPr sz="1500" dirty="0" err="1">
                <a:solidFill>
                  <a:srgbClr val="1F2933"/>
                </a:solidFill>
                <a:latin typeface="Calibri"/>
              </a:rPr>
              <a:t>langsamer</a:t>
            </a:r>
            <a:r>
              <a:rPr sz="1500" dirty="0">
                <a:solidFill>
                  <a:srgbClr val="1F2933"/>
                </a:solidFill>
                <a:latin typeface="Calibri"/>
              </a:rPr>
              <a:t> </a:t>
            </a:r>
            <a:r>
              <a:rPr sz="1500" dirty="0" err="1">
                <a:solidFill>
                  <a:srgbClr val="1F2933"/>
                </a:solidFill>
                <a:latin typeface="Calibri"/>
              </a:rPr>
              <a:t>wird</a:t>
            </a:r>
            <a:r>
              <a:rPr sz="1500" dirty="0">
                <a:solidFill>
                  <a:srgbClr val="1F2933"/>
                </a:solidFill>
                <a:latin typeface="Calibri"/>
              </a:rPr>
              <a:t> es. Auch das WLAN </a:t>
            </a:r>
            <a:r>
              <a:rPr sz="1500" dirty="0" err="1">
                <a:solidFill>
                  <a:srgbClr val="1F2933"/>
                </a:solidFill>
                <a:latin typeface="Calibri"/>
              </a:rPr>
              <a:t>müssen</a:t>
            </a:r>
            <a:r>
              <a:rPr sz="1500" dirty="0">
                <a:solidFill>
                  <a:srgbClr val="1F2933"/>
                </a:solidFill>
                <a:latin typeface="Calibri"/>
              </a:rPr>
              <a:t> </a:t>
            </a:r>
            <a:r>
              <a:rPr sz="1500" dirty="0" err="1">
                <a:solidFill>
                  <a:srgbClr val="1F2933"/>
                </a:solidFill>
                <a:latin typeface="Calibri"/>
              </a:rPr>
              <a:t>sich</a:t>
            </a:r>
            <a:r>
              <a:rPr sz="1500" dirty="0">
                <a:solidFill>
                  <a:srgbClr val="1F2933"/>
                </a:solidFill>
                <a:latin typeface="Calibri"/>
              </a:rPr>
              <a:t> alle </a:t>
            </a:r>
            <a:r>
              <a:rPr sz="1500" dirty="0" err="1">
                <a:solidFill>
                  <a:srgbClr val="1F2933"/>
                </a:solidFill>
                <a:latin typeface="Calibri"/>
              </a:rPr>
              <a:t>teilen</a:t>
            </a:r>
            <a:r>
              <a:rPr sz="1500" dirty="0">
                <a:solidFill>
                  <a:srgbClr val="1F2933"/>
                </a:solidFill>
                <a:latin typeface="Calibri"/>
              </a:rPr>
              <a:t>.</a:t>
            </a:r>
          </a:p>
          <a:p>
            <a:pPr>
              <a:spcAft>
                <a:spcPts val="200"/>
              </a:spcAft>
            </a:pPr>
            <a:r>
              <a:rPr sz="1700" b="1" dirty="0">
                <a:solidFill>
                  <a:srgbClr val="C63D1E"/>
                </a:solidFill>
                <a:latin typeface="Calibri"/>
              </a:rPr>
              <a:t>3. </a:t>
            </a:r>
            <a:r>
              <a:rPr sz="1700" b="1" dirty="0" err="1">
                <a:solidFill>
                  <a:srgbClr val="C63D1E"/>
                </a:solidFill>
                <a:latin typeface="Calibri"/>
              </a:rPr>
              <a:t>Falsch</a:t>
            </a:r>
            <a:r>
              <a:rPr sz="1700" b="1" dirty="0">
                <a:solidFill>
                  <a:srgbClr val="C63D1E"/>
                </a:solidFill>
                <a:latin typeface="Calibri"/>
              </a:rPr>
              <a:t>: </a:t>
            </a:r>
            <a:r>
              <a:rPr sz="1700" b="1" dirty="0">
                <a:solidFill>
                  <a:srgbClr val="1F2933"/>
                </a:solidFill>
                <a:latin typeface="Calibri"/>
              </a:rPr>
              <a:t>Die </a:t>
            </a:r>
            <a:r>
              <a:rPr sz="1700" b="1" dirty="0" err="1">
                <a:solidFill>
                  <a:srgbClr val="1F2933"/>
                </a:solidFill>
                <a:latin typeface="Calibri"/>
              </a:rPr>
              <a:t>Leitungen</a:t>
            </a:r>
            <a:r>
              <a:rPr sz="1700" b="1" dirty="0">
                <a:solidFill>
                  <a:srgbClr val="1F2933"/>
                </a:solidFill>
                <a:latin typeface="Calibri"/>
              </a:rPr>
              <a:t> in die Schweiz </a:t>
            </a:r>
            <a:r>
              <a:rPr sz="1700" b="1" dirty="0" err="1">
                <a:solidFill>
                  <a:srgbClr val="1F2933"/>
                </a:solidFill>
                <a:latin typeface="Calibri"/>
              </a:rPr>
              <a:t>sind</a:t>
            </a:r>
            <a:r>
              <a:rPr sz="1700" b="1" dirty="0">
                <a:solidFill>
                  <a:srgbClr val="1F2933"/>
                </a:solidFill>
                <a:latin typeface="Calibri"/>
              </a:rPr>
              <a:t> </a:t>
            </a:r>
            <a:r>
              <a:rPr sz="1700" b="1" dirty="0" err="1">
                <a:solidFill>
                  <a:srgbClr val="1F2933"/>
                </a:solidFill>
                <a:latin typeface="Calibri"/>
              </a:rPr>
              <a:t>sehr</a:t>
            </a:r>
            <a:r>
              <a:rPr sz="1700" b="1" dirty="0">
                <a:solidFill>
                  <a:srgbClr val="1F2933"/>
                </a:solidFill>
                <a:latin typeface="Calibri"/>
              </a:rPr>
              <a:t> lang.</a:t>
            </a:r>
          </a:p>
          <a:p>
            <a:pPr>
              <a:spcAft>
                <a:spcPts val="1000"/>
              </a:spcAft>
            </a:pPr>
            <a:r>
              <a:rPr sz="1500" dirty="0">
                <a:solidFill>
                  <a:srgbClr val="1F2933"/>
                </a:solidFill>
                <a:latin typeface="Calibri"/>
              </a:rPr>
              <a:t>Die </a:t>
            </a:r>
            <a:r>
              <a:rPr sz="1500" dirty="0" err="1">
                <a:solidFill>
                  <a:srgbClr val="1F2933"/>
                </a:solidFill>
                <a:latin typeface="Calibri"/>
              </a:rPr>
              <a:t>Länge</a:t>
            </a:r>
            <a:r>
              <a:rPr sz="1500" dirty="0">
                <a:solidFill>
                  <a:srgbClr val="1F2933"/>
                </a:solidFill>
                <a:latin typeface="Calibri"/>
              </a:rPr>
              <a:t> </a:t>
            </a:r>
            <a:r>
              <a:rPr sz="1500" dirty="0" err="1">
                <a:solidFill>
                  <a:srgbClr val="1F2933"/>
                </a:solidFill>
                <a:latin typeface="Calibri"/>
              </a:rPr>
              <a:t>spielt</a:t>
            </a:r>
            <a:r>
              <a:rPr sz="1500" dirty="0">
                <a:solidFill>
                  <a:srgbClr val="1F2933"/>
                </a:solidFill>
                <a:latin typeface="Calibri"/>
              </a:rPr>
              <a:t> </a:t>
            </a:r>
            <a:r>
              <a:rPr sz="1500" dirty="0" err="1">
                <a:solidFill>
                  <a:srgbClr val="1F2933"/>
                </a:solidFill>
                <a:latin typeface="Calibri"/>
              </a:rPr>
              <a:t>keine</a:t>
            </a:r>
            <a:r>
              <a:rPr sz="1500" dirty="0">
                <a:solidFill>
                  <a:srgbClr val="1F2933"/>
                </a:solidFill>
                <a:latin typeface="Calibri"/>
              </a:rPr>
              <a:t> Rolle. In </a:t>
            </a:r>
            <a:r>
              <a:rPr sz="1500" dirty="0" err="1">
                <a:solidFill>
                  <a:srgbClr val="1F2933"/>
                </a:solidFill>
                <a:latin typeface="Calibri"/>
              </a:rPr>
              <a:t>Glasfaserkabeln</a:t>
            </a:r>
            <a:r>
              <a:rPr sz="1500" dirty="0">
                <a:solidFill>
                  <a:srgbClr val="1F2933"/>
                </a:solidFill>
                <a:latin typeface="Calibri"/>
              </a:rPr>
              <a:t> </a:t>
            </a:r>
            <a:r>
              <a:rPr sz="1500" dirty="0" err="1">
                <a:solidFill>
                  <a:srgbClr val="1F2933"/>
                </a:solidFill>
                <a:latin typeface="Calibri"/>
              </a:rPr>
              <a:t>sind</a:t>
            </a:r>
            <a:r>
              <a:rPr sz="1500" dirty="0">
                <a:solidFill>
                  <a:srgbClr val="1F2933"/>
                </a:solidFill>
                <a:latin typeface="Calibri"/>
              </a:rPr>
              <a:t> die </a:t>
            </a:r>
            <a:r>
              <a:rPr sz="1500" dirty="0" err="1">
                <a:solidFill>
                  <a:srgbClr val="1F2933"/>
                </a:solidFill>
                <a:latin typeface="Calibri"/>
              </a:rPr>
              <a:t>Daten</a:t>
            </a:r>
            <a:r>
              <a:rPr sz="1500" dirty="0">
                <a:solidFill>
                  <a:srgbClr val="1F2933"/>
                </a:solidFill>
                <a:latin typeface="Calibri"/>
              </a:rPr>
              <a:t> </a:t>
            </a:r>
            <a:r>
              <a:rPr sz="1500" dirty="0" err="1">
                <a:solidFill>
                  <a:srgbClr val="1F2933"/>
                </a:solidFill>
                <a:latin typeface="Calibri"/>
              </a:rPr>
              <a:t>mit</a:t>
            </a:r>
            <a:r>
              <a:rPr sz="1500" dirty="0">
                <a:solidFill>
                  <a:srgbClr val="1F2933"/>
                </a:solidFill>
                <a:latin typeface="Calibri"/>
              </a:rPr>
              <a:t> </a:t>
            </a:r>
            <a:r>
              <a:rPr sz="1500" dirty="0" err="1">
                <a:solidFill>
                  <a:srgbClr val="1F2933"/>
                </a:solidFill>
                <a:latin typeface="Calibri"/>
              </a:rPr>
              <a:t>Lichtgeschwindigkeit</a:t>
            </a:r>
            <a:r>
              <a:rPr sz="1500" dirty="0">
                <a:solidFill>
                  <a:srgbClr val="1F2933"/>
                </a:solidFill>
                <a:latin typeface="Calibri"/>
              </a:rPr>
              <a:t> </a:t>
            </a:r>
            <a:r>
              <a:rPr sz="1500" dirty="0" err="1">
                <a:solidFill>
                  <a:srgbClr val="1F2933"/>
                </a:solidFill>
                <a:latin typeface="Calibri"/>
              </a:rPr>
              <a:t>unterwegs</a:t>
            </a:r>
            <a:r>
              <a:rPr sz="1500" dirty="0">
                <a:solidFill>
                  <a:srgbClr val="1F2933"/>
                </a:solidFill>
                <a:latin typeface="Calibri"/>
              </a:rPr>
              <a:t>.</a:t>
            </a:r>
          </a:p>
          <a:p>
            <a:pPr>
              <a:spcAft>
                <a:spcPts val="200"/>
              </a:spcAft>
            </a:pPr>
            <a:r>
              <a:rPr sz="1700" b="1" dirty="0">
                <a:solidFill>
                  <a:srgbClr val="065A82"/>
                </a:solidFill>
                <a:latin typeface="Calibri"/>
              </a:rPr>
              <a:t>4. </a:t>
            </a:r>
            <a:r>
              <a:rPr sz="1700" b="1" dirty="0" err="1">
                <a:solidFill>
                  <a:srgbClr val="065A82"/>
                </a:solidFill>
                <a:latin typeface="Calibri"/>
              </a:rPr>
              <a:t>Unwahrscheinlich</a:t>
            </a:r>
            <a:r>
              <a:rPr sz="1700" b="1" dirty="0">
                <a:solidFill>
                  <a:srgbClr val="065A82"/>
                </a:solidFill>
                <a:latin typeface="Calibri"/>
              </a:rPr>
              <a:t>: </a:t>
            </a:r>
            <a:r>
              <a:rPr sz="1700" b="1" dirty="0">
                <a:solidFill>
                  <a:srgbClr val="1F2933"/>
                </a:solidFill>
                <a:latin typeface="Calibri"/>
              </a:rPr>
              <a:t>Das Wetter </a:t>
            </a:r>
            <a:r>
              <a:rPr sz="1700" b="1" dirty="0" err="1">
                <a:solidFill>
                  <a:srgbClr val="1F2933"/>
                </a:solidFill>
                <a:latin typeface="Calibri"/>
              </a:rPr>
              <a:t>kann</a:t>
            </a:r>
            <a:r>
              <a:rPr sz="1700" b="1" dirty="0">
                <a:solidFill>
                  <a:srgbClr val="1F2933"/>
                </a:solidFill>
                <a:latin typeface="Calibri"/>
              </a:rPr>
              <a:t> </a:t>
            </a:r>
            <a:r>
              <a:rPr sz="1700" b="1" dirty="0" err="1">
                <a:solidFill>
                  <a:srgbClr val="1F2933"/>
                </a:solidFill>
                <a:latin typeface="Calibri"/>
              </a:rPr>
              <a:t>schuld</a:t>
            </a:r>
            <a:r>
              <a:rPr sz="1700" b="1" dirty="0">
                <a:solidFill>
                  <a:srgbClr val="1F2933"/>
                </a:solidFill>
                <a:latin typeface="Calibri"/>
              </a:rPr>
              <a:t> sein.</a:t>
            </a:r>
          </a:p>
          <a:p>
            <a:pPr>
              <a:spcAft>
                <a:spcPts val="1000"/>
              </a:spcAft>
            </a:pPr>
            <a:r>
              <a:rPr sz="1500" dirty="0">
                <a:solidFill>
                  <a:srgbClr val="1F2933"/>
                </a:solidFill>
                <a:latin typeface="Calibri"/>
              </a:rPr>
              <a:t>Nur </a:t>
            </a:r>
            <a:r>
              <a:rPr sz="1500" dirty="0" err="1">
                <a:solidFill>
                  <a:srgbClr val="1F2933"/>
                </a:solidFill>
                <a:latin typeface="Calibri"/>
              </a:rPr>
              <a:t>wenn</a:t>
            </a:r>
            <a:r>
              <a:rPr sz="1500" dirty="0">
                <a:solidFill>
                  <a:srgbClr val="1F2933"/>
                </a:solidFill>
                <a:latin typeface="Calibri"/>
              </a:rPr>
              <a:t> </a:t>
            </a:r>
            <a:r>
              <a:rPr sz="1500" dirty="0" err="1">
                <a:solidFill>
                  <a:srgbClr val="1F2933"/>
                </a:solidFill>
                <a:latin typeface="Calibri"/>
              </a:rPr>
              <a:t>zum</a:t>
            </a:r>
            <a:r>
              <a:rPr sz="1500" dirty="0">
                <a:solidFill>
                  <a:srgbClr val="1F2933"/>
                </a:solidFill>
                <a:latin typeface="Calibri"/>
              </a:rPr>
              <a:t> </a:t>
            </a:r>
            <a:r>
              <a:rPr sz="1500" dirty="0" err="1">
                <a:solidFill>
                  <a:srgbClr val="1F2933"/>
                </a:solidFill>
                <a:latin typeface="Calibri"/>
              </a:rPr>
              <a:t>Beispiel</a:t>
            </a:r>
            <a:r>
              <a:rPr sz="1500" dirty="0">
                <a:solidFill>
                  <a:srgbClr val="1F2933"/>
                </a:solidFill>
                <a:latin typeface="Calibri"/>
              </a:rPr>
              <a:t> </a:t>
            </a:r>
            <a:r>
              <a:rPr sz="1500" dirty="0" err="1">
                <a:solidFill>
                  <a:srgbClr val="1F2933"/>
                </a:solidFill>
                <a:latin typeface="Calibri"/>
              </a:rPr>
              <a:t>ein</a:t>
            </a:r>
            <a:r>
              <a:rPr sz="1500" dirty="0">
                <a:solidFill>
                  <a:srgbClr val="1F2933"/>
                </a:solidFill>
                <a:latin typeface="Calibri"/>
              </a:rPr>
              <a:t> </a:t>
            </a:r>
            <a:r>
              <a:rPr sz="1500" dirty="0" err="1">
                <a:solidFill>
                  <a:srgbClr val="1F2933"/>
                </a:solidFill>
                <a:latin typeface="Calibri"/>
              </a:rPr>
              <a:t>Hurrikan</a:t>
            </a:r>
            <a:r>
              <a:rPr sz="1500" dirty="0">
                <a:solidFill>
                  <a:srgbClr val="1F2933"/>
                </a:solidFill>
                <a:latin typeface="Calibri"/>
              </a:rPr>
              <a:t> </a:t>
            </a:r>
            <a:r>
              <a:rPr sz="1500" dirty="0" err="1">
                <a:solidFill>
                  <a:srgbClr val="1F2933"/>
                </a:solidFill>
                <a:latin typeface="Calibri"/>
              </a:rPr>
              <a:t>mehrere</a:t>
            </a:r>
            <a:r>
              <a:rPr sz="1500" dirty="0">
                <a:solidFill>
                  <a:srgbClr val="1F2933"/>
                </a:solidFill>
                <a:latin typeface="Calibri"/>
              </a:rPr>
              <a:t> </a:t>
            </a:r>
            <a:r>
              <a:rPr sz="1500" dirty="0" err="1">
                <a:solidFill>
                  <a:srgbClr val="1F2933"/>
                </a:solidFill>
                <a:latin typeface="Calibri"/>
              </a:rPr>
              <a:t>Routerstandorte</a:t>
            </a:r>
            <a:r>
              <a:rPr sz="1500" dirty="0">
                <a:solidFill>
                  <a:srgbClr val="1F2933"/>
                </a:solidFill>
                <a:latin typeface="Calibri"/>
              </a:rPr>
              <a:t> </a:t>
            </a:r>
            <a:r>
              <a:rPr sz="1500" dirty="0" err="1">
                <a:solidFill>
                  <a:srgbClr val="1F2933"/>
                </a:solidFill>
                <a:latin typeface="Calibri"/>
              </a:rPr>
              <a:t>zerstört</a:t>
            </a:r>
            <a:r>
              <a:rPr sz="1500" dirty="0">
                <a:solidFill>
                  <a:srgbClr val="1F2933"/>
                </a:solidFill>
                <a:latin typeface="Calibri"/>
              </a:rPr>
              <a:t>. Bei </a:t>
            </a:r>
            <a:r>
              <a:rPr sz="1500" dirty="0" err="1">
                <a:solidFill>
                  <a:srgbClr val="1F2933"/>
                </a:solidFill>
                <a:latin typeface="Calibri"/>
              </a:rPr>
              <a:t>einem</a:t>
            </a:r>
            <a:r>
              <a:rPr sz="1500" dirty="0">
                <a:solidFill>
                  <a:srgbClr val="1F2933"/>
                </a:solidFill>
                <a:latin typeface="Calibri"/>
              </a:rPr>
              <a:t> </a:t>
            </a:r>
            <a:r>
              <a:rPr sz="1500" dirty="0" err="1">
                <a:solidFill>
                  <a:srgbClr val="1F2933"/>
                </a:solidFill>
                <a:latin typeface="Calibri"/>
              </a:rPr>
              <a:t>Blitzeinschlag</a:t>
            </a:r>
            <a:r>
              <a:rPr sz="1500" dirty="0">
                <a:solidFill>
                  <a:srgbClr val="1F2933"/>
                </a:solidFill>
                <a:latin typeface="Calibri"/>
              </a:rPr>
              <a:t> </a:t>
            </a:r>
            <a:r>
              <a:rPr sz="1500" dirty="0" err="1">
                <a:solidFill>
                  <a:srgbClr val="1F2933"/>
                </a:solidFill>
                <a:latin typeface="Calibri"/>
              </a:rPr>
              <a:t>nehmen</a:t>
            </a:r>
            <a:r>
              <a:rPr sz="1500" dirty="0">
                <a:solidFill>
                  <a:srgbClr val="1F2933"/>
                </a:solidFill>
                <a:latin typeface="Calibri"/>
              </a:rPr>
              <a:t> die </a:t>
            </a:r>
            <a:r>
              <a:rPr sz="1500" dirty="0" err="1">
                <a:solidFill>
                  <a:srgbClr val="1F2933"/>
                </a:solidFill>
                <a:latin typeface="Calibri"/>
              </a:rPr>
              <a:t>Daten</a:t>
            </a:r>
            <a:r>
              <a:rPr sz="1500" dirty="0">
                <a:solidFill>
                  <a:srgbClr val="1F2933"/>
                </a:solidFill>
                <a:latin typeface="Calibri"/>
              </a:rPr>
              <a:t> </a:t>
            </a:r>
            <a:r>
              <a:rPr sz="1500" dirty="0" err="1">
                <a:solidFill>
                  <a:srgbClr val="1F2933"/>
                </a:solidFill>
                <a:latin typeface="Calibri"/>
              </a:rPr>
              <a:t>einfach</a:t>
            </a:r>
            <a:r>
              <a:rPr sz="1500" dirty="0">
                <a:solidFill>
                  <a:srgbClr val="1F2933"/>
                </a:solidFill>
                <a:latin typeface="Calibri"/>
              </a:rPr>
              <a:t> </a:t>
            </a:r>
            <a:r>
              <a:rPr sz="1500" dirty="0" err="1">
                <a:solidFill>
                  <a:srgbClr val="1F2933"/>
                </a:solidFill>
                <a:latin typeface="Calibri"/>
              </a:rPr>
              <a:t>einen</a:t>
            </a:r>
            <a:r>
              <a:rPr sz="1500" dirty="0">
                <a:solidFill>
                  <a:srgbClr val="1F2933"/>
                </a:solidFill>
                <a:latin typeface="Calibri"/>
              </a:rPr>
              <a:t> </a:t>
            </a:r>
            <a:r>
              <a:rPr sz="1500" dirty="0" err="1">
                <a:solidFill>
                  <a:srgbClr val="1F2933"/>
                </a:solidFill>
                <a:latin typeface="Calibri"/>
              </a:rPr>
              <a:t>anderen</a:t>
            </a:r>
            <a:r>
              <a:rPr sz="1500" dirty="0">
                <a:solidFill>
                  <a:srgbClr val="1F2933"/>
                </a:solidFill>
                <a:latin typeface="Calibri"/>
              </a:rPr>
              <a:t> Weg.</a:t>
            </a:r>
          </a:p>
        </p:txBody>
      </p:sp>
      <p:sp>
        <p:nvSpPr>
          <p:cNvPr id="4" name="Shape 2"/>
          <p:cNvSpPr/>
          <p:nvPr/>
        </p:nvSpPr>
        <p:spPr>
          <a:xfrm>
            <a:off x="548640" y="5440680"/>
            <a:ext cx="11091672" cy="868680"/>
          </a:xfrm>
          <a:prstGeom prst="roundRect">
            <a:avLst>
              <a:gd name="adj" fmla="val 8421"/>
            </a:avLst>
          </a:prstGeom>
          <a:solidFill>
            <a:srgbClr val="EAF2F6"/>
          </a:solidFill>
          <a:ln/>
        </p:spPr>
        <p:txBody>
          <a:bodyPr/>
          <a:lstStyle/>
          <a:p>
            <a:endParaRPr lang="de-CH"/>
          </a:p>
        </p:txBody>
      </p:sp>
      <p:sp>
        <p:nvSpPr>
          <p:cNvPr id="5" name="Text 3"/>
          <p:cNvSpPr txBox="1"/>
          <p:nvPr/>
        </p:nvSpPr>
        <p:spPr>
          <a:xfrm>
            <a:off x="868680" y="5440680"/>
            <a:ext cx="10451592" cy="868680"/>
          </a:xfrm>
          <a:prstGeom prst="rect">
            <a:avLst/>
          </a:prstGeom>
          <a:noFill/>
          <a:ln/>
        </p:spPr>
        <p:txBody>
          <a:bodyPr wrap="square" lIns="0" tIns="0" rIns="0" bIns="0" rtlCol="0" anchor="ctr"/>
          <a:lstStyle/>
          <a:p>
            <a:pPr marL="0" indent="0">
              <a:buNone/>
            </a:pPr>
            <a:r>
              <a:rPr lang="en-US" sz="1700" b="1" dirty="0">
                <a:solidFill>
                  <a:srgbClr val="065A82"/>
                </a:solidFill>
                <a:latin typeface="Calibri" pitchFamily="34" charset="0"/>
                <a:ea typeface="Calibri" pitchFamily="34" charset="-122"/>
                <a:cs typeface="Calibri" pitchFamily="34" charset="-120"/>
              </a:rPr>
              <a:t>Die Aussagen 5 bis 7 folgen auf der nächsten Folie.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1091672" cy="82296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Lösung Aufgabe 113 (2 von 2)</a:t>
            </a:r>
            <a:endParaRPr lang="en-US" sz="3200" dirty="0"/>
          </a:p>
        </p:txBody>
      </p:sp>
      <p:sp>
        <p:nvSpPr>
          <p:cNvPr id="3" name="Text 1"/>
          <p:cNvSpPr txBox="1"/>
          <p:nvPr/>
        </p:nvSpPr>
        <p:spPr>
          <a:xfrm>
            <a:off x="731520" y="1463040"/>
            <a:ext cx="10543032" cy="3840480"/>
          </a:xfrm>
          <a:prstGeom prst="rect">
            <a:avLst/>
          </a:prstGeom>
          <a:noFill/>
          <a:ln/>
        </p:spPr>
        <p:txBody>
          <a:bodyPr wrap="square" lIns="0" tIns="0" rIns="0" bIns="0" rtlCol="0" anchor="t"/>
          <a:lstStyle/>
          <a:p>
            <a:pPr>
              <a:spcAft>
                <a:spcPts val="200"/>
              </a:spcAft>
            </a:pPr>
            <a:r>
              <a:rPr sz="1700" b="1">
                <a:solidFill>
                  <a:srgbClr val="2E7D32"/>
                </a:solidFill>
                <a:latin typeface="Calibri"/>
              </a:rPr>
              <a:t>5. Richtig: </a:t>
            </a:r>
            <a:r>
              <a:rPr sz="1700" b="1">
                <a:solidFill>
                  <a:srgbClr val="1F2933"/>
                </a:solidFill>
                <a:latin typeface="Calibri"/>
              </a:rPr>
              <a:t>Die Daten müssen sehr viele Kreuzungen (Router) passieren.</a:t>
            </a:r>
          </a:p>
          <a:p>
            <a:pPr>
              <a:spcAft>
                <a:spcPts val="1000"/>
              </a:spcAft>
            </a:pPr>
            <a:r>
              <a:rPr sz="1500">
                <a:solidFill>
                  <a:srgbClr val="1F2933"/>
                </a:solidFill>
                <a:latin typeface="Calibri"/>
              </a:rPr>
              <a:t>Die Anzahl der Router hat tatsächlich Auswirkungen auf die Geschwindigkeit.</a:t>
            </a:r>
          </a:p>
          <a:p>
            <a:pPr>
              <a:spcAft>
                <a:spcPts val="200"/>
              </a:spcAft>
            </a:pPr>
            <a:r>
              <a:rPr sz="1700" b="1">
                <a:solidFill>
                  <a:srgbClr val="2E7D32"/>
                </a:solidFill>
                <a:latin typeface="Calibri"/>
              </a:rPr>
              <a:t>6. Richtig: </a:t>
            </a:r>
            <a:r>
              <a:rPr sz="1700" b="1">
                <a:solidFill>
                  <a:srgbClr val="1F2933"/>
                </a:solidFill>
                <a:latin typeface="Calibri"/>
              </a:rPr>
              <a:t>Videodaten sind sehr umfangreich und verursachen schnell Datenstau.</a:t>
            </a:r>
          </a:p>
          <a:p>
            <a:pPr>
              <a:spcAft>
                <a:spcPts val="1000"/>
              </a:spcAft>
            </a:pPr>
            <a:r>
              <a:rPr sz="1500">
                <a:solidFill>
                  <a:srgbClr val="1F2933"/>
                </a:solidFill>
                <a:latin typeface="Calibri"/>
              </a:rPr>
              <a:t>Videos sind gross und werden in viele kleine Datenpakete aufgeteilt. In einem langsamen Netz führen so viele Pakete schnell zu Stau.</a:t>
            </a:r>
          </a:p>
          <a:p>
            <a:pPr>
              <a:spcAft>
                <a:spcPts val="200"/>
              </a:spcAft>
            </a:pPr>
            <a:r>
              <a:rPr sz="1700" b="1">
                <a:solidFill>
                  <a:srgbClr val="065A82"/>
                </a:solidFill>
                <a:latin typeface="Calibri"/>
              </a:rPr>
              <a:t>7. Möglich: </a:t>
            </a:r>
            <a:r>
              <a:rPr sz="1700" b="1">
                <a:solidFill>
                  <a:srgbClr val="1F2933"/>
                </a:solidFill>
                <a:latin typeface="Calibri"/>
              </a:rPr>
              <a:t>Das Netz ist an einer entscheidenden Stelle beschädigt.</a:t>
            </a:r>
          </a:p>
          <a:p>
            <a:pPr>
              <a:spcAft>
                <a:spcPts val="1000"/>
              </a:spcAft>
            </a:pPr>
            <a:r>
              <a:rPr sz="1500">
                <a:solidFill>
                  <a:srgbClr val="1F2933"/>
                </a:solidFill>
                <a:latin typeface="Calibri"/>
              </a:rPr>
              <a:t>Aber nur an einer wirklich wichtigen Stelle, zum Beispiel bei einem von zwei Seekabeln, die einen Kontinent mit dem Rest der Welt verbinden.</a:t>
            </a:r>
          </a:p>
        </p:txBody>
      </p:sp>
      <p:sp>
        <p:nvSpPr>
          <p:cNvPr id="4" name="Shape 2"/>
          <p:cNvSpPr/>
          <p:nvPr/>
        </p:nvSpPr>
        <p:spPr>
          <a:xfrm>
            <a:off x="548640" y="5440680"/>
            <a:ext cx="11091672" cy="868680"/>
          </a:xfrm>
          <a:prstGeom prst="roundRect">
            <a:avLst>
              <a:gd name="adj" fmla="val 8421"/>
            </a:avLst>
          </a:prstGeom>
          <a:solidFill>
            <a:srgbClr val="EAF2F6"/>
          </a:solidFill>
          <a:ln/>
        </p:spPr>
        <p:txBody>
          <a:bodyPr/>
          <a:lstStyle/>
          <a:p>
            <a:endParaRPr lang="de-CH"/>
          </a:p>
        </p:txBody>
      </p:sp>
      <p:sp>
        <p:nvSpPr>
          <p:cNvPr id="5" name="Text 3"/>
          <p:cNvSpPr txBox="1"/>
          <p:nvPr/>
        </p:nvSpPr>
        <p:spPr>
          <a:xfrm>
            <a:off x="868680" y="5440680"/>
            <a:ext cx="10451592" cy="868680"/>
          </a:xfrm>
          <a:prstGeom prst="rect">
            <a:avLst/>
          </a:prstGeom>
          <a:noFill/>
          <a:ln/>
        </p:spPr>
        <p:txBody>
          <a:bodyPr wrap="square" lIns="0" tIns="0" rIns="0" bIns="0" rtlCol="0" anchor="ctr"/>
          <a:lstStyle/>
          <a:p>
            <a:pPr marL="0" indent="0">
              <a:buNone/>
            </a:pPr>
            <a:r>
              <a:rPr lang="en-US" sz="1700" b="1" dirty="0">
                <a:solidFill>
                  <a:srgbClr val="065A82"/>
                </a:solidFill>
                <a:latin typeface="Calibri" pitchFamily="34" charset="0"/>
                <a:ea typeface="Calibri" pitchFamily="34" charset="-122"/>
                <a:cs typeface="Calibri" pitchFamily="34" charset="-120"/>
              </a:rPr>
              <a:t>Für Lisa am wahrscheinlichsten: zu viele Gäste im WLAN und grosse Videodaten.</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11091672" cy="82296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Zwei Gründe, warum es langsam wird</a:t>
            </a:r>
            <a:endParaRPr lang="en-US" sz="3200" dirty="0"/>
          </a:p>
        </p:txBody>
      </p:sp>
      <p:sp>
        <p:nvSpPr>
          <p:cNvPr id="3" name="Shape 1"/>
          <p:cNvSpPr/>
          <p:nvPr/>
        </p:nvSpPr>
        <p:spPr>
          <a:xfrm>
            <a:off x="548640" y="2240280"/>
            <a:ext cx="5399532" cy="3291840"/>
          </a:xfrm>
          <a:prstGeom prst="roundRect">
            <a:avLst>
              <a:gd name="adj" fmla="val 2222"/>
            </a:avLst>
          </a:prstGeom>
          <a:solidFill>
            <a:srgbClr val="EAF2F6"/>
          </a:solidFill>
          <a:ln/>
        </p:spPr>
        <p:txBody>
          <a:bodyPr/>
          <a:lstStyle/>
          <a:p>
            <a:endParaRPr lang="de-CH"/>
          </a:p>
        </p:txBody>
      </p:sp>
      <p:sp>
        <p:nvSpPr>
          <p:cNvPr id="4" name="Shape 2"/>
          <p:cNvSpPr/>
          <p:nvPr/>
        </p:nvSpPr>
        <p:spPr>
          <a:xfrm>
            <a:off x="841248" y="2514600"/>
            <a:ext cx="566928" cy="566928"/>
          </a:xfrm>
          <a:prstGeom prst="ellipse">
            <a:avLst/>
          </a:prstGeom>
          <a:solidFill>
            <a:srgbClr val="065A82"/>
          </a:solidFill>
          <a:ln/>
        </p:spPr>
        <p:txBody>
          <a:bodyPr/>
          <a:lstStyle/>
          <a:p>
            <a:endParaRPr lang="de-CH"/>
          </a:p>
        </p:txBody>
      </p:sp>
      <p:sp>
        <p:nvSpPr>
          <p:cNvPr id="5" name="Text 3"/>
          <p:cNvSpPr txBox="1"/>
          <p:nvPr/>
        </p:nvSpPr>
        <p:spPr>
          <a:xfrm>
            <a:off x="841248" y="251460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841248" y="3200400"/>
            <a:ext cx="4814316" cy="566928"/>
          </a:xfrm>
          <a:prstGeom prst="rect">
            <a:avLst/>
          </a:prstGeom>
          <a:noFill/>
          <a:ln/>
        </p:spPr>
        <p:txBody>
          <a:bodyPr wrap="square" lIns="0" tIns="0" rIns="0" bIns="0" rtlCol="0" anchor="t"/>
          <a:lstStyle/>
          <a:p>
            <a:pPr marL="0" indent="0">
              <a:buNone/>
            </a:pPr>
            <a:r>
              <a:rPr lang="en-US" sz="2000" b="1" dirty="0">
                <a:solidFill>
                  <a:srgbClr val="065A82"/>
                </a:solidFill>
                <a:latin typeface="Calibri" pitchFamily="34" charset="0"/>
                <a:ea typeface="Calibri" pitchFamily="34" charset="-122"/>
                <a:cs typeface="Calibri" pitchFamily="34" charset="-120"/>
              </a:rPr>
              <a:t>Alle teilen dieselbe Leitung</a:t>
            </a:r>
            <a:endParaRPr lang="en-US" sz="2000" dirty="0"/>
          </a:p>
        </p:txBody>
      </p:sp>
      <p:sp>
        <p:nvSpPr>
          <p:cNvPr id="7" name="Text 5"/>
          <p:cNvSpPr txBox="1"/>
          <p:nvPr/>
        </p:nvSpPr>
        <p:spPr>
          <a:xfrm>
            <a:off x="841248" y="3803904"/>
            <a:ext cx="4814316" cy="1463040"/>
          </a:xfrm>
          <a:prstGeom prst="rect">
            <a:avLst/>
          </a:prstGeom>
          <a:noFill/>
          <a:ln/>
        </p:spPr>
        <p:txBody>
          <a:bodyPr wrap="square" lIns="0" tIns="0" rIns="0" bIns="0" rtlCol="0" anchor="t"/>
          <a:lstStyle/>
          <a:p>
            <a:pPr marL="0" indent="0">
              <a:lnSpc>
                <a:spcPct val="110000"/>
              </a:lnSpc>
              <a:buNone/>
            </a:pPr>
            <a:r>
              <a:rPr lang="en-US" sz="1600" dirty="0">
                <a:solidFill>
                  <a:srgbClr val="1F2933"/>
                </a:solidFill>
                <a:latin typeface="Calibri" pitchFamily="34" charset="0"/>
                <a:ea typeface="Calibri" pitchFamily="34" charset="-122"/>
                <a:cs typeface="Calibri" pitchFamily="34" charset="-120"/>
              </a:rPr>
              <a:t>In der Ferienanlage sind viele Gäste gleichzeitig im WLAN.</a:t>
            </a:r>
            <a:endParaRPr lang="en-US" sz="1600" dirty="0"/>
          </a:p>
        </p:txBody>
      </p:sp>
      <p:sp>
        <p:nvSpPr>
          <p:cNvPr id="8" name="Shape 6"/>
          <p:cNvSpPr/>
          <p:nvPr/>
        </p:nvSpPr>
        <p:spPr>
          <a:xfrm>
            <a:off x="6240780" y="2240280"/>
            <a:ext cx="5399532" cy="3291840"/>
          </a:xfrm>
          <a:prstGeom prst="roundRect">
            <a:avLst>
              <a:gd name="adj" fmla="val 2222"/>
            </a:avLst>
          </a:prstGeom>
          <a:solidFill>
            <a:srgbClr val="065A82"/>
          </a:solidFill>
          <a:ln/>
        </p:spPr>
        <p:txBody>
          <a:bodyPr/>
          <a:lstStyle/>
          <a:p>
            <a:endParaRPr lang="de-CH"/>
          </a:p>
        </p:txBody>
      </p:sp>
      <p:sp>
        <p:nvSpPr>
          <p:cNvPr id="9" name="Shape 7"/>
          <p:cNvSpPr/>
          <p:nvPr/>
        </p:nvSpPr>
        <p:spPr>
          <a:xfrm>
            <a:off x="6533388" y="2514600"/>
            <a:ext cx="566928" cy="566928"/>
          </a:xfrm>
          <a:prstGeom prst="ellipse">
            <a:avLst/>
          </a:prstGeom>
          <a:solidFill>
            <a:srgbClr val="E4572E"/>
          </a:solidFill>
          <a:ln/>
        </p:spPr>
        <p:txBody>
          <a:bodyPr/>
          <a:lstStyle/>
          <a:p>
            <a:endParaRPr lang="de-CH"/>
          </a:p>
        </p:txBody>
      </p:sp>
      <p:sp>
        <p:nvSpPr>
          <p:cNvPr id="10" name="Text 8"/>
          <p:cNvSpPr txBox="1"/>
          <p:nvPr/>
        </p:nvSpPr>
        <p:spPr>
          <a:xfrm>
            <a:off x="6533388" y="251460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9"/>
          <p:cNvSpPr txBox="1"/>
          <p:nvPr/>
        </p:nvSpPr>
        <p:spPr>
          <a:xfrm>
            <a:off x="6533388" y="3200400"/>
            <a:ext cx="4814316" cy="566928"/>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Videos brauchen viele Daten</a:t>
            </a:r>
            <a:endParaRPr lang="en-US" sz="2000" dirty="0"/>
          </a:p>
        </p:txBody>
      </p:sp>
      <p:sp>
        <p:nvSpPr>
          <p:cNvPr id="12" name="Text 10"/>
          <p:cNvSpPr txBox="1"/>
          <p:nvPr/>
        </p:nvSpPr>
        <p:spPr>
          <a:xfrm>
            <a:off x="6533388" y="3803904"/>
            <a:ext cx="4814316" cy="1463040"/>
          </a:xfrm>
          <a:prstGeom prst="rect">
            <a:avLst/>
          </a:prstGeom>
          <a:noFill/>
          <a:ln/>
        </p:spPr>
        <p:txBody>
          <a:bodyPr wrap="square" lIns="0" tIns="0" rIns="0" bIns="0" rtlCol="0" anchor="t"/>
          <a:lstStyle/>
          <a:p>
            <a:pPr marL="0" indent="0">
              <a:lnSpc>
                <a:spcPct val="110000"/>
              </a:lnSpc>
              <a:buNone/>
            </a:pPr>
            <a:r>
              <a:rPr lang="en-US" sz="1600" dirty="0">
                <a:solidFill>
                  <a:srgbClr val="DCEAF2"/>
                </a:solidFill>
                <a:latin typeface="Calibri" pitchFamily="34" charset="0"/>
                <a:ea typeface="Calibri" pitchFamily="34" charset="-122"/>
                <a:cs typeface="Calibri" pitchFamily="34" charset="-120"/>
              </a:rPr>
              <a:t>Ein Video besteht aus sehr vielen kleinen Paketen. Das gibt Stau.</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a:effectLst/>
      </p:bgPr>
    </p:bg>
    <p:spTree>
      <p:nvGrpSpPr>
        <p:cNvPr id="1" name=""/>
        <p:cNvGrpSpPr/>
        <p:nvPr/>
      </p:nvGrpSpPr>
      <p:grpSpPr>
        <a:xfrm>
          <a:off x="0" y="0"/>
          <a:ext cx="0" cy="0"/>
          <a:chOff x="0" y="0"/>
          <a:chExt cx="0" cy="0"/>
        </a:xfrm>
      </p:grpSpPr>
      <p:sp>
        <p:nvSpPr>
          <p:cNvPr id="2" name="Text 0"/>
          <p:cNvSpPr txBox="1"/>
          <p:nvPr/>
        </p:nvSpPr>
        <p:spPr>
          <a:xfrm>
            <a:off x="822960" y="1463040"/>
            <a:ext cx="5669280" cy="2011680"/>
          </a:xfrm>
          <a:prstGeom prst="rect">
            <a:avLst/>
          </a:prstGeom>
          <a:noFill/>
          <a:ln/>
        </p:spPr>
        <p:txBody>
          <a:bodyPr wrap="square" lIns="0" tIns="0" rIns="0" bIns="0" rtlCol="0" anchor="ctr"/>
          <a:lstStyle/>
          <a:p>
            <a:pPr marL="0" indent="0">
              <a:buNone/>
            </a:pPr>
            <a:r>
              <a:rPr lang="en-US" sz="4600" b="1" dirty="0">
                <a:solidFill>
                  <a:srgbClr val="E4572E"/>
                </a:solidFill>
                <a:latin typeface="Calibri" pitchFamily="34" charset="0"/>
                <a:ea typeface="Calibri" pitchFamily="34" charset="-122"/>
                <a:cs typeface="Calibri" pitchFamily="34" charset="-120"/>
              </a:rPr>
              <a:t>200 000 km/s</a:t>
            </a:r>
            <a:endParaRPr lang="en-US" sz="4600" dirty="0"/>
          </a:p>
        </p:txBody>
      </p:sp>
      <p:sp>
        <p:nvSpPr>
          <p:cNvPr id="3" name="Text 1"/>
          <p:cNvSpPr txBox="1"/>
          <p:nvPr/>
        </p:nvSpPr>
        <p:spPr>
          <a:xfrm>
            <a:off x="822960" y="3474720"/>
            <a:ext cx="5669280" cy="914400"/>
          </a:xfrm>
          <a:prstGeom prst="rect">
            <a:avLst/>
          </a:prstGeom>
          <a:noFill/>
          <a:ln/>
        </p:spPr>
        <p:txBody>
          <a:bodyPr wrap="square" lIns="0" tIns="0" rIns="0" bIns="0" rtlCol="0" anchor="ctr"/>
          <a:lstStyle/>
          <a:p>
            <a:pPr marL="0" indent="0">
              <a:buNone/>
            </a:pPr>
            <a:r>
              <a:rPr lang="en-US" sz="2200" b="1" dirty="0">
                <a:solidFill>
                  <a:srgbClr val="065A82"/>
                </a:solidFill>
                <a:latin typeface="Calibri" pitchFamily="34" charset="0"/>
                <a:ea typeface="Calibri" pitchFamily="34" charset="-122"/>
                <a:cs typeface="Calibri" pitchFamily="34" charset="-120"/>
              </a:rPr>
              <a:t>so schnell sind Daten im Glasfaserkabel</a:t>
            </a:r>
            <a:endParaRPr lang="en-US" sz="2200" dirty="0"/>
          </a:p>
        </p:txBody>
      </p:sp>
      <p:sp>
        <p:nvSpPr>
          <p:cNvPr id="4" name="Text 2"/>
          <p:cNvSpPr txBox="1"/>
          <p:nvPr/>
        </p:nvSpPr>
        <p:spPr>
          <a:xfrm>
            <a:off x="6766560" y="1645920"/>
            <a:ext cx="4663440" cy="3291840"/>
          </a:xfrm>
          <a:prstGeom prst="rect">
            <a:avLst/>
          </a:prstGeom>
          <a:noFill/>
          <a:ln/>
        </p:spPr>
        <p:txBody>
          <a:bodyPr wrap="square" lIns="0" tIns="0" rIns="0" bIns="0" rtlCol="0" anchor="t"/>
          <a:lstStyle/>
          <a:p>
            <a:pPr marL="0" indent="0">
              <a:lnSpc>
                <a:spcPct val="120000"/>
              </a:lnSpc>
              <a:buNone/>
            </a:pPr>
            <a:r>
              <a:rPr lang="en-US" sz="2100" dirty="0">
                <a:solidFill>
                  <a:srgbClr val="1F2933"/>
                </a:solidFill>
                <a:latin typeface="Calibri" pitchFamily="34" charset="0"/>
                <a:ea typeface="Calibri" pitchFamily="34" charset="-122"/>
                <a:cs typeface="Calibri" pitchFamily="34" charset="-120"/>
              </a:rPr>
              <a:t>Deshalb ist die Länge der Leitung fast nie das Problem. Von Spanien in die Schweiz dauert es weniger als eine Hundertstelsekunde.</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11091672" cy="82296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Das haben wir heute gelernt</a:t>
            </a:r>
            <a:endParaRPr lang="en-US" sz="3200" dirty="0"/>
          </a:p>
        </p:txBody>
      </p:sp>
      <p:sp>
        <p:nvSpPr>
          <p:cNvPr id="3" name="Shape 1"/>
          <p:cNvSpPr/>
          <p:nvPr/>
        </p:nvSpPr>
        <p:spPr>
          <a:xfrm>
            <a:off x="548640" y="1508760"/>
            <a:ext cx="11091672" cy="1051560"/>
          </a:xfrm>
          <a:prstGeom prst="roundRect">
            <a:avLst>
              <a:gd name="adj" fmla="val 6957"/>
            </a:avLst>
          </a:prstGeom>
          <a:solidFill>
            <a:srgbClr val="EAF2F6"/>
          </a:solidFill>
          <a:ln/>
        </p:spPr>
        <p:txBody>
          <a:bodyPr/>
          <a:lstStyle/>
          <a:p>
            <a:endParaRPr lang="de-CH"/>
          </a:p>
        </p:txBody>
      </p:sp>
      <p:sp>
        <p:nvSpPr>
          <p:cNvPr id="4" name="Shape 2"/>
          <p:cNvSpPr/>
          <p:nvPr/>
        </p:nvSpPr>
        <p:spPr>
          <a:xfrm>
            <a:off x="868680" y="1714500"/>
            <a:ext cx="640080" cy="640080"/>
          </a:xfrm>
          <a:prstGeom prst="ellipse">
            <a:avLst/>
          </a:prstGeom>
          <a:solidFill>
            <a:srgbClr val="065A82"/>
          </a:solidFill>
          <a:ln/>
        </p:spPr>
        <p:txBody>
          <a:bodyPr/>
          <a:lstStyle/>
          <a:p>
            <a:endParaRPr lang="de-CH"/>
          </a:p>
        </p:txBody>
      </p:sp>
      <p:sp>
        <p:nvSpPr>
          <p:cNvPr id="5" name="Text 3"/>
          <p:cNvSpPr txBox="1"/>
          <p:nvPr/>
        </p:nvSpPr>
        <p:spPr>
          <a:xfrm>
            <a:off x="868680" y="171450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Text 4"/>
          <p:cNvSpPr txBox="1"/>
          <p:nvPr/>
        </p:nvSpPr>
        <p:spPr>
          <a:xfrm>
            <a:off x="1783080" y="1508760"/>
            <a:ext cx="9628632" cy="1051560"/>
          </a:xfrm>
          <a:prstGeom prst="rect">
            <a:avLst/>
          </a:prstGeom>
          <a:noFill/>
          <a:ln/>
        </p:spPr>
        <p:txBody>
          <a:bodyPr wrap="square" lIns="0" tIns="0" rIns="0" bIns="0" rtlCol="0" anchor="ctr"/>
          <a:lstStyle/>
          <a:p>
            <a:pPr marL="0" indent="0">
              <a:buNone/>
            </a:pPr>
            <a:r>
              <a:rPr lang="en-US" sz="1900" dirty="0">
                <a:solidFill>
                  <a:srgbClr val="1F2933"/>
                </a:solidFill>
                <a:latin typeface="Calibri" pitchFamily="34" charset="0"/>
                <a:ea typeface="Calibri" pitchFamily="34" charset="-122"/>
                <a:cs typeface="Calibri" pitchFamily="34" charset="-120"/>
              </a:rPr>
              <a:t>Ich kann zwei Kriterien nennen, an denen ich eine gute Bewertung erkenne.</a:t>
            </a:r>
            <a:endParaRPr lang="en-US" sz="1900" dirty="0"/>
          </a:p>
        </p:txBody>
      </p:sp>
      <p:sp>
        <p:nvSpPr>
          <p:cNvPr id="7" name="Shape 5"/>
          <p:cNvSpPr/>
          <p:nvPr/>
        </p:nvSpPr>
        <p:spPr>
          <a:xfrm>
            <a:off x="548640" y="2834640"/>
            <a:ext cx="11091672" cy="1051560"/>
          </a:xfrm>
          <a:prstGeom prst="roundRect">
            <a:avLst>
              <a:gd name="adj" fmla="val 6957"/>
            </a:avLst>
          </a:prstGeom>
          <a:solidFill>
            <a:srgbClr val="EAF2F6"/>
          </a:solidFill>
          <a:ln/>
        </p:spPr>
        <p:txBody>
          <a:bodyPr/>
          <a:lstStyle/>
          <a:p>
            <a:endParaRPr lang="de-CH"/>
          </a:p>
        </p:txBody>
      </p:sp>
      <p:sp>
        <p:nvSpPr>
          <p:cNvPr id="8" name="Shape 6"/>
          <p:cNvSpPr/>
          <p:nvPr/>
        </p:nvSpPr>
        <p:spPr>
          <a:xfrm>
            <a:off x="868680" y="3040380"/>
            <a:ext cx="640080" cy="640080"/>
          </a:xfrm>
          <a:prstGeom prst="ellipse">
            <a:avLst/>
          </a:prstGeom>
          <a:solidFill>
            <a:srgbClr val="065A82"/>
          </a:solidFill>
          <a:ln/>
        </p:spPr>
        <p:txBody>
          <a:bodyPr/>
          <a:lstStyle/>
          <a:p>
            <a:endParaRPr lang="de-CH"/>
          </a:p>
        </p:txBody>
      </p:sp>
      <p:sp>
        <p:nvSpPr>
          <p:cNvPr id="9" name="Text 7"/>
          <p:cNvSpPr txBox="1"/>
          <p:nvPr/>
        </p:nvSpPr>
        <p:spPr>
          <a:xfrm>
            <a:off x="868680" y="30403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0" name="Text 8"/>
          <p:cNvSpPr txBox="1"/>
          <p:nvPr/>
        </p:nvSpPr>
        <p:spPr>
          <a:xfrm>
            <a:off x="1783080" y="2834640"/>
            <a:ext cx="9628632" cy="1051560"/>
          </a:xfrm>
          <a:prstGeom prst="rect">
            <a:avLst/>
          </a:prstGeom>
          <a:noFill/>
          <a:ln/>
        </p:spPr>
        <p:txBody>
          <a:bodyPr wrap="square" lIns="0" tIns="0" rIns="0" bIns="0" rtlCol="0" anchor="ctr"/>
          <a:lstStyle/>
          <a:p>
            <a:pPr marL="0" indent="0">
              <a:buNone/>
            </a:pPr>
            <a:r>
              <a:rPr lang="en-US" sz="1900" dirty="0">
                <a:solidFill>
                  <a:srgbClr val="1F2933"/>
                </a:solidFill>
                <a:latin typeface="Calibri" pitchFamily="34" charset="0"/>
                <a:ea typeface="Calibri" pitchFamily="34" charset="-122"/>
                <a:cs typeface="Calibri" pitchFamily="34" charset="-120"/>
              </a:rPr>
              <a:t>Ich kann sagen, warum jemand Bewertungen fälscht.</a:t>
            </a:r>
            <a:endParaRPr lang="en-US" sz="1900" dirty="0"/>
          </a:p>
        </p:txBody>
      </p:sp>
      <p:sp>
        <p:nvSpPr>
          <p:cNvPr id="11" name="Shape 9"/>
          <p:cNvSpPr/>
          <p:nvPr/>
        </p:nvSpPr>
        <p:spPr>
          <a:xfrm>
            <a:off x="548640" y="4160520"/>
            <a:ext cx="11091672" cy="1051560"/>
          </a:xfrm>
          <a:prstGeom prst="roundRect">
            <a:avLst>
              <a:gd name="adj" fmla="val 6957"/>
            </a:avLst>
          </a:prstGeom>
          <a:solidFill>
            <a:srgbClr val="EAF2F6"/>
          </a:solidFill>
          <a:ln/>
        </p:spPr>
        <p:txBody>
          <a:bodyPr/>
          <a:lstStyle/>
          <a:p>
            <a:endParaRPr lang="de-CH"/>
          </a:p>
        </p:txBody>
      </p:sp>
      <p:sp>
        <p:nvSpPr>
          <p:cNvPr id="12" name="Shape 10"/>
          <p:cNvSpPr/>
          <p:nvPr/>
        </p:nvSpPr>
        <p:spPr>
          <a:xfrm>
            <a:off x="868680" y="4366260"/>
            <a:ext cx="640080" cy="640080"/>
          </a:xfrm>
          <a:prstGeom prst="ellipse">
            <a:avLst/>
          </a:prstGeom>
          <a:solidFill>
            <a:srgbClr val="065A82"/>
          </a:solidFill>
          <a:ln/>
        </p:spPr>
        <p:txBody>
          <a:bodyPr/>
          <a:lstStyle/>
          <a:p>
            <a:endParaRPr lang="de-CH"/>
          </a:p>
        </p:txBody>
      </p:sp>
      <p:sp>
        <p:nvSpPr>
          <p:cNvPr id="13" name="Text 11"/>
          <p:cNvSpPr txBox="1"/>
          <p:nvPr/>
        </p:nvSpPr>
        <p:spPr>
          <a:xfrm>
            <a:off x="868680" y="436626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4" name="Text 12"/>
          <p:cNvSpPr txBox="1"/>
          <p:nvPr/>
        </p:nvSpPr>
        <p:spPr>
          <a:xfrm>
            <a:off x="1783080" y="4160520"/>
            <a:ext cx="9628632" cy="1051560"/>
          </a:xfrm>
          <a:prstGeom prst="rect">
            <a:avLst/>
          </a:prstGeom>
          <a:noFill/>
          <a:ln/>
        </p:spPr>
        <p:txBody>
          <a:bodyPr wrap="square" lIns="0" tIns="0" rIns="0" bIns="0" rtlCol="0" anchor="ctr"/>
          <a:lstStyle/>
          <a:p>
            <a:pPr marL="0" indent="0">
              <a:buNone/>
            </a:pPr>
            <a:r>
              <a:rPr lang="en-US" sz="1900" dirty="0">
                <a:solidFill>
                  <a:srgbClr val="1F2933"/>
                </a:solidFill>
                <a:latin typeface="Calibri" pitchFamily="34" charset="0"/>
                <a:ea typeface="Calibri" pitchFamily="34" charset="-122"/>
                <a:cs typeface="Calibri" pitchFamily="34" charset="-120"/>
              </a:rPr>
              <a:t>Ich kann zwei Gründe nennen, warum ein Video ruckelt.</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11091672" cy="82296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Zum Schluss</a:t>
            </a:r>
            <a:endParaRPr lang="en-US" sz="3200" dirty="0"/>
          </a:p>
        </p:txBody>
      </p:sp>
      <p:sp>
        <p:nvSpPr>
          <p:cNvPr id="6" name="Shape 4"/>
          <p:cNvSpPr/>
          <p:nvPr/>
        </p:nvSpPr>
        <p:spPr>
          <a:xfrm>
            <a:off x="548640" y="1520325"/>
            <a:ext cx="11091672" cy="1828800"/>
          </a:xfrm>
          <a:prstGeom prst="roundRect">
            <a:avLst>
              <a:gd name="adj" fmla="val 4000"/>
            </a:avLst>
          </a:prstGeom>
          <a:solidFill>
            <a:srgbClr val="F4F8FA"/>
          </a:solidFill>
          <a:ln/>
        </p:spPr>
        <p:txBody>
          <a:bodyPr/>
          <a:lstStyle/>
          <a:p>
            <a:endParaRPr lang="de-CH"/>
          </a:p>
        </p:txBody>
      </p:sp>
      <p:sp>
        <p:nvSpPr>
          <p:cNvPr id="7" name="Text 5"/>
          <p:cNvSpPr txBox="1"/>
          <p:nvPr/>
        </p:nvSpPr>
        <p:spPr>
          <a:xfrm>
            <a:off x="914400" y="1748925"/>
            <a:ext cx="10360152" cy="457200"/>
          </a:xfrm>
          <a:prstGeom prst="rect">
            <a:avLst/>
          </a:prstGeom>
          <a:noFill/>
          <a:ln/>
        </p:spPr>
        <p:txBody>
          <a:bodyPr wrap="square" lIns="0" tIns="0" rIns="0" bIns="0" rtlCol="0" anchor="ctr"/>
          <a:lstStyle/>
          <a:p>
            <a:pPr marL="0" indent="0">
              <a:buNone/>
            </a:pPr>
            <a:r>
              <a:rPr lang="en-US" sz="1900" b="1" dirty="0">
                <a:solidFill>
                  <a:srgbClr val="E4572E"/>
                </a:solidFill>
                <a:latin typeface="Calibri" pitchFamily="34" charset="0"/>
                <a:ea typeface="Calibri" pitchFamily="34" charset="-122"/>
                <a:cs typeface="Calibri" pitchFamily="34" charset="-120"/>
              </a:rPr>
              <a:t>Nächstes Mal</a:t>
            </a:r>
            <a:endParaRPr lang="en-US" sz="1900" dirty="0"/>
          </a:p>
        </p:txBody>
      </p:sp>
      <p:sp>
        <p:nvSpPr>
          <p:cNvPr id="8" name="Text 6"/>
          <p:cNvSpPr txBox="1"/>
          <p:nvPr/>
        </p:nvSpPr>
        <p:spPr>
          <a:xfrm>
            <a:off x="914400" y="2233557"/>
            <a:ext cx="10360152" cy="960120"/>
          </a:xfrm>
          <a:prstGeom prst="rect">
            <a:avLst/>
          </a:prstGeom>
          <a:noFill/>
          <a:ln/>
        </p:spPr>
        <p:txBody>
          <a:bodyPr wrap="square" lIns="0" tIns="0" rIns="0" bIns="0" rtlCol="0" anchor="t"/>
          <a:lstStyle/>
          <a:p>
            <a:pPr marL="0" indent="0">
              <a:lnSpc>
                <a:spcPct val="110000"/>
              </a:lnSpc>
              <a:buNone/>
            </a:pPr>
            <a:r>
              <a:rPr lang="en-US" sz="2000" dirty="0">
                <a:solidFill>
                  <a:srgbClr val="1F2933"/>
                </a:solidFill>
                <a:latin typeface="Calibri" pitchFamily="34" charset="0"/>
                <a:ea typeface="Calibri" pitchFamily="34" charset="-122"/>
                <a:cs typeface="Calibri" pitchFamily="34" charset="-120"/>
              </a:rPr>
              <a:t>Nächste Woche: Wir planen ein Netz und lernen dabei ein Verfahren kennen.</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F76647348B379D4C8C69607D0161AF8A" ma:contentTypeVersion="3" ma:contentTypeDescription="Ein neues Dokument erstellen." ma:contentTypeScope="" ma:versionID="6a697bffcbd78b9fda0eba220daf1e9d">
  <xsd:schema xmlns:xsd="http://www.w3.org/2001/XMLSchema" xmlns:xs="http://www.w3.org/2001/XMLSchema" xmlns:p="http://schemas.microsoft.com/office/2006/metadata/properties" xmlns:ns2="bf2f3489-6e2b-4b6a-b220-b450f76d35fe" targetNamespace="http://schemas.microsoft.com/office/2006/metadata/properties" ma:root="true" ma:fieldsID="cc1d1b7c1632f7bb78749768a1a3d501" ns2:_="">
    <xsd:import namespace="bf2f3489-6e2b-4b6a-b220-b450f76d35f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2f3489-6e2b-4b6a-b220-b450f76d35f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6B42D2D-5D2D-4C6A-9FAA-342B440D0EAE}">
  <ds:schemaRefs>
    <ds:schemaRef ds:uri="http://schemas.microsoft.com/office/2006/documentManagement/types"/>
    <ds:schemaRef ds:uri="http://purl.org/dc/elements/1.1/"/>
    <ds:schemaRef ds:uri="bf2f3489-6e2b-4b6a-b220-b450f76d35fe"/>
    <ds:schemaRef ds:uri="http://purl.org/dc/dcmitype/"/>
    <ds:schemaRef ds:uri="http://www.w3.org/XML/1998/namespace"/>
    <ds:schemaRef ds:uri="http://purl.org/dc/term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85149569-BAEC-4927-A106-75CF502CB537}">
  <ds:schemaRefs>
    <ds:schemaRef ds:uri="http://schemas.microsoft.com/sharepoint/v3/contenttype/forms"/>
  </ds:schemaRefs>
</ds:datastoreItem>
</file>

<file path=customXml/itemProps3.xml><?xml version="1.0" encoding="utf-8"?>
<ds:datastoreItem xmlns:ds="http://schemas.openxmlformats.org/officeDocument/2006/customXml" ds:itemID="{64A4ABBE-6892-46F3-AC82-2531057CF3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f2f3489-6e2b-4b6a-b220-b450f76d35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1679</Words>
  <Application>Microsoft Macintosh PowerPoint</Application>
  <PresentationFormat>Breitbild</PresentationFormat>
  <Paragraphs>100</Paragraphs>
  <Slides>8</Slides>
  <Notes>8</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8</vt:i4>
      </vt:variant>
    </vt:vector>
  </HeadingPairs>
  <TitlesOfParts>
    <vt:vector size="11" baseType="lpstr">
      <vt:lpstr>Arial</vt:lpstr>
      <vt:lpstr>Calibri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Medien und Informatik, 1. Sek</dc:creator>
  <cp:lastModifiedBy>Schmid Jan PH Luzern Student/in</cp:lastModifiedBy>
  <cp:revision>6</cp:revision>
  <dcterms:created xsi:type="dcterms:W3CDTF">2026-09-14T12:19:38Z</dcterms:created>
  <dcterms:modified xsi:type="dcterms:W3CDTF">2026-10-19T18:12:16Z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0x010100F76647348B379D4C8C69607D0161AF8A</vt:lpwstr>
  </property>
</Properties>
</file>