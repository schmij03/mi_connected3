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Ankommen, ca. 1 Minute. Heute ist die letzte Lektion vor der Prüfung am Di 10.11.2026. Ablauf: Zuerst 1H (Wirkung von Fotos, 30 Minuten), danach Repetition mit Mini-Quiz und Prüfungsinfos (15 Minuten). Das Reisetagebuch (1I, Aufgabe 127) wird Hausaufgabe. Die Aufgaben 124 und 126 sind aus Zeitgründen gestrichen.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Zeitangaben ergeben 45 Minuten (6 + 8 + 7 + 6 + 3 + 12 + 3). Falls es knapp wird: Das Mini-Quiz auf vier Fragen kürzen (Fragen 3 und 5 zuerst streichen) und die Privatsphäre-Tipps nur vorlesen. Die Prüfungsinfos dürfen nicht entfallen.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Lernziele laut vorlesen (1 Minute). Alle drei Ziele werden in Prüfungsaufgabe 7 (Fotos: Chance, Risiko, Empfehlung, Wirkung, 6 Punkte) verlangt. Lehrplan 21: MI.1.1.e (Chancen und Risiken der Mediennutzung, Konsequenzen für das eigene Verhalten) und MI.1.1.f (Privatsphäre, Datenschutz). Die Formulierungen sind eigene Kurzfassungen: Vergleiche sie mit dem Lernzielblatt der Klasse.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5 Minuten mit Lernzielen. Das Video «Mein Onlinepost» liegt auf der Webplattform zu connected 3 (Kapitel 1H). Bitte vor der Lektion anschauen und prüfen, ob der Titel und die drei Beobachtungsfragen dazu passen, ich habe den Videoinhalt nicht gesehen. Nach dem Video: Zwei bis drei Antworten pro Frage im Plenum, kurz halten. Das Video führt zu Aufgabe 125 hin: Was ein Foto auslösen kann, hängt davon ab, wer es sieht. Lehrplan 21: MI.1.1.e.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Minuten. Aufgabe 125 im Arbeitsbuch zeigt acht Fotomotive (Landschaft, Gewalt oder Pranks, Party oder Konzert, Spassbild, Alkohol oder Drogen, Bikini oder nackter Oberkörper, Sport, politische Symbole). Die Lernenden versetzen sich in die Rolle einer Personalverantwortlichen. Wichtig: Es gibt nicht überall ein klares Urteil, die Stichwörter sind der eigentliche Lernertrag. Gib den Hinweis, dass die Begründung in der Prüfung wichtiger ist als das Urteil (Aufgabe 7). Aufgabe 126 ist als Differenzierung gestrichen.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4 Minuten. Zuerst die Klasse ihre Urteile nennen lassen (Handzeichen pro Motiv), erst danach die Folie als Vergleich zeigen. Die Einschätzungen folgen dem Handbuch zu Aufgabe 125: Landschaft unverfänglich, Sport tendenziell positiv, Party oder Konzert nicht pauschal negativ, Spassbilder je nach Branche, Alkohol und Drogen problematisch, Bikini oder nackter Oberkörper eher nicht im offiziellen Rahmen, politische Symbole vermeiden, Gewalt und Mobbing negativ. Die Streifen links markieren die Tendenz (grün positiv, orange kommt darauf an, rot negativ), der Text sagt es ebenfalls. Weiter mit den drei Einflüssen: Das «Kommt darauf an» führt dorthin.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 Minuten. Die drei Einflüsse stammen aus dem Handbuch zu 1H: Bilder wirken individuell und mehrdeutig, die Branche spielt eine Rolle und es zählt die Bandbreite der Fotos, die jemand zeigt. Schüler-Beispiele einholen: Welche Berufe kennt ihr, in denen eine Grimasse nichts ausmacht? Für die Prüfung: In Aufgabe 7 (Wirkung) genügt es, einen dieser Einflüsse zu nennen und mit einem Beispiel zu begründen.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Minuten Sammelauftrag, danach folgt die Musterliste (2 Minuten). Das ist ein Prüfungsvorbereiter: Aufgabe 7 verlangt eine Chance, ein Risiko, eine Empfehlung und die Wirkung eines Fotos (6 Punkte). Die Paare sollen schon jetzt so schreiben, wie sie es in der Prüfung müssen, nämlich ganze, kurze Sätze mit Begründung. Wer früh fertig ist, ergänzt eine zweite Empfehlung. Lehrplan 21: MI.1.1.e.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 Minuten. Erst die Ergebnisse der Paare einsammeln (drei bis vier Rückmeldungen), dann diese Musterliste zeigen und abgleichen. Sie ist keine vollständige Lösung, sondern ein Beispiel. Aus dem Handbuch stammen kaum löschbare Fotos (Screenshots, Gruppenchats), Cybermobbing, Einbruchsrisiko bei Ferienfotos und das Einverständnis der Mit-Abgebildeten. Die Empfehlung unten ist ein Beispiel für einen guten Prüfungssatz: Sie ist konkret und kann begründet werden. Verlangt in der Prüfung ist immer eine eigene Empfehlung, nicht dieser Wortlaut.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 Minuten, im Plenum vorlesen und mit je einem Beispiel kommentieren. Die vier Tipps entsprechen den Hinweisen im Handbuch zum Schutz der Privatsphäre: Profil privat, Nickname, keine Ortsangaben oder GPS-Daten, E-Mail und Telefonnummer nicht öffentlich. Frage die Klasse nach ihren Erfahrungen (Wer hat sein Profil schon auf privat gestellt?), ohne einzelne bloss zu stellen. Prüfungsbezug: Empfehlungen in Aufgabe 7 dürfen sich auf diese Tipps stützen. Lehrplan 21: MI.1.1.f.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 Minuten. Zeige der Klasse die Struktur der Prüfung, nicht die Fragen selbst. Grün hinterlegt sind die Aufgaben der Grundanforderung (Aufgaben 1, 2, 3, 4 und 8, zusammen 18 Punkte). Es ist wichtig, dass die Klasse versteht: Diese Aufgaben sind der sichere Weg zu einer genügenden Leistung. Die Aufgabe 5 (Prim) und Aufgabe 7 (Fotos) bringen mit je 6 Punkten am meisten und lohnen sich beim Üben. Überleitung zum Mini-Quiz: Prüft, ob ihr diese Themen im Kopf habt.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Minuten für die Fragen, danach 4 Minuten für die Lösungen (nächste Folie). Die Paare schreiben ihre Antworten auf einen Notizzettel, nicht ins Heft, damit es niedrigschwellig bleibt. Jede Frage deckt ein Teilkapitel ab: Frage 1 gehört zu 1B, Frage 2 zu 1C, Frage 3 zu 1E, Frage 4 zu 1F, Frage 5 zu 1G und Frage 6 zu 1H. Es sind eigene Fragen und nicht Prüfungsfragen. Wer früh fertig ist, formuliert eine eigene Prüfungsfrage zu Kapitel 1 und tauscht sie mit einem anderen Paar.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Minuten. Pro Frage ein Paar antworten lassen, die anderen ergänzen. Mehrere Antworten sind möglich, die Folie zeigt nur Beispiele. Bei Frage 2 hängt die Antwort davon ab, welche Kriterien ihr in 1C erarbeitet habt: Bitte mit eurem Heft abgleichen und die Folie anpassen. Bei Frage 3 gilt die Regel: Ein Plan, der alle Standorte verbindet und keinen Kreis enthält, hat immer einen Standort mehr als Verbindungen (n minus 1). Fragen, die oft falsch waren, bitte notieren und in der Prüfungsvorbereitung wieder aufgreifen.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 Minuten. Die Note berechnet sich nach der Formel 1 + 5 × erreichte Punkte / 34, die Note 4 liegt bei 20,5 Punkten. Die Grundanforderungen sind die Aufgaben 1, 2, 3, 4 und 8 (18 Punkte): Wer sie sicher kann, hat eine solide Basis. Lerntipp: Zum Üben eignen sich die Aufgaben im Arbeitsbuch, die Hefteinträge und das Mini-Quiz von heute. Das Reisetagebuch (1I, Aufgabe 127) ist die Hausaufgabe, weil im Unterricht keine Zeit mehr bleibt: Es fasst die Reise durch Kapitel 1 zusammen und ist selbst eine gute Repetition. Zum Schluss Fragen klären und die Klasse verabschieden.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304D"/>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41"/>
            <a:ext cx="10566400" cy="4196159"/>
          </a:xfrm>
          <a:prstGeom prst="rect">
            <a:avLst/>
          </a:prstGeom>
          <a:noFill/>
          <a:ln/>
        </p:spPr>
        <p:txBody>
          <a:bodyPr wrap="square" lIns="0" tIns="0" rIns="0" bIns="0" rtlCol="0" anchor="t"/>
          <a:lstStyle>
            <a:lvl1pPr algn="l" indent="0" marL="0">
              <a:lnSpc>
                <a:spcPct val="140000"/>
              </a:lnSpc>
              <a:buNone/>
              <a:defRPr lang="en-US" sz="1600" dirty="0">
                <a:solidFill>
                  <a:srgbClr val="14304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304D"/>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41"/>
            <a:ext cx="10566400" cy="4196159"/>
          </a:xfrm>
          <a:prstGeom prst="rect">
            <a:avLst/>
          </a:prstGeom>
          <a:noFill/>
          <a:ln/>
        </p:spPr>
        <p:txBody>
          <a:bodyPr wrap="square" lIns="0" tIns="0" rIns="0" bIns="0" rtlCol="0" anchor="t"/>
          <a:lstStyle>
            <a:lvl1pPr algn="l" indent="0" marL="0">
              <a:lnSpc>
                <a:spcPct val="140000"/>
              </a:lnSpc>
              <a:buNone/>
              <a:defRPr lang="en-US" sz="1600" dirty="0">
                <a:solidFill>
                  <a:srgbClr val="14304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4D"/>
        </a:solidFill>
      </p:bgPr>
    </p:bg>
    <p:spTree>
      <p:nvGrpSpPr>
        <p:cNvPr id="1" name=""/>
        <p:cNvGrpSpPr/>
        <p:nvPr/>
      </p:nvGrpSpPr>
      <p:grpSpPr>
        <a:xfrm>
          <a:off x="0" y="0"/>
          <a:ext cx="0" cy="0"/>
          <a:chOff x="0" y="0"/>
          <a:chExt cx="0" cy="0"/>
        </a:xfrm>
      </p:grpSpPr>
      <p:pic>
        <p:nvPicPr>
          <p:cNvPr id="2" name="Image 0" descr="Search">    </p:cNvPr>
          <p:cNvPicPr>
            <a:picLocks noChangeAspect="1"/>
          </p:cNvPicPr>
          <p:nvPr/>
        </p:nvPicPr>
        <p:blipFill>
          <a:blip r:embed="rId1"/>
          <a:srcRect l="0" r="0" t="0" b="0"/>
          <a:stretch/>
        </p:blipFill>
        <p:spPr>
          <a:xfrm>
            <a:off x="10109200" y="812800"/>
            <a:ext cx="1270000" cy="1270000"/>
          </a:xfrm>
          <a:prstGeom prst="rect">
            <a:avLst/>
          </a:prstGeom>
        </p:spPr>
      </p:pic>
      <p:sp>
        <p:nvSpPr>
          <p:cNvPr id="3" name="Text 0"/>
          <p:cNvSpPr/>
          <p:nvPr/>
        </p:nvSpPr>
        <p:spPr>
          <a:xfrm>
            <a:off x="812800" y="24867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MEDIEN UND INFORMATIK · 1. SEK · DI 03.11.2026</a:t>
            </a:r>
            <a:endParaRPr lang="en-US" sz="1200" dirty="0"/>
          </a:p>
        </p:txBody>
      </p:sp>
      <p:sp>
        <p:nvSpPr>
          <p:cNvPr id="4" name="Text 1"/>
          <p:cNvSpPr/>
          <p:nvPr>
            <p:ph type="title"/>
          </p:nvPr>
        </p:nvSpPr>
        <p:spPr>
          <a:xfrm>
            <a:off x="812800" y="290324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E"/>
                </a:solidFill>
                <a:latin typeface="Domine" pitchFamily="18" charset="0"/>
                <a:ea typeface="Domine" pitchFamily="18" charset="-122"/>
                <a:cs typeface="Domine" pitchFamily="18" charset="-120"/>
              </a:rPr>
              <a:t>Aufmerksamkeit um jeden Preis?</a:t>
            </a:r>
            <a:endParaRPr lang="en-US" sz="4800" dirty="0"/>
          </a:p>
        </p:txBody>
      </p:sp>
      <p:sp>
        <p:nvSpPr>
          <p:cNvPr id="5" name="Text 2"/>
          <p:cNvSpPr/>
          <p:nvPr/>
        </p:nvSpPr>
        <p:spPr>
          <a:xfrm>
            <a:off x="812800" y="377696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3D5E0"/>
                </a:solidFill>
                <a:latin typeface="Nunito Sans" pitchFamily="34" charset="0"/>
                <a:ea typeface="Nunito Sans" pitchFamily="34" charset="-122"/>
                <a:cs typeface="Nunito Sans" pitchFamily="34" charset="-120"/>
              </a:rPr>
              <a:t>Wirkung von Fotos, Repetition und Prüfungsinfos: 1H und 1I</a:t>
            </a:r>
            <a:endParaRPr lang="en-US" sz="22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Kapitel 1 · Eine Entdeckungsreise durch das Internet · Prüfung am Dienstag, 10.11.2026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HEUTE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Ablauf der Lektion</a:t>
            </a:r>
            <a:endParaRPr lang="en-US" sz="3200" dirty="0"/>
          </a:p>
        </p:txBody>
      </p:sp>
      <p:sp>
        <p:nvSpPr>
          <p:cNvPr id="4" name="Shape 2"/>
          <p:cNvSpPr/>
          <p:nvPr/>
        </p:nvSpPr>
        <p:spPr>
          <a:xfrm>
            <a:off x="815975" y="1750616"/>
            <a:ext cx="10560050" cy="468610"/>
          </a:xfrm>
          <a:prstGeom prst="roundRect">
            <a:avLst>
              <a:gd name="adj" fmla="val 21004"/>
            </a:avLst>
          </a:prstGeom>
          <a:solidFill>
            <a:srgbClr val="FCFBF7"/>
          </a:solidFill>
          <a:ln w="6350">
            <a:solidFill>
              <a:srgbClr val="D9DEDF"/>
            </a:solidFill>
            <a:prstDash val="solid"/>
          </a:ln>
        </p:spPr>
      </p:sp>
      <p:sp>
        <p:nvSpPr>
          <p:cNvPr id="5" name="Text 3"/>
          <p:cNvSpPr/>
          <p:nvPr/>
        </p:nvSpPr>
        <p:spPr>
          <a:xfrm>
            <a:off x="1022350" y="184269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6 Min</a:t>
            </a:r>
            <a:endParaRPr lang="en-US" sz="1600" dirty="0"/>
          </a:p>
        </p:txBody>
      </p:sp>
      <p:sp>
        <p:nvSpPr>
          <p:cNvPr id="6" name="Text 4"/>
          <p:cNvSpPr/>
          <p:nvPr/>
        </p:nvSpPr>
        <p:spPr>
          <a:xfrm>
            <a:off x="2051050" y="184269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Einstieg</a:t>
            </a:r>
            <a:endParaRPr lang="en-US" sz="1600" dirty="0"/>
          </a:p>
        </p:txBody>
      </p:sp>
      <p:sp>
        <p:nvSpPr>
          <p:cNvPr id="7" name="Text 5"/>
          <p:cNvSpPr/>
          <p:nvPr/>
        </p:nvSpPr>
        <p:spPr>
          <a:xfrm>
            <a:off x="5302250" y="184269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Lernziele, Video «Mein Onlinepost»</a:t>
            </a:r>
            <a:endParaRPr lang="en-US" sz="1600" dirty="0"/>
          </a:p>
        </p:txBody>
      </p:sp>
      <p:sp>
        <p:nvSpPr>
          <p:cNvPr id="8" name="Shape 6"/>
          <p:cNvSpPr/>
          <p:nvPr/>
        </p:nvSpPr>
        <p:spPr>
          <a:xfrm>
            <a:off x="815975" y="2301776"/>
            <a:ext cx="10560050" cy="468610"/>
          </a:xfrm>
          <a:prstGeom prst="roundRect">
            <a:avLst>
              <a:gd name="adj" fmla="val 21004"/>
            </a:avLst>
          </a:prstGeom>
          <a:solidFill>
            <a:srgbClr val="FCFBF7"/>
          </a:solidFill>
          <a:ln w="6350">
            <a:solidFill>
              <a:srgbClr val="D9DEDF"/>
            </a:solidFill>
            <a:prstDash val="solid"/>
          </a:ln>
        </p:spPr>
      </p:sp>
      <p:sp>
        <p:nvSpPr>
          <p:cNvPr id="9" name="Text 7"/>
          <p:cNvSpPr/>
          <p:nvPr/>
        </p:nvSpPr>
        <p:spPr>
          <a:xfrm>
            <a:off x="1022350" y="239385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8 Min</a:t>
            </a:r>
            <a:endParaRPr lang="en-US" sz="1600" dirty="0"/>
          </a:p>
        </p:txBody>
      </p:sp>
      <p:sp>
        <p:nvSpPr>
          <p:cNvPr id="10" name="Text 8"/>
          <p:cNvSpPr/>
          <p:nvPr/>
        </p:nvSpPr>
        <p:spPr>
          <a:xfrm>
            <a:off x="2051050" y="239385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Fotos beurteilen</a:t>
            </a:r>
            <a:endParaRPr lang="en-US" sz="1600" dirty="0"/>
          </a:p>
        </p:txBody>
      </p:sp>
      <p:sp>
        <p:nvSpPr>
          <p:cNvPr id="11" name="Text 9"/>
          <p:cNvSpPr/>
          <p:nvPr/>
        </p:nvSpPr>
        <p:spPr>
          <a:xfrm>
            <a:off x="5302250" y="239385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Aufgabe 125, acht Fotomotive</a:t>
            </a:r>
            <a:endParaRPr lang="en-US" sz="1600" dirty="0"/>
          </a:p>
        </p:txBody>
      </p:sp>
      <p:sp>
        <p:nvSpPr>
          <p:cNvPr id="12" name="Shape 10"/>
          <p:cNvSpPr/>
          <p:nvPr/>
        </p:nvSpPr>
        <p:spPr>
          <a:xfrm>
            <a:off x="815975" y="2852936"/>
            <a:ext cx="10560050" cy="468610"/>
          </a:xfrm>
          <a:prstGeom prst="roundRect">
            <a:avLst>
              <a:gd name="adj" fmla="val 21004"/>
            </a:avLst>
          </a:prstGeom>
          <a:solidFill>
            <a:srgbClr val="FCFBF7"/>
          </a:solidFill>
          <a:ln w="6350">
            <a:solidFill>
              <a:srgbClr val="D9DEDF"/>
            </a:solidFill>
            <a:prstDash val="solid"/>
          </a:ln>
        </p:spPr>
      </p:sp>
      <p:sp>
        <p:nvSpPr>
          <p:cNvPr id="13" name="Text 11"/>
          <p:cNvSpPr/>
          <p:nvPr/>
        </p:nvSpPr>
        <p:spPr>
          <a:xfrm>
            <a:off x="1022350" y="294501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7 Min</a:t>
            </a:r>
            <a:endParaRPr lang="en-US" sz="1600" dirty="0"/>
          </a:p>
        </p:txBody>
      </p:sp>
      <p:sp>
        <p:nvSpPr>
          <p:cNvPr id="14" name="Text 12"/>
          <p:cNvSpPr/>
          <p:nvPr/>
        </p:nvSpPr>
        <p:spPr>
          <a:xfrm>
            <a:off x="2051050" y="294501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Auswertung</a:t>
            </a:r>
            <a:endParaRPr lang="en-US" sz="1600" dirty="0"/>
          </a:p>
        </p:txBody>
      </p:sp>
      <p:sp>
        <p:nvSpPr>
          <p:cNvPr id="15" name="Text 13"/>
          <p:cNvSpPr/>
          <p:nvPr/>
        </p:nvSpPr>
        <p:spPr>
          <a:xfrm>
            <a:off x="5302250" y="294501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Wie wirken Fotos? Drei Einflüsse</a:t>
            </a:r>
            <a:endParaRPr lang="en-US" sz="1600" dirty="0"/>
          </a:p>
        </p:txBody>
      </p:sp>
      <p:sp>
        <p:nvSpPr>
          <p:cNvPr id="16" name="Shape 14"/>
          <p:cNvSpPr/>
          <p:nvPr/>
        </p:nvSpPr>
        <p:spPr>
          <a:xfrm>
            <a:off x="815975" y="3404096"/>
            <a:ext cx="10560050" cy="468610"/>
          </a:xfrm>
          <a:prstGeom prst="roundRect">
            <a:avLst>
              <a:gd name="adj" fmla="val 21004"/>
            </a:avLst>
          </a:prstGeom>
          <a:solidFill>
            <a:srgbClr val="FCFBF7"/>
          </a:solidFill>
          <a:ln w="6350">
            <a:solidFill>
              <a:srgbClr val="D9DEDF"/>
            </a:solidFill>
            <a:prstDash val="solid"/>
          </a:ln>
        </p:spPr>
      </p:sp>
      <p:sp>
        <p:nvSpPr>
          <p:cNvPr id="17" name="Text 15"/>
          <p:cNvSpPr/>
          <p:nvPr/>
        </p:nvSpPr>
        <p:spPr>
          <a:xfrm>
            <a:off x="1022350" y="349617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6 Min</a:t>
            </a:r>
            <a:endParaRPr lang="en-US" sz="1600" dirty="0"/>
          </a:p>
        </p:txBody>
      </p:sp>
      <p:sp>
        <p:nvSpPr>
          <p:cNvPr id="18" name="Text 16"/>
          <p:cNvSpPr/>
          <p:nvPr/>
        </p:nvSpPr>
        <p:spPr>
          <a:xfrm>
            <a:off x="2051050" y="349617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Chancen und Risiken</a:t>
            </a:r>
            <a:endParaRPr lang="en-US" sz="1600" dirty="0"/>
          </a:p>
        </p:txBody>
      </p:sp>
      <p:sp>
        <p:nvSpPr>
          <p:cNvPr id="19" name="Text 17"/>
          <p:cNvSpPr/>
          <p:nvPr/>
        </p:nvSpPr>
        <p:spPr>
          <a:xfrm>
            <a:off x="5302250" y="349617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Sammeln und vergleichen</a:t>
            </a:r>
            <a:endParaRPr lang="en-US" sz="1600" dirty="0"/>
          </a:p>
        </p:txBody>
      </p:sp>
      <p:sp>
        <p:nvSpPr>
          <p:cNvPr id="20" name="Shape 18"/>
          <p:cNvSpPr/>
          <p:nvPr/>
        </p:nvSpPr>
        <p:spPr>
          <a:xfrm>
            <a:off x="815975" y="3955256"/>
            <a:ext cx="10560050" cy="468610"/>
          </a:xfrm>
          <a:prstGeom prst="roundRect">
            <a:avLst>
              <a:gd name="adj" fmla="val 21004"/>
            </a:avLst>
          </a:prstGeom>
          <a:solidFill>
            <a:srgbClr val="FCFBF7"/>
          </a:solidFill>
          <a:ln w="6350">
            <a:solidFill>
              <a:srgbClr val="D9DEDF"/>
            </a:solidFill>
            <a:prstDash val="solid"/>
          </a:ln>
        </p:spPr>
      </p:sp>
      <p:sp>
        <p:nvSpPr>
          <p:cNvPr id="21" name="Text 19"/>
          <p:cNvSpPr/>
          <p:nvPr/>
        </p:nvSpPr>
        <p:spPr>
          <a:xfrm>
            <a:off x="1022350" y="404733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3 Min</a:t>
            </a:r>
            <a:endParaRPr lang="en-US" sz="1600" dirty="0"/>
          </a:p>
        </p:txBody>
      </p:sp>
      <p:sp>
        <p:nvSpPr>
          <p:cNvPr id="22" name="Text 20"/>
          <p:cNvSpPr/>
          <p:nvPr/>
        </p:nvSpPr>
        <p:spPr>
          <a:xfrm>
            <a:off x="2051050" y="404733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Privatsphäre</a:t>
            </a:r>
            <a:endParaRPr lang="en-US" sz="1600" dirty="0"/>
          </a:p>
        </p:txBody>
      </p:sp>
      <p:sp>
        <p:nvSpPr>
          <p:cNvPr id="23" name="Text 21"/>
          <p:cNvSpPr/>
          <p:nvPr/>
        </p:nvSpPr>
        <p:spPr>
          <a:xfrm>
            <a:off x="5302250" y="404733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Vier Tipps für sichere Profile</a:t>
            </a:r>
            <a:endParaRPr lang="en-US" sz="1600" dirty="0"/>
          </a:p>
        </p:txBody>
      </p:sp>
      <p:sp>
        <p:nvSpPr>
          <p:cNvPr id="24" name="Shape 22"/>
          <p:cNvSpPr/>
          <p:nvPr/>
        </p:nvSpPr>
        <p:spPr>
          <a:xfrm>
            <a:off x="815975" y="4506416"/>
            <a:ext cx="10560050" cy="468610"/>
          </a:xfrm>
          <a:prstGeom prst="roundRect">
            <a:avLst>
              <a:gd name="adj" fmla="val 21004"/>
            </a:avLst>
          </a:prstGeom>
          <a:solidFill>
            <a:srgbClr val="FCFBF7"/>
          </a:solidFill>
          <a:ln w="6350">
            <a:solidFill>
              <a:srgbClr val="D9DEDF"/>
            </a:solidFill>
            <a:prstDash val="solid"/>
          </a:ln>
        </p:spPr>
      </p:sp>
      <p:sp>
        <p:nvSpPr>
          <p:cNvPr id="25" name="Text 23"/>
          <p:cNvSpPr/>
          <p:nvPr/>
        </p:nvSpPr>
        <p:spPr>
          <a:xfrm>
            <a:off x="1022350" y="459849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12 Min</a:t>
            </a:r>
            <a:endParaRPr lang="en-US" sz="1600" dirty="0"/>
          </a:p>
        </p:txBody>
      </p:sp>
      <p:sp>
        <p:nvSpPr>
          <p:cNvPr id="26" name="Text 24"/>
          <p:cNvSpPr/>
          <p:nvPr/>
        </p:nvSpPr>
        <p:spPr>
          <a:xfrm>
            <a:off x="2051050" y="459849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Repetition</a:t>
            </a:r>
            <a:endParaRPr lang="en-US" sz="1600" dirty="0"/>
          </a:p>
        </p:txBody>
      </p:sp>
      <p:sp>
        <p:nvSpPr>
          <p:cNvPr id="27" name="Text 25"/>
          <p:cNvSpPr/>
          <p:nvPr/>
        </p:nvSpPr>
        <p:spPr>
          <a:xfrm>
            <a:off x="5302250" y="459849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Was kommt in der Prüfung? Mini-Quiz</a:t>
            </a:r>
            <a:endParaRPr lang="en-US" sz="1600" dirty="0"/>
          </a:p>
        </p:txBody>
      </p:sp>
      <p:sp>
        <p:nvSpPr>
          <p:cNvPr id="28" name="Shape 26"/>
          <p:cNvSpPr/>
          <p:nvPr/>
        </p:nvSpPr>
        <p:spPr>
          <a:xfrm>
            <a:off x="815975" y="5057577"/>
            <a:ext cx="10560050" cy="468610"/>
          </a:xfrm>
          <a:prstGeom prst="roundRect">
            <a:avLst>
              <a:gd name="adj" fmla="val 21004"/>
            </a:avLst>
          </a:prstGeom>
          <a:solidFill>
            <a:srgbClr val="FCFBF7"/>
          </a:solidFill>
          <a:ln w="6350">
            <a:solidFill>
              <a:srgbClr val="D9DEDF"/>
            </a:solidFill>
            <a:prstDash val="solid"/>
          </a:ln>
        </p:spPr>
      </p:sp>
      <p:sp>
        <p:nvSpPr>
          <p:cNvPr id="29" name="Text 27"/>
          <p:cNvSpPr/>
          <p:nvPr/>
        </p:nvSpPr>
        <p:spPr>
          <a:xfrm>
            <a:off x="1022350" y="5149652"/>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3 Min</a:t>
            </a:r>
            <a:endParaRPr lang="en-US" sz="1600" dirty="0"/>
          </a:p>
        </p:txBody>
      </p:sp>
      <p:sp>
        <p:nvSpPr>
          <p:cNvPr id="30" name="Text 28"/>
          <p:cNvSpPr/>
          <p:nvPr/>
        </p:nvSpPr>
        <p:spPr>
          <a:xfrm>
            <a:off x="2051050" y="5149652"/>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Prüfungsinfos</a:t>
            </a:r>
            <a:endParaRPr lang="en-US" sz="1600" dirty="0"/>
          </a:p>
        </p:txBody>
      </p:sp>
      <p:sp>
        <p:nvSpPr>
          <p:cNvPr id="31" name="Text 29"/>
          <p:cNvSpPr/>
          <p:nvPr/>
        </p:nvSpPr>
        <p:spPr>
          <a:xfrm>
            <a:off x="5302250" y="5149652"/>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Ablauf, Bewertung, Hausaufgabe</a:t>
            </a:r>
            <a:endParaRPr lang="en-US" sz="1600" dirty="0"/>
          </a:p>
        </p:txBody>
      </p:sp>
      <p:sp>
        <p:nvSpPr>
          <p:cNvPr id="32" name="Text 3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33" name="Text 3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LERNZIELE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kannst du am Ende der Lektion</a:t>
            </a:r>
            <a:endParaRPr lang="en-US" sz="3200" dirty="0"/>
          </a:p>
        </p:txBody>
      </p:sp>
      <p:sp>
        <p:nvSpPr>
          <p:cNvPr id="4" name="Shape 2"/>
          <p:cNvSpPr/>
          <p:nvPr/>
        </p:nvSpPr>
        <p:spPr>
          <a:xfrm>
            <a:off x="815975" y="1750616"/>
            <a:ext cx="10560050" cy="666750"/>
          </a:xfrm>
          <a:prstGeom prst="roundRect">
            <a:avLst>
              <a:gd name="adj" fmla="val 14762"/>
            </a:avLst>
          </a:prstGeom>
          <a:solidFill>
            <a:srgbClr val="FCFBF7"/>
          </a:solidFill>
          <a:ln w="6350">
            <a:solidFill>
              <a:srgbClr val="D9DEDF"/>
            </a:solidFill>
            <a:prstDash val="solid"/>
          </a:ln>
        </p:spPr>
      </p:sp>
      <p:pic>
        <p:nvPicPr>
          <p:cNvPr id="5" name="Image 0" descr="Check">    </p:cNvPr>
          <p:cNvPicPr>
            <a:picLocks noChangeAspect="1"/>
          </p:cNvPicPr>
          <p:nvPr/>
        </p:nvPicPr>
        <p:blipFill>
          <a:blip r:embed="rId1"/>
          <a:srcRect l="0" r="0" t="0" b="0"/>
          <a:stretch/>
        </p:blipFill>
        <p:spPr>
          <a:xfrm>
            <a:off x="1022350" y="1906191"/>
            <a:ext cx="355600" cy="355600"/>
          </a:xfrm>
          <a:prstGeom prst="rect">
            <a:avLst/>
          </a:prstGeom>
        </p:spPr>
      </p:pic>
      <p:sp>
        <p:nvSpPr>
          <p:cNvPr id="6" name="Text 3"/>
          <p:cNvSpPr/>
          <p:nvPr/>
        </p:nvSpPr>
        <p:spPr>
          <a:xfrm>
            <a:off x="1555750" y="1941711"/>
            <a:ext cx="948372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Du beurteilst, wie geposteten Fotos auf andere wirken, zum Beispiel auf Personalverantwortliche.</a:t>
            </a:r>
            <a:endParaRPr lang="en-US" sz="1600" dirty="0"/>
          </a:p>
        </p:txBody>
      </p:sp>
      <p:sp>
        <p:nvSpPr>
          <p:cNvPr id="7" name="Shape 4"/>
          <p:cNvSpPr/>
          <p:nvPr/>
        </p:nvSpPr>
        <p:spPr>
          <a:xfrm>
            <a:off x="815975" y="2576116"/>
            <a:ext cx="10560050" cy="666750"/>
          </a:xfrm>
          <a:prstGeom prst="roundRect">
            <a:avLst>
              <a:gd name="adj" fmla="val 14762"/>
            </a:avLst>
          </a:prstGeom>
          <a:solidFill>
            <a:srgbClr val="FCFBF7"/>
          </a:solidFill>
          <a:ln w="6350">
            <a:solidFill>
              <a:srgbClr val="D9DEDF"/>
            </a:solidFill>
            <a:prstDash val="solid"/>
          </a:ln>
        </p:spPr>
      </p:sp>
      <p:pic>
        <p:nvPicPr>
          <p:cNvPr id="8" name="Image 1" descr="Check">    </p:cNvPr>
          <p:cNvPicPr>
            <a:picLocks noChangeAspect="1"/>
          </p:cNvPicPr>
          <p:nvPr/>
        </p:nvPicPr>
        <p:blipFill>
          <a:blip r:embed="rId2"/>
          <a:srcRect l="0" r="0" t="0" b="0"/>
          <a:stretch/>
        </p:blipFill>
        <p:spPr>
          <a:xfrm>
            <a:off x="1022350" y="2731691"/>
            <a:ext cx="355600" cy="355600"/>
          </a:xfrm>
          <a:prstGeom prst="rect">
            <a:avLst/>
          </a:prstGeom>
        </p:spPr>
      </p:pic>
      <p:sp>
        <p:nvSpPr>
          <p:cNvPr id="9" name="Text 5"/>
          <p:cNvSpPr/>
          <p:nvPr/>
        </p:nvSpPr>
        <p:spPr>
          <a:xfrm>
            <a:off x="1555750" y="2767211"/>
            <a:ext cx="948372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Du nennst Chancen und Risiken beim Posten von Fotos und gibst eine Empfehlung ab.</a:t>
            </a:r>
            <a:endParaRPr lang="en-US" sz="1600" dirty="0"/>
          </a:p>
        </p:txBody>
      </p:sp>
      <p:sp>
        <p:nvSpPr>
          <p:cNvPr id="10" name="Shape 6"/>
          <p:cNvSpPr/>
          <p:nvPr/>
        </p:nvSpPr>
        <p:spPr>
          <a:xfrm>
            <a:off x="815975" y="3401616"/>
            <a:ext cx="10560050" cy="666750"/>
          </a:xfrm>
          <a:prstGeom prst="roundRect">
            <a:avLst>
              <a:gd name="adj" fmla="val 14762"/>
            </a:avLst>
          </a:prstGeom>
          <a:solidFill>
            <a:srgbClr val="FCFBF7"/>
          </a:solidFill>
          <a:ln w="6350">
            <a:solidFill>
              <a:srgbClr val="D9DEDF"/>
            </a:solidFill>
            <a:prstDash val="solid"/>
          </a:ln>
        </p:spPr>
      </p:sp>
      <p:pic>
        <p:nvPicPr>
          <p:cNvPr id="11" name="Image 2" descr="Check">    </p:cNvPr>
          <p:cNvPicPr>
            <a:picLocks noChangeAspect="1"/>
          </p:cNvPicPr>
          <p:nvPr/>
        </p:nvPicPr>
        <p:blipFill>
          <a:blip r:embed="rId3"/>
          <a:srcRect l="0" r="0" t="0" b="0"/>
          <a:stretch/>
        </p:blipFill>
        <p:spPr>
          <a:xfrm>
            <a:off x="1022350" y="3557191"/>
            <a:ext cx="355600" cy="355600"/>
          </a:xfrm>
          <a:prstGeom prst="rect">
            <a:avLst/>
          </a:prstGeom>
        </p:spPr>
      </p:pic>
      <p:sp>
        <p:nvSpPr>
          <p:cNvPr id="12" name="Text 7"/>
          <p:cNvSpPr/>
          <p:nvPr/>
        </p:nvSpPr>
        <p:spPr>
          <a:xfrm>
            <a:off x="1555750" y="3592711"/>
            <a:ext cx="948372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Du weisst, wie du deine Privatsphäre in sozialen Netzwerken schützt.</a:t>
            </a:r>
            <a:endParaRPr lang="en-US" sz="1600" dirty="0"/>
          </a:p>
        </p:txBody>
      </p:sp>
      <p:sp>
        <p:nvSpPr>
          <p:cNvPr id="13"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4" name="Text 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04D"/>
        </a:solidFill>
      </p:bgPr>
    </p:bg>
    <p:spTree>
      <p:nvGrpSpPr>
        <p:cNvPr id="1" name=""/>
        <p:cNvGrpSpPr/>
        <p:nvPr/>
      </p:nvGrpSpPr>
      <p:grpSpPr>
        <a:xfrm>
          <a:off x="0" y="0"/>
          <a:ext cx="0" cy="0"/>
          <a:chOff x="0" y="0"/>
          <a:chExt cx="0" cy="0"/>
        </a:xfrm>
      </p:grpSpPr>
      <p:pic>
        <p:nvPicPr>
          <p:cNvPr id="2" name="Image 0" descr="Play">    </p:cNvPr>
          <p:cNvPicPr>
            <a:picLocks noChangeAspect="1"/>
          </p:cNvPicPr>
          <p:nvPr/>
        </p:nvPicPr>
        <p:blipFill>
          <a:blip r:embed="rId1"/>
          <a:srcRect l="0" r="0" t="0" b="0"/>
          <a:stretch/>
        </p:blipFill>
        <p:spPr>
          <a:xfrm>
            <a:off x="10363200" y="812800"/>
            <a:ext cx="1016000" cy="1016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1H AUFMERKSAMKEIT UM JEDEN PREIS? · 5 MIN</a:t>
            </a:r>
            <a:endParaRPr lang="en-US" sz="1200" dirty="0"/>
          </a:p>
        </p:txBody>
      </p:sp>
      <p:sp>
        <p:nvSpPr>
          <p:cNvPr id="4"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Domine" pitchFamily="18" charset="0"/>
                <a:ea typeface="Domine" pitchFamily="18" charset="-122"/>
                <a:cs typeface="Domine" pitchFamily="18" charset="-120"/>
              </a:rPr>
              <a:t>Video: «Mein Onlinepost»</a:t>
            </a:r>
            <a:endParaRPr lang="en-US" sz="3200" dirty="0"/>
          </a:p>
        </p:txBody>
      </p:sp>
      <p:sp>
        <p:nvSpPr>
          <p:cNvPr id="5" name="Text 2"/>
          <p:cNvSpPr/>
          <p:nvPr/>
        </p:nvSpPr>
        <p:spPr>
          <a:xfrm>
            <a:off x="812800" y="17474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3D5E0"/>
                </a:solidFill>
                <a:latin typeface="Nunito Sans" pitchFamily="34" charset="0"/>
                <a:ea typeface="Nunito Sans" pitchFamily="34" charset="-122"/>
                <a:cs typeface="Nunito Sans" pitchFamily="34" charset="-120"/>
              </a:rPr>
              <a:t>Dauer ca. 1,5 Minuten. Achtet beim Schauen auf diese drei Fragen.</a:t>
            </a:r>
            <a:endParaRPr lang="en-US" sz="1600" dirty="0"/>
          </a:p>
        </p:txBody>
      </p:sp>
      <p:sp>
        <p:nvSpPr>
          <p:cNvPr id="6" name="Shape 3"/>
          <p:cNvSpPr/>
          <p:nvPr/>
        </p:nvSpPr>
        <p:spPr>
          <a:xfrm>
            <a:off x="812800" y="2235101"/>
            <a:ext cx="10566400" cy="762000"/>
          </a:xfrm>
          <a:prstGeom prst="roundRect">
            <a:avLst>
              <a:gd name="adj" fmla="val 13333"/>
            </a:avLst>
          </a:prstGeom>
          <a:solidFill>
            <a:srgbClr val="1E4268"/>
          </a:solidFill>
          <a:ln/>
        </p:spPr>
      </p:sp>
      <p:sp>
        <p:nvSpPr>
          <p:cNvPr id="7" name="Text 4"/>
          <p:cNvSpPr/>
          <p:nvPr/>
        </p:nvSpPr>
        <p:spPr>
          <a:xfrm>
            <a:off x="1016000" y="238750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1</a:t>
            </a:r>
            <a:endParaRPr lang="en-US" sz="1600" dirty="0"/>
          </a:p>
        </p:txBody>
      </p:sp>
      <p:sp>
        <p:nvSpPr>
          <p:cNvPr id="8" name="Text 5"/>
          <p:cNvSpPr/>
          <p:nvPr/>
        </p:nvSpPr>
        <p:spPr>
          <a:xfrm>
            <a:off x="1651000" y="2473821"/>
            <a:ext cx="91567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Was wird gepostet?</a:t>
            </a:r>
            <a:endParaRPr lang="en-US" sz="1600" dirty="0"/>
          </a:p>
        </p:txBody>
      </p:sp>
      <p:sp>
        <p:nvSpPr>
          <p:cNvPr id="9" name="Shape 6"/>
          <p:cNvSpPr/>
          <p:nvPr/>
        </p:nvSpPr>
        <p:spPr>
          <a:xfrm>
            <a:off x="812800" y="3149501"/>
            <a:ext cx="10566400" cy="762000"/>
          </a:xfrm>
          <a:prstGeom prst="roundRect">
            <a:avLst>
              <a:gd name="adj" fmla="val 13333"/>
            </a:avLst>
          </a:prstGeom>
          <a:solidFill>
            <a:srgbClr val="1E4268"/>
          </a:solidFill>
          <a:ln/>
        </p:spPr>
      </p:sp>
      <p:sp>
        <p:nvSpPr>
          <p:cNvPr id="10" name="Text 7"/>
          <p:cNvSpPr/>
          <p:nvPr/>
        </p:nvSpPr>
        <p:spPr>
          <a:xfrm>
            <a:off x="1016000" y="330190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2</a:t>
            </a:r>
            <a:endParaRPr lang="en-US" sz="1600" dirty="0"/>
          </a:p>
        </p:txBody>
      </p:sp>
      <p:sp>
        <p:nvSpPr>
          <p:cNvPr id="11" name="Text 8"/>
          <p:cNvSpPr/>
          <p:nvPr/>
        </p:nvSpPr>
        <p:spPr>
          <a:xfrm>
            <a:off x="1651000" y="3388221"/>
            <a:ext cx="91567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Wer sieht den Post, und wer könnte ihn weiterverbreiten?</a:t>
            </a:r>
            <a:endParaRPr lang="en-US" sz="1600" dirty="0"/>
          </a:p>
        </p:txBody>
      </p:sp>
      <p:sp>
        <p:nvSpPr>
          <p:cNvPr id="12" name="Shape 9"/>
          <p:cNvSpPr/>
          <p:nvPr/>
        </p:nvSpPr>
        <p:spPr>
          <a:xfrm>
            <a:off x="812800" y="4063901"/>
            <a:ext cx="10566400" cy="762000"/>
          </a:xfrm>
          <a:prstGeom prst="roundRect">
            <a:avLst>
              <a:gd name="adj" fmla="val 13333"/>
            </a:avLst>
          </a:prstGeom>
          <a:solidFill>
            <a:srgbClr val="1E4268"/>
          </a:solidFill>
          <a:ln/>
        </p:spPr>
      </p:sp>
      <p:sp>
        <p:nvSpPr>
          <p:cNvPr id="13" name="Text 10"/>
          <p:cNvSpPr/>
          <p:nvPr/>
        </p:nvSpPr>
        <p:spPr>
          <a:xfrm>
            <a:off x="1016000" y="421630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3</a:t>
            </a:r>
            <a:endParaRPr lang="en-US" sz="1600" dirty="0"/>
          </a:p>
        </p:txBody>
      </p:sp>
      <p:sp>
        <p:nvSpPr>
          <p:cNvPr id="14" name="Text 11"/>
          <p:cNvSpPr/>
          <p:nvPr/>
        </p:nvSpPr>
        <p:spPr>
          <a:xfrm>
            <a:off x="1651000" y="4302621"/>
            <a:ext cx="91567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Was kann später daraus entstehen?</a:t>
            </a:r>
            <a:endParaRPr lang="en-US" sz="1600" dirty="0"/>
          </a:p>
        </p:txBody>
      </p:sp>
      <p:sp>
        <p:nvSpPr>
          <p:cNvPr id="15"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6" name="Text 1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AUFTRAG · 8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Welche Fotos würdest du posten?</a:t>
            </a:r>
            <a:endParaRPr lang="en-US" sz="3200" dirty="0"/>
          </a:p>
        </p:txBody>
      </p:sp>
      <p:sp>
        <p:nvSpPr>
          <p:cNvPr id="4" name="Text 2"/>
          <p:cNvSpPr/>
          <p:nvPr/>
        </p:nvSpPr>
        <p:spPr>
          <a:xfrm>
            <a:off x="812800" y="180330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747441"/>
            <a:ext cx="58864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4 Min, allein:</a:t>
            </a:r>
            <a:r>
              <a:rPr lang="en-US" sz="1600" dirty="0">
                <a:solidFill>
                  <a:srgbClr val="14304D"/>
                </a:solidFill>
                <a:latin typeface="Nunito Sans" pitchFamily="34" charset="0"/>
                <a:ea typeface="Nunito Sans" pitchFamily="34" charset="-122"/>
                <a:cs typeface="Nunito Sans" pitchFamily="34" charset="-120"/>
              </a:rPr>
              <a:t> Aufgabe 125. Beurteile die acht Fotomotive. Wie wirken sie auf eine Personalverantwortliche?</a:t>
            </a:r>
            <a:endParaRPr lang="en-US" sz="1600" dirty="0"/>
          </a:p>
        </p:txBody>
      </p:sp>
      <p:sp>
        <p:nvSpPr>
          <p:cNvPr id="6" name="Text 4"/>
          <p:cNvSpPr/>
          <p:nvPr/>
        </p:nvSpPr>
        <p:spPr>
          <a:xfrm>
            <a:off x="812800" y="255002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94161"/>
            <a:ext cx="58864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Pro Foto:</a:t>
            </a:r>
            <a:r>
              <a:rPr lang="en-US" sz="1600" dirty="0">
                <a:solidFill>
                  <a:srgbClr val="14304D"/>
                </a:solidFill>
                <a:latin typeface="Nunito Sans" pitchFamily="34" charset="0"/>
                <a:ea typeface="Nunito Sans" pitchFamily="34" charset="-122"/>
                <a:cs typeface="Nunito Sans" pitchFamily="34" charset="-120"/>
              </a:rPr>
              <a:t> Daumen hoch, seitwärts oder runter, dazu ein Stichwort.</a:t>
            </a:r>
            <a:endParaRPr lang="en-US" sz="1600" dirty="0"/>
          </a:p>
        </p:txBody>
      </p:sp>
      <p:sp>
        <p:nvSpPr>
          <p:cNvPr id="8" name="Text 6"/>
          <p:cNvSpPr/>
          <p:nvPr/>
        </p:nvSpPr>
        <p:spPr>
          <a:xfrm>
            <a:off x="812800" y="32967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240881"/>
            <a:ext cx="58864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4 Min, zu zweit:</a:t>
            </a:r>
            <a:r>
              <a:rPr lang="en-US" sz="1600" dirty="0">
                <a:solidFill>
                  <a:srgbClr val="14304D"/>
                </a:solidFill>
                <a:latin typeface="Nunito Sans" pitchFamily="34" charset="0"/>
                <a:ea typeface="Nunito Sans" pitchFamily="34" charset="-122"/>
                <a:cs typeface="Nunito Sans" pitchFamily="34" charset="-120"/>
              </a:rPr>
              <a:t> Vergleicht. Wo seid ihr verschiedener Meinung? Begründet.</a:t>
            </a:r>
            <a:endParaRPr lang="en-US" sz="1600" dirty="0"/>
          </a:p>
        </p:txBody>
      </p:sp>
      <p:sp>
        <p:nvSpPr>
          <p:cNvPr id="10" name="Shape 8"/>
          <p:cNvSpPr/>
          <p:nvPr/>
        </p:nvSpPr>
        <p:spPr>
          <a:xfrm>
            <a:off x="7470775" y="1750616"/>
            <a:ext cx="3905250" cy="2056011"/>
          </a:xfrm>
          <a:prstGeom prst="roundRect">
            <a:avLst>
              <a:gd name="adj" fmla="val 4787"/>
            </a:avLst>
          </a:prstGeom>
          <a:solidFill>
            <a:srgbClr val="FCFBF7"/>
          </a:solidFill>
          <a:ln w="6350">
            <a:solidFill>
              <a:srgbClr val="D9DEDF"/>
            </a:solidFill>
            <a:prstDash val="solid"/>
          </a:ln>
        </p:spPr>
      </p:sp>
      <p:sp>
        <p:nvSpPr>
          <p:cNvPr id="11" name="Text 9"/>
          <p:cNvSpPr/>
          <p:nvPr/>
        </p:nvSpPr>
        <p:spPr>
          <a:xfrm>
            <a:off x="7677150" y="1956991"/>
            <a:ext cx="359727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Dein Urteil</a:t>
            </a:r>
            <a:endParaRPr lang="en-US" sz="1600" dirty="0"/>
          </a:p>
        </p:txBody>
      </p:sp>
      <p:sp>
        <p:nvSpPr>
          <p:cNvPr id="12" name="Text 10"/>
          <p:cNvSpPr/>
          <p:nvPr/>
        </p:nvSpPr>
        <p:spPr>
          <a:xfrm>
            <a:off x="7677150" y="2343051"/>
            <a:ext cx="359727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Hoch:</a:t>
            </a:r>
            <a:r>
              <a:rPr lang="en-US" sz="1600" dirty="0">
                <a:solidFill>
                  <a:srgbClr val="14304D"/>
                </a:solidFill>
                <a:latin typeface="Nunito Sans" pitchFamily="34" charset="0"/>
                <a:ea typeface="Nunito Sans" pitchFamily="34" charset="-122"/>
                <a:cs typeface="Nunito Sans" pitchFamily="34" charset="-120"/>
              </a:rPr>
              <a:t> wirkt positiv</a:t>
            </a:r>
            <a:endParaRPr lang="en-US" sz="1600" dirty="0"/>
          </a:p>
        </p:txBody>
      </p:sp>
      <p:sp>
        <p:nvSpPr>
          <p:cNvPr id="13" name="Text 11"/>
          <p:cNvSpPr/>
          <p:nvPr/>
        </p:nvSpPr>
        <p:spPr>
          <a:xfrm>
            <a:off x="7677150" y="2729111"/>
            <a:ext cx="359727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Seitwärts:</a:t>
            </a:r>
            <a:r>
              <a:rPr lang="en-US" sz="1600" dirty="0">
                <a:solidFill>
                  <a:srgbClr val="14304D"/>
                </a:solidFill>
                <a:latin typeface="Nunito Sans" pitchFamily="34" charset="0"/>
                <a:ea typeface="Nunito Sans" pitchFamily="34" charset="-122"/>
                <a:cs typeface="Nunito Sans" pitchFamily="34" charset="-120"/>
              </a:rPr>
              <a:t> kommt darauf an</a:t>
            </a:r>
            <a:endParaRPr lang="en-US" sz="1600" dirty="0"/>
          </a:p>
        </p:txBody>
      </p:sp>
      <p:sp>
        <p:nvSpPr>
          <p:cNvPr id="14" name="Text 12"/>
          <p:cNvSpPr/>
          <p:nvPr/>
        </p:nvSpPr>
        <p:spPr>
          <a:xfrm>
            <a:off x="7677150" y="3115171"/>
            <a:ext cx="359727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Runter:</a:t>
            </a:r>
            <a:r>
              <a:rPr lang="en-US" sz="1600" dirty="0">
                <a:solidFill>
                  <a:srgbClr val="14304D"/>
                </a:solidFill>
                <a:latin typeface="Nunito Sans" pitchFamily="34" charset="0"/>
                <a:ea typeface="Nunito Sans" pitchFamily="34" charset="-122"/>
                <a:cs typeface="Nunito Sans" pitchFamily="34" charset="-120"/>
              </a:rPr>
              <a:t> wirkt negativ</a:t>
            </a:r>
            <a:endParaRPr lang="en-US" sz="1600" dirty="0"/>
          </a:p>
        </p:txBody>
      </p:sp>
      <p:sp>
        <p:nvSpPr>
          <p:cNvPr id="15"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AUSWERTUNG · 4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Wie wirken die acht Fotomotive?</a:t>
            </a:r>
            <a:endParaRPr lang="en-US" sz="3200" dirty="0"/>
          </a:p>
        </p:txBody>
      </p:sp>
      <p:sp>
        <p:nvSpPr>
          <p:cNvPr id="4" name="Shape 2"/>
          <p:cNvSpPr/>
          <p:nvPr/>
        </p:nvSpPr>
        <p:spPr>
          <a:xfrm>
            <a:off x="815975" y="1750616"/>
            <a:ext cx="5226050" cy="803870"/>
          </a:xfrm>
          <a:prstGeom prst="roundRect">
            <a:avLst>
              <a:gd name="adj" fmla="val 12244"/>
            </a:avLst>
          </a:prstGeom>
          <a:solidFill>
            <a:srgbClr val="FCFBF7"/>
          </a:solidFill>
          <a:ln w="6350">
            <a:solidFill>
              <a:srgbClr val="D9DEDF"/>
            </a:solidFill>
            <a:prstDash val="solid"/>
          </a:ln>
        </p:spPr>
      </p:sp>
      <p:sp>
        <p:nvSpPr>
          <p:cNvPr id="5" name="Shape 3"/>
          <p:cNvSpPr/>
          <p:nvPr/>
        </p:nvSpPr>
        <p:spPr>
          <a:xfrm>
            <a:off x="971550" y="1855391"/>
            <a:ext cx="76200" cy="594320"/>
          </a:xfrm>
          <a:prstGeom prst="roundRect">
            <a:avLst>
              <a:gd name="adj" fmla="val 50000"/>
            </a:avLst>
          </a:prstGeom>
          <a:solidFill>
            <a:srgbClr val="0B6E6E"/>
          </a:solidFill>
          <a:ln/>
        </p:spPr>
      </p:sp>
      <p:sp>
        <p:nvSpPr>
          <p:cNvPr id="6" name="Text 4"/>
          <p:cNvSpPr/>
          <p:nvPr/>
        </p:nvSpPr>
        <p:spPr>
          <a:xfrm>
            <a:off x="1200150" y="1855391"/>
            <a:ext cx="132804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Landschaft</a:t>
            </a:r>
            <a:endParaRPr lang="en-US" sz="1600" dirty="0"/>
          </a:p>
        </p:txBody>
      </p:sp>
      <p:sp>
        <p:nvSpPr>
          <p:cNvPr id="7" name="Text 5"/>
          <p:cNvSpPr/>
          <p:nvPr/>
        </p:nvSpPr>
        <p:spPr>
          <a:xfrm>
            <a:off x="1200150" y="2165251"/>
            <a:ext cx="15326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Unverfänglich</a:t>
            </a:r>
            <a:endParaRPr lang="en-US" sz="1600" dirty="0"/>
          </a:p>
        </p:txBody>
      </p:sp>
      <p:sp>
        <p:nvSpPr>
          <p:cNvPr id="8" name="Shape 6"/>
          <p:cNvSpPr/>
          <p:nvPr/>
        </p:nvSpPr>
        <p:spPr>
          <a:xfrm>
            <a:off x="6149975" y="1750616"/>
            <a:ext cx="5226050" cy="803870"/>
          </a:xfrm>
          <a:prstGeom prst="roundRect">
            <a:avLst>
              <a:gd name="adj" fmla="val 12244"/>
            </a:avLst>
          </a:prstGeom>
          <a:solidFill>
            <a:srgbClr val="FCFBF7"/>
          </a:solidFill>
          <a:ln w="6350">
            <a:solidFill>
              <a:srgbClr val="D9DEDF"/>
            </a:solidFill>
            <a:prstDash val="solid"/>
          </a:ln>
        </p:spPr>
      </p:sp>
      <p:sp>
        <p:nvSpPr>
          <p:cNvPr id="9" name="Shape 7"/>
          <p:cNvSpPr/>
          <p:nvPr/>
        </p:nvSpPr>
        <p:spPr>
          <a:xfrm>
            <a:off x="6305550" y="1855391"/>
            <a:ext cx="76200" cy="594320"/>
          </a:xfrm>
          <a:prstGeom prst="roundRect">
            <a:avLst>
              <a:gd name="adj" fmla="val 50000"/>
            </a:avLst>
          </a:prstGeom>
          <a:solidFill>
            <a:srgbClr val="0B6E6E"/>
          </a:solidFill>
          <a:ln/>
        </p:spPr>
      </p:sp>
      <p:sp>
        <p:nvSpPr>
          <p:cNvPr id="10" name="Text 8"/>
          <p:cNvSpPr/>
          <p:nvPr/>
        </p:nvSpPr>
        <p:spPr>
          <a:xfrm>
            <a:off x="6534150" y="1855391"/>
            <a:ext cx="174437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Sport</a:t>
            </a:r>
            <a:endParaRPr lang="en-US" sz="1600" dirty="0"/>
          </a:p>
        </p:txBody>
      </p:sp>
      <p:sp>
        <p:nvSpPr>
          <p:cNvPr id="11" name="Text 9"/>
          <p:cNvSpPr/>
          <p:nvPr/>
        </p:nvSpPr>
        <p:spPr>
          <a:xfrm>
            <a:off x="6534150" y="2165251"/>
            <a:ext cx="203227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Tendenziell positiv</a:t>
            </a:r>
            <a:endParaRPr lang="en-US" sz="1600" dirty="0"/>
          </a:p>
        </p:txBody>
      </p:sp>
      <p:sp>
        <p:nvSpPr>
          <p:cNvPr id="12" name="Shape 10"/>
          <p:cNvSpPr/>
          <p:nvPr/>
        </p:nvSpPr>
        <p:spPr>
          <a:xfrm>
            <a:off x="815975" y="2662436"/>
            <a:ext cx="5226050" cy="803870"/>
          </a:xfrm>
          <a:prstGeom prst="roundRect">
            <a:avLst>
              <a:gd name="adj" fmla="val 12244"/>
            </a:avLst>
          </a:prstGeom>
          <a:solidFill>
            <a:srgbClr val="FCFBF7"/>
          </a:solidFill>
          <a:ln w="6350">
            <a:solidFill>
              <a:srgbClr val="D9DEDF"/>
            </a:solidFill>
            <a:prstDash val="solid"/>
          </a:ln>
        </p:spPr>
      </p:sp>
      <p:sp>
        <p:nvSpPr>
          <p:cNvPr id="13" name="Shape 11"/>
          <p:cNvSpPr/>
          <p:nvPr/>
        </p:nvSpPr>
        <p:spPr>
          <a:xfrm>
            <a:off x="971550" y="2767211"/>
            <a:ext cx="76200" cy="594320"/>
          </a:xfrm>
          <a:prstGeom prst="roundRect">
            <a:avLst>
              <a:gd name="adj" fmla="val 50000"/>
            </a:avLst>
          </a:prstGeom>
          <a:solidFill>
            <a:srgbClr val="E39A3B"/>
          </a:solidFill>
          <a:ln/>
        </p:spPr>
      </p:sp>
      <p:sp>
        <p:nvSpPr>
          <p:cNvPr id="14" name="Text 12"/>
          <p:cNvSpPr/>
          <p:nvPr/>
        </p:nvSpPr>
        <p:spPr>
          <a:xfrm>
            <a:off x="1200150" y="2767211"/>
            <a:ext cx="162212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Party, Konzert</a:t>
            </a:r>
            <a:endParaRPr lang="en-US" sz="1600" dirty="0"/>
          </a:p>
        </p:txBody>
      </p:sp>
      <p:sp>
        <p:nvSpPr>
          <p:cNvPr id="15" name="Text 13"/>
          <p:cNvSpPr/>
          <p:nvPr/>
        </p:nvSpPr>
        <p:spPr>
          <a:xfrm>
            <a:off x="1200150" y="3077071"/>
            <a:ext cx="188559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Kommt darauf an</a:t>
            </a:r>
            <a:endParaRPr lang="en-US" sz="1600" dirty="0"/>
          </a:p>
        </p:txBody>
      </p:sp>
      <p:sp>
        <p:nvSpPr>
          <p:cNvPr id="16" name="Shape 14"/>
          <p:cNvSpPr/>
          <p:nvPr/>
        </p:nvSpPr>
        <p:spPr>
          <a:xfrm>
            <a:off x="6149975" y="2662436"/>
            <a:ext cx="5226050" cy="803870"/>
          </a:xfrm>
          <a:prstGeom prst="roundRect">
            <a:avLst>
              <a:gd name="adj" fmla="val 12244"/>
            </a:avLst>
          </a:prstGeom>
          <a:solidFill>
            <a:srgbClr val="FCFBF7"/>
          </a:solidFill>
          <a:ln w="6350">
            <a:solidFill>
              <a:srgbClr val="D9DEDF"/>
            </a:solidFill>
            <a:prstDash val="solid"/>
          </a:ln>
        </p:spPr>
      </p:sp>
      <p:sp>
        <p:nvSpPr>
          <p:cNvPr id="17" name="Shape 15"/>
          <p:cNvSpPr/>
          <p:nvPr/>
        </p:nvSpPr>
        <p:spPr>
          <a:xfrm>
            <a:off x="6305550" y="2767211"/>
            <a:ext cx="76200" cy="594320"/>
          </a:xfrm>
          <a:prstGeom prst="roundRect">
            <a:avLst>
              <a:gd name="adj" fmla="val 50000"/>
            </a:avLst>
          </a:prstGeom>
          <a:solidFill>
            <a:srgbClr val="E39A3B"/>
          </a:solidFill>
          <a:ln/>
        </p:spPr>
      </p:sp>
      <p:sp>
        <p:nvSpPr>
          <p:cNvPr id="18" name="Text 16"/>
          <p:cNvSpPr/>
          <p:nvPr/>
        </p:nvSpPr>
        <p:spPr>
          <a:xfrm>
            <a:off x="6534150" y="2767211"/>
            <a:ext cx="228385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Spassbild, Grimasse</a:t>
            </a:r>
            <a:endParaRPr lang="en-US" sz="1600" dirty="0"/>
          </a:p>
        </p:txBody>
      </p:sp>
      <p:sp>
        <p:nvSpPr>
          <p:cNvPr id="19" name="Text 17"/>
          <p:cNvSpPr/>
          <p:nvPr/>
        </p:nvSpPr>
        <p:spPr>
          <a:xfrm>
            <a:off x="6534150" y="3077071"/>
            <a:ext cx="19603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Je nach Branche</a:t>
            </a:r>
            <a:endParaRPr lang="en-US" sz="1600" dirty="0"/>
          </a:p>
        </p:txBody>
      </p:sp>
      <p:sp>
        <p:nvSpPr>
          <p:cNvPr id="20" name="Shape 18"/>
          <p:cNvSpPr/>
          <p:nvPr/>
        </p:nvSpPr>
        <p:spPr>
          <a:xfrm>
            <a:off x="815975" y="3574256"/>
            <a:ext cx="5226050" cy="803870"/>
          </a:xfrm>
          <a:prstGeom prst="roundRect">
            <a:avLst>
              <a:gd name="adj" fmla="val 12244"/>
            </a:avLst>
          </a:prstGeom>
          <a:solidFill>
            <a:srgbClr val="FCFBF7"/>
          </a:solidFill>
          <a:ln w="6350">
            <a:solidFill>
              <a:srgbClr val="D9DEDF"/>
            </a:solidFill>
            <a:prstDash val="solid"/>
          </a:ln>
        </p:spPr>
      </p:sp>
      <p:sp>
        <p:nvSpPr>
          <p:cNvPr id="21" name="Shape 19"/>
          <p:cNvSpPr/>
          <p:nvPr/>
        </p:nvSpPr>
        <p:spPr>
          <a:xfrm>
            <a:off x="971550" y="3679031"/>
            <a:ext cx="76200" cy="594320"/>
          </a:xfrm>
          <a:prstGeom prst="roundRect">
            <a:avLst>
              <a:gd name="adj" fmla="val 50000"/>
            </a:avLst>
          </a:prstGeom>
          <a:solidFill>
            <a:srgbClr val="E39A3B"/>
          </a:solidFill>
          <a:ln/>
        </p:spPr>
      </p:sp>
      <p:sp>
        <p:nvSpPr>
          <p:cNvPr id="22" name="Text 20"/>
          <p:cNvSpPr/>
          <p:nvPr/>
        </p:nvSpPr>
        <p:spPr>
          <a:xfrm>
            <a:off x="1200150" y="3679031"/>
            <a:ext cx="301404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Bikini, nackter Oberkörper</a:t>
            </a:r>
            <a:endParaRPr lang="en-US" sz="1600" dirty="0"/>
          </a:p>
        </p:txBody>
      </p:sp>
      <p:sp>
        <p:nvSpPr>
          <p:cNvPr id="23" name="Text 21"/>
          <p:cNvSpPr/>
          <p:nvPr/>
        </p:nvSpPr>
        <p:spPr>
          <a:xfrm>
            <a:off x="1200150" y="3988891"/>
            <a:ext cx="35115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Eher nicht im offiziellen Rahmen</a:t>
            </a:r>
            <a:endParaRPr lang="en-US" sz="1600" dirty="0"/>
          </a:p>
        </p:txBody>
      </p:sp>
      <p:sp>
        <p:nvSpPr>
          <p:cNvPr id="24" name="Shape 22"/>
          <p:cNvSpPr/>
          <p:nvPr/>
        </p:nvSpPr>
        <p:spPr>
          <a:xfrm>
            <a:off x="6149975" y="3574256"/>
            <a:ext cx="5226050" cy="803870"/>
          </a:xfrm>
          <a:prstGeom prst="roundRect">
            <a:avLst>
              <a:gd name="adj" fmla="val 12244"/>
            </a:avLst>
          </a:prstGeom>
          <a:solidFill>
            <a:srgbClr val="FCFBF7"/>
          </a:solidFill>
          <a:ln w="6350">
            <a:solidFill>
              <a:srgbClr val="D9DEDF"/>
            </a:solidFill>
            <a:prstDash val="solid"/>
          </a:ln>
        </p:spPr>
      </p:sp>
      <p:sp>
        <p:nvSpPr>
          <p:cNvPr id="25" name="Shape 23"/>
          <p:cNvSpPr/>
          <p:nvPr/>
        </p:nvSpPr>
        <p:spPr>
          <a:xfrm>
            <a:off x="6305550" y="3679031"/>
            <a:ext cx="76200" cy="594320"/>
          </a:xfrm>
          <a:prstGeom prst="roundRect">
            <a:avLst>
              <a:gd name="adj" fmla="val 50000"/>
            </a:avLst>
          </a:prstGeom>
          <a:solidFill>
            <a:srgbClr val="A33A2B"/>
          </a:solidFill>
          <a:ln/>
        </p:spPr>
      </p:sp>
      <p:sp>
        <p:nvSpPr>
          <p:cNvPr id="26" name="Text 24"/>
          <p:cNvSpPr/>
          <p:nvPr/>
        </p:nvSpPr>
        <p:spPr>
          <a:xfrm>
            <a:off x="6534150" y="3679031"/>
            <a:ext cx="185963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Alkohol, Drogen</a:t>
            </a:r>
            <a:endParaRPr lang="en-US" sz="1600" dirty="0"/>
          </a:p>
        </p:txBody>
      </p:sp>
      <p:sp>
        <p:nvSpPr>
          <p:cNvPr id="27" name="Text 25"/>
          <p:cNvSpPr/>
          <p:nvPr/>
        </p:nvSpPr>
        <p:spPr>
          <a:xfrm>
            <a:off x="6534150" y="3988891"/>
            <a:ext cx="160049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Problematisch</a:t>
            </a:r>
            <a:endParaRPr lang="en-US" sz="1600" dirty="0"/>
          </a:p>
        </p:txBody>
      </p:sp>
      <p:sp>
        <p:nvSpPr>
          <p:cNvPr id="28" name="Shape 26"/>
          <p:cNvSpPr/>
          <p:nvPr/>
        </p:nvSpPr>
        <p:spPr>
          <a:xfrm>
            <a:off x="815975" y="4486077"/>
            <a:ext cx="5226050" cy="803870"/>
          </a:xfrm>
          <a:prstGeom prst="roundRect">
            <a:avLst>
              <a:gd name="adj" fmla="val 12244"/>
            </a:avLst>
          </a:prstGeom>
          <a:solidFill>
            <a:srgbClr val="FCFBF7"/>
          </a:solidFill>
          <a:ln w="6350">
            <a:solidFill>
              <a:srgbClr val="D9DEDF"/>
            </a:solidFill>
            <a:prstDash val="solid"/>
          </a:ln>
        </p:spPr>
      </p:sp>
      <p:sp>
        <p:nvSpPr>
          <p:cNvPr id="29" name="Shape 27"/>
          <p:cNvSpPr/>
          <p:nvPr/>
        </p:nvSpPr>
        <p:spPr>
          <a:xfrm>
            <a:off x="971550" y="4590852"/>
            <a:ext cx="76200" cy="594320"/>
          </a:xfrm>
          <a:prstGeom prst="roundRect">
            <a:avLst>
              <a:gd name="adj" fmla="val 50000"/>
            </a:avLst>
          </a:prstGeom>
          <a:solidFill>
            <a:srgbClr val="A33A2B"/>
          </a:solidFill>
          <a:ln/>
        </p:spPr>
      </p:sp>
      <p:sp>
        <p:nvSpPr>
          <p:cNvPr id="30" name="Text 28"/>
          <p:cNvSpPr/>
          <p:nvPr/>
        </p:nvSpPr>
        <p:spPr>
          <a:xfrm>
            <a:off x="1200150" y="4590852"/>
            <a:ext cx="215336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Politische Symbole</a:t>
            </a:r>
            <a:endParaRPr lang="en-US" sz="1600" dirty="0"/>
          </a:p>
        </p:txBody>
      </p:sp>
      <p:sp>
        <p:nvSpPr>
          <p:cNvPr id="31" name="Text 29"/>
          <p:cNvSpPr/>
          <p:nvPr/>
        </p:nvSpPr>
        <p:spPr>
          <a:xfrm>
            <a:off x="1200150" y="4900712"/>
            <a:ext cx="18483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Besser vermeiden</a:t>
            </a:r>
            <a:endParaRPr lang="en-US" sz="1600" dirty="0"/>
          </a:p>
        </p:txBody>
      </p:sp>
      <p:sp>
        <p:nvSpPr>
          <p:cNvPr id="32" name="Shape 30"/>
          <p:cNvSpPr/>
          <p:nvPr/>
        </p:nvSpPr>
        <p:spPr>
          <a:xfrm>
            <a:off x="6149975" y="4486077"/>
            <a:ext cx="5226050" cy="803870"/>
          </a:xfrm>
          <a:prstGeom prst="roundRect">
            <a:avLst>
              <a:gd name="adj" fmla="val 12244"/>
            </a:avLst>
          </a:prstGeom>
          <a:solidFill>
            <a:srgbClr val="FCFBF7"/>
          </a:solidFill>
          <a:ln w="6350">
            <a:solidFill>
              <a:srgbClr val="D9DEDF"/>
            </a:solidFill>
            <a:prstDash val="solid"/>
          </a:ln>
        </p:spPr>
      </p:sp>
      <p:sp>
        <p:nvSpPr>
          <p:cNvPr id="33" name="Shape 31"/>
          <p:cNvSpPr/>
          <p:nvPr/>
        </p:nvSpPr>
        <p:spPr>
          <a:xfrm>
            <a:off x="6305550" y="4590852"/>
            <a:ext cx="76200" cy="594320"/>
          </a:xfrm>
          <a:prstGeom prst="roundRect">
            <a:avLst>
              <a:gd name="adj" fmla="val 50000"/>
            </a:avLst>
          </a:prstGeom>
          <a:solidFill>
            <a:srgbClr val="A33A2B"/>
          </a:solidFill>
          <a:ln/>
        </p:spPr>
      </p:sp>
      <p:sp>
        <p:nvSpPr>
          <p:cNvPr id="34" name="Text 32"/>
          <p:cNvSpPr/>
          <p:nvPr/>
        </p:nvSpPr>
        <p:spPr>
          <a:xfrm>
            <a:off x="6534150" y="4590852"/>
            <a:ext cx="284547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Gewalt, Mobbing, Pranks</a:t>
            </a:r>
            <a:endParaRPr lang="en-US" sz="1600" dirty="0"/>
          </a:p>
        </p:txBody>
      </p:sp>
      <p:sp>
        <p:nvSpPr>
          <p:cNvPr id="35" name="Text 33"/>
          <p:cNvSpPr/>
          <p:nvPr/>
        </p:nvSpPr>
        <p:spPr>
          <a:xfrm>
            <a:off x="6534150" y="4900712"/>
            <a:ext cx="244236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Negativ</a:t>
            </a:r>
            <a:endParaRPr lang="en-US" sz="1600" dirty="0"/>
          </a:p>
        </p:txBody>
      </p:sp>
      <p:sp>
        <p:nvSpPr>
          <p:cNvPr id="36" name="Text 3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37" name="Text 3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AUSWERTUNG · 3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Warum «kommt darauf an»?</a:t>
            </a:r>
            <a:endParaRPr lang="en-US" sz="3200" dirty="0"/>
          </a:p>
        </p:txBody>
      </p:sp>
      <p:sp>
        <p:nvSpPr>
          <p:cNvPr id="4" name="Shape 2"/>
          <p:cNvSpPr/>
          <p:nvPr/>
        </p:nvSpPr>
        <p:spPr>
          <a:xfrm>
            <a:off x="815975" y="1750616"/>
            <a:ext cx="3414117" cy="2170311"/>
          </a:xfrm>
          <a:prstGeom prst="roundRect">
            <a:avLst>
              <a:gd name="adj" fmla="val 4535"/>
            </a:avLst>
          </a:prstGeom>
          <a:solidFill>
            <a:srgbClr val="FCFBF7"/>
          </a:solidFill>
          <a:ln w="6350">
            <a:solidFill>
              <a:srgbClr val="D9DEDF"/>
            </a:solidFill>
            <a:prstDash val="solid"/>
          </a:ln>
        </p:spPr>
      </p:sp>
      <p:pic>
        <p:nvPicPr>
          <p:cNvPr id="5" name="Image 0" descr="Users">    </p:cNvPr>
          <p:cNvPicPr>
            <a:picLocks noChangeAspect="1"/>
          </p:cNvPicPr>
          <p:nvPr/>
        </p:nvPicPr>
        <p:blipFill>
          <a:blip r:embed="rId1"/>
          <a:srcRect l="0" r="0" t="0" b="0"/>
          <a:stretch/>
        </p:blipFill>
        <p:spPr>
          <a:xfrm>
            <a:off x="1022350" y="1956991"/>
            <a:ext cx="457200" cy="457200"/>
          </a:xfrm>
          <a:prstGeom prst="rect">
            <a:avLst/>
          </a:prstGeom>
        </p:spPr>
      </p:pic>
      <p:sp>
        <p:nvSpPr>
          <p:cNvPr id="6" name="Text 3"/>
          <p:cNvSpPr/>
          <p:nvPr/>
        </p:nvSpPr>
        <p:spPr>
          <a:xfrm>
            <a:off x="1022350" y="251579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4D"/>
                </a:solidFill>
                <a:latin typeface="Nunito Sans" pitchFamily="34" charset="0"/>
                <a:ea typeface="Nunito Sans" pitchFamily="34" charset="-122"/>
                <a:cs typeface="Nunito Sans" pitchFamily="34" charset="-120"/>
              </a:rPr>
              <a:t>Wer schaut hin?</a:t>
            </a:r>
            <a:endParaRPr lang="en-US" sz="1600" dirty="0"/>
          </a:p>
        </p:txBody>
      </p:sp>
      <p:sp>
        <p:nvSpPr>
          <p:cNvPr id="7" name="Text 4"/>
          <p:cNvSpPr/>
          <p:nvPr/>
        </p:nvSpPr>
        <p:spPr>
          <a:xfrm>
            <a:off x="1022350" y="2861171"/>
            <a:ext cx="30914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Dasselbe Foto wirkt auf verschiedene Menschen unterschiedlich.</a:t>
            </a:r>
            <a:endParaRPr lang="en-US" sz="1600" dirty="0"/>
          </a:p>
        </p:txBody>
      </p:sp>
      <p:sp>
        <p:nvSpPr>
          <p:cNvPr id="8" name="Shape 5"/>
          <p:cNvSpPr/>
          <p:nvPr/>
        </p:nvSpPr>
        <p:spPr>
          <a:xfrm>
            <a:off x="4388842" y="1750616"/>
            <a:ext cx="3414216" cy="2170311"/>
          </a:xfrm>
          <a:prstGeom prst="roundRect">
            <a:avLst>
              <a:gd name="adj" fmla="val 4535"/>
            </a:avLst>
          </a:prstGeom>
          <a:solidFill>
            <a:srgbClr val="FCFBF7"/>
          </a:solidFill>
          <a:ln w="6350">
            <a:solidFill>
              <a:srgbClr val="D9DEDF"/>
            </a:solidFill>
            <a:prstDash val="solid"/>
          </a:ln>
        </p:spPr>
      </p:sp>
      <p:pic>
        <p:nvPicPr>
          <p:cNvPr id="9" name="Image 1" descr="Tool">    </p:cNvPr>
          <p:cNvPicPr>
            <a:picLocks noChangeAspect="1"/>
          </p:cNvPicPr>
          <p:nvPr/>
        </p:nvPicPr>
        <p:blipFill>
          <a:blip r:embed="rId2"/>
          <a:srcRect l="0" r="0" t="0" b="0"/>
          <a:stretch/>
        </p:blipFill>
        <p:spPr>
          <a:xfrm>
            <a:off x="4595217" y="1956991"/>
            <a:ext cx="457200" cy="457200"/>
          </a:xfrm>
          <a:prstGeom prst="rect">
            <a:avLst/>
          </a:prstGeom>
        </p:spPr>
      </p:pic>
      <p:sp>
        <p:nvSpPr>
          <p:cNvPr id="10" name="Text 6"/>
          <p:cNvSpPr/>
          <p:nvPr/>
        </p:nvSpPr>
        <p:spPr>
          <a:xfrm>
            <a:off x="4595217" y="25157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4D"/>
                </a:solidFill>
                <a:latin typeface="Nunito Sans" pitchFamily="34" charset="0"/>
                <a:ea typeface="Nunito Sans" pitchFamily="34" charset="-122"/>
                <a:cs typeface="Nunito Sans" pitchFamily="34" charset="-120"/>
              </a:rPr>
              <a:t>Welche Branche?</a:t>
            </a:r>
            <a:endParaRPr lang="en-US" sz="1600" dirty="0"/>
          </a:p>
        </p:txBody>
      </p:sp>
      <p:sp>
        <p:nvSpPr>
          <p:cNvPr id="11" name="Text 7"/>
          <p:cNvSpPr/>
          <p:nvPr/>
        </p:nvSpPr>
        <p:spPr>
          <a:xfrm>
            <a:off x="4595217" y="2861171"/>
            <a:ext cx="309151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Eine Grimasse passt zum Kindergarten, aber vielleicht nicht zur Bank.</a:t>
            </a:r>
            <a:endParaRPr lang="en-US" sz="1600" dirty="0"/>
          </a:p>
        </p:txBody>
      </p:sp>
      <p:sp>
        <p:nvSpPr>
          <p:cNvPr id="12" name="Shape 8"/>
          <p:cNvSpPr/>
          <p:nvPr/>
        </p:nvSpPr>
        <p:spPr>
          <a:xfrm>
            <a:off x="7961809" y="1750616"/>
            <a:ext cx="3414216" cy="2170311"/>
          </a:xfrm>
          <a:prstGeom prst="roundRect">
            <a:avLst>
              <a:gd name="adj" fmla="val 4535"/>
            </a:avLst>
          </a:prstGeom>
          <a:solidFill>
            <a:srgbClr val="FCFBF7"/>
          </a:solidFill>
          <a:ln w="6350">
            <a:solidFill>
              <a:srgbClr val="D9DEDF"/>
            </a:solidFill>
            <a:prstDash val="solid"/>
          </a:ln>
        </p:spPr>
      </p:sp>
      <p:pic>
        <p:nvPicPr>
          <p:cNvPr id="13" name="Image 2" descr="Chart">    </p:cNvPr>
          <p:cNvPicPr>
            <a:picLocks noChangeAspect="1"/>
          </p:cNvPicPr>
          <p:nvPr/>
        </p:nvPicPr>
        <p:blipFill>
          <a:blip r:embed="rId3"/>
          <a:srcRect l="0" r="0" t="0" b="0"/>
          <a:stretch/>
        </p:blipFill>
        <p:spPr>
          <a:xfrm>
            <a:off x="8168184" y="1956991"/>
            <a:ext cx="457200" cy="457200"/>
          </a:xfrm>
          <a:prstGeom prst="rect">
            <a:avLst/>
          </a:prstGeom>
        </p:spPr>
      </p:pic>
      <p:sp>
        <p:nvSpPr>
          <p:cNvPr id="14" name="Text 9"/>
          <p:cNvSpPr/>
          <p:nvPr/>
        </p:nvSpPr>
        <p:spPr>
          <a:xfrm>
            <a:off x="8168184" y="25157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304D"/>
                </a:solidFill>
                <a:latin typeface="Nunito Sans" pitchFamily="34" charset="0"/>
                <a:ea typeface="Nunito Sans" pitchFamily="34" charset="-122"/>
                <a:cs typeface="Nunito Sans" pitchFamily="34" charset="-120"/>
              </a:rPr>
              <a:t>Wie breit ist das Bild?</a:t>
            </a:r>
            <a:endParaRPr lang="en-US" sz="1600" dirty="0"/>
          </a:p>
        </p:txBody>
      </p:sp>
      <p:sp>
        <p:nvSpPr>
          <p:cNvPr id="15" name="Text 10"/>
          <p:cNvSpPr/>
          <p:nvPr/>
        </p:nvSpPr>
        <p:spPr>
          <a:xfrm>
            <a:off x="8168184" y="2861171"/>
            <a:ext cx="309151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Ein einzelnes Foto sagt wenig. Das Gesamtbild deines Profils zählt.</a:t>
            </a:r>
            <a:endParaRPr lang="en-US" sz="1600" dirty="0"/>
          </a:p>
        </p:txBody>
      </p:sp>
      <p:sp>
        <p:nvSpPr>
          <p:cNvPr id="16" name="Text 11"/>
          <p:cNvSpPr/>
          <p:nvPr/>
        </p:nvSpPr>
        <p:spPr>
          <a:xfrm>
            <a:off x="812800" y="4127302"/>
            <a:ext cx="10566400" cy="538460"/>
          </a:xfrm>
          <a:prstGeom prst="roundRect">
            <a:avLst>
              <a:gd name="adj" fmla="val 18869"/>
            </a:avLst>
          </a:prstGeom>
          <a:solidFill>
            <a:srgbClr val="E39A3B"/>
          </a:solidFill>
          <a:ln/>
        </p:spPr>
        <p:txBody>
          <a:bodyPr wrap="square" lIns="173442" tIns="97242" rIns="0" bIns="71842"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Was du postest, prägt, wie andere dich sehen.</a:t>
            </a:r>
            <a:endParaRPr lang="en-US" sz="1600" dirty="0"/>
          </a:p>
        </p:txBody>
      </p:sp>
      <p:sp>
        <p:nvSpPr>
          <p:cNvPr id="17"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8" name="Text 1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AUFTRAG · 4 MIN · ZU ZWEIT</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Chancen und Risiken sammeln</a:t>
            </a:r>
            <a:endParaRPr lang="en-US" sz="3200" dirty="0"/>
          </a:p>
        </p:txBody>
      </p:sp>
      <p:sp>
        <p:nvSpPr>
          <p:cNvPr id="4" name="Text 2"/>
          <p:cNvSpPr/>
          <p:nvPr/>
        </p:nvSpPr>
        <p:spPr>
          <a:xfrm>
            <a:off x="812800" y="17474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Was kann passieren, wenn man Fotos postet? Notiert in Stichworten.</a:t>
            </a:r>
            <a:endParaRPr lang="en-US" sz="1600" dirty="0"/>
          </a:p>
        </p:txBody>
      </p:sp>
      <p:sp>
        <p:nvSpPr>
          <p:cNvPr id="5" name="Shape 3"/>
          <p:cNvSpPr/>
          <p:nvPr/>
        </p:nvSpPr>
        <p:spPr>
          <a:xfrm>
            <a:off x="815975" y="2238276"/>
            <a:ext cx="5200650" cy="1007070"/>
          </a:xfrm>
          <a:prstGeom prst="roundRect">
            <a:avLst>
              <a:gd name="adj" fmla="val 9773"/>
            </a:avLst>
          </a:prstGeom>
          <a:solidFill>
            <a:srgbClr val="FCFBF7"/>
          </a:solidFill>
          <a:ln w="6350">
            <a:solidFill>
              <a:srgbClr val="D9DEDF"/>
            </a:solidFill>
            <a:prstDash val="solid"/>
          </a:ln>
        </p:spPr>
      </p:sp>
      <p:sp>
        <p:nvSpPr>
          <p:cNvPr id="6" name="Text 4"/>
          <p:cNvSpPr/>
          <p:nvPr/>
        </p:nvSpPr>
        <p:spPr>
          <a:xfrm>
            <a:off x="996950" y="2419251"/>
            <a:ext cx="49838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Chancen</a:t>
            </a:r>
            <a:endParaRPr lang="en-US" sz="1600" dirty="0"/>
          </a:p>
        </p:txBody>
      </p:sp>
      <p:sp>
        <p:nvSpPr>
          <p:cNvPr id="7" name="Text 5"/>
          <p:cNvSpPr/>
          <p:nvPr/>
        </p:nvSpPr>
        <p:spPr>
          <a:xfrm>
            <a:off x="996950" y="277991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Mindestens 3 Stichworte</a:t>
            </a:r>
            <a:endParaRPr lang="en-US" sz="1600" dirty="0"/>
          </a:p>
        </p:txBody>
      </p:sp>
      <p:sp>
        <p:nvSpPr>
          <p:cNvPr id="8" name="Shape 6"/>
          <p:cNvSpPr/>
          <p:nvPr/>
        </p:nvSpPr>
        <p:spPr>
          <a:xfrm>
            <a:off x="6175375" y="2238276"/>
            <a:ext cx="5200650" cy="1007070"/>
          </a:xfrm>
          <a:prstGeom prst="roundRect">
            <a:avLst>
              <a:gd name="adj" fmla="val 9773"/>
            </a:avLst>
          </a:prstGeom>
          <a:solidFill>
            <a:srgbClr val="FCFBF7"/>
          </a:solidFill>
          <a:ln w="6350">
            <a:solidFill>
              <a:srgbClr val="D9DEDF"/>
            </a:solidFill>
            <a:prstDash val="solid"/>
          </a:ln>
        </p:spPr>
      </p:sp>
      <p:sp>
        <p:nvSpPr>
          <p:cNvPr id="9" name="Text 7"/>
          <p:cNvSpPr/>
          <p:nvPr/>
        </p:nvSpPr>
        <p:spPr>
          <a:xfrm>
            <a:off x="6356350" y="2419251"/>
            <a:ext cx="49838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33A2B"/>
                </a:solidFill>
                <a:latin typeface="Nunito Sans" pitchFamily="34" charset="0"/>
                <a:ea typeface="Nunito Sans" pitchFamily="34" charset="-122"/>
                <a:cs typeface="Nunito Sans" pitchFamily="34" charset="-120"/>
              </a:rPr>
              <a:t>Risiken</a:t>
            </a:r>
            <a:endParaRPr lang="en-US" sz="1600" dirty="0"/>
          </a:p>
        </p:txBody>
      </p:sp>
      <p:sp>
        <p:nvSpPr>
          <p:cNvPr id="10" name="Text 8"/>
          <p:cNvSpPr/>
          <p:nvPr/>
        </p:nvSpPr>
        <p:spPr>
          <a:xfrm>
            <a:off x="6356350" y="277991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Mindestens 3 Stichworte</a:t>
            </a:r>
            <a:endParaRPr lang="en-US" sz="1600" dirty="0"/>
          </a:p>
        </p:txBody>
      </p:sp>
      <p:sp>
        <p:nvSpPr>
          <p:cNvPr id="11" name="Text 9"/>
          <p:cNvSpPr/>
          <p:nvPr/>
        </p:nvSpPr>
        <p:spPr>
          <a:xfrm>
            <a:off x="812800" y="345172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Danach: Schreibe eine Empfehlung in einem Satz für jemanden in deinem Alter.</a:t>
            </a:r>
            <a:endParaRPr lang="en-US" sz="1600" dirty="0"/>
          </a:p>
        </p:txBody>
      </p:sp>
      <p:sp>
        <p:nvSpPr>
          <p:cNvPr id="12" name="Text 10"/>
          <p:cNvSpPr/>
          <p:nvPr/>
        </p:nvSpPr>
        <p:spPr>
          <a:xfrm>
            <a:off x="812800" y="39393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«Poste nur Fotos, bei denen ...»</a:t>
            </a:r>
            <a:endParaRPr lang="en-US" sz="16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4"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VERGLEICH · 2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haben wir gefunden</a:t>
            </a:r>
            <a:endParaRPr lang="en-US" sz="3200" dirty="0"/>
          </a:p>
        </p:txBody>
      </p:sp>
      <p:sp>
        <p:nvSpPr>
          <p:cNvPr id="4" name="Shape 2"/>
          <p:cNvSpPr/>
          <p:nvPr/>
        </p:nvSpPr>
        <p:spPr>
          <a:xfrm>
            <a:off x="815975" y="1750616"/>
            <a:ext cx="5200650" cy="2144911"/>
          </a:xfrm>
          <a:prstGeom prst="roundRect">
            <a:avLst>
              <a:gd name="adj" fmla="val 4589"/>
            </a:avLst>
          </a:prstGeom>
          <a:solidFill>
            <a:srgbClr val="FCFBF7"/>
          </a:solidFill>
          <a:ln w="6350">
            <a:solidFill>
              <a:srgbClr val="D9DEDF"/>
            </a:solidFill>
            <a:prstDash val="solid"/>
          </a:ln>
        </p:spPr>
      </p:sp>
      <p:sp>
        <p:nvSpPr>
          <p:cNvPr id="5" name="Text 3"/>
          <p:cNvSpPr/>
          <p:nvPr/>
        </p:nvSpPr>
        <p:spPr>
          <a:xfrm>
            <a:off x="996950" y="1931591"/>
            <a:ext cx="49838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Chancen</a:t>
            </a:r>
            <a:endParaRPr lang="en-US" sz="1600" dirty="0"/>
          </a:p>
        </p:txBody>
      </p:sp>
      <p:sp>
        <p:nvSpPr>
          <p:cNvPr id="6" name="Text 4"/>
          <p:cNvSpPr/>
          <p:nvPr/>
        </p:nvSpPr>
        <p:spPr>
          <a:xfrm>
            <a:off x="1060958" y="2292251"/>
            <a:ext cx="4912233" cy="1163241"/>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14304D"/>
                </a:solidFill>
                <a:latin typeface="Nunito Sans" pitchFamily="34" charset="0"/>
                <a:ea typeface="Nunito Sans" pitchFamily="34" charset="-122"/>
                <a:cs typeface="Nunito Sans" pitchFamily="34" charset="-120"/>
              </a:rPr>
              <a:t>Kontakt mit Freunden und Familie halten</a:t>
            </a:r>
            <a:endParaRPr lang="en-US" sz="1600" dirty="0"/>
          </a:p>
          <a:p>
            <a:pPr algn="l" marL="189992" indent="-189992">
              <a:lnSpc>
                <a:spcPts val="2240"/>
              </a:lnSpc>
              <a:buSzPct val="100000"/>
              <a:buChar char="•"/>
            </a:pPr>
            <a:r>
              <a:rPr lang="en-US" sz="1600" dirty="0">
                <a:solidFill>
                  <a:srgbClr val="14304D"/>
                </a:solidFill>
                <a:latin typeface="Nunito Sans" pitchFamily="34" charset="0"/>
                <a:ea typeface="Nunito Sans" pitchFamily="34" charset="-122"/>
                <a:cs typeface="Nunito Sans" pitchFamily="34" charset="-120"/>
              </a:rPr>
              <a:t>Erinnerungen teilen</a:t>
            </a:r>
            <a:endParaRPr lang="en-US" sz="1600" dirty="0"/>
          </a:p>
          <a:p>
            <a:pPr algn="l" marL="189992" indent="-189992">
              <a:lnSpc>
                <a:spcPts val="2240"/>
              </a:lnSpc>
              <a:buSzPct val="100000"/>
              <a:buChar char="•"/>
            </a:pPr>
            <a:r>
              <a:rPr lang="en-US" sz="1600" dirty="0">
                <a:solidFill>
                  <a:srgbClr val="14304D"/>
                </a:solidFill>
                <a:latin typeface="Nunito Sans" pitchFamily="34" charset="0"/>
                <a:ea typeface="Nunito Sans" pitchFamily="34" charset="-122"/>
                <a:cs typeface="Nunito Sans" pitchFamily="34" charset="-120"/>
              </a:rPr>
              <a:t>Kreativität oder Sport zeigen</a:t>
            </a:r>
            <a:endParaRPr lang="en-US" sz="1600" dirty="0"/>
          </a:p>
          <a:p>
            <a:pPr algn="l" marL="189992" indent="-189992">
              <a:lnSpc>
                <a:spcPts val="2240"/>
              </a:lnSpc>
              <a:buSzPct val="100000"/>
              <a:buChar char="•"/>
            </a:pPr>
            <a:r>
              <a:rPr lang="en-US" sz="1600" dirty="0">
                <a:solidFill>
                  <a:srgbClr val="14304D"/>
                </a:solidFill>
                <a:latin typeface="Nunito Sans" pitchFamily="34" charset="0"/>
                <a:ea typeface="Nunito Sans" pitchFamily="34" charset="-122"/>
                <a:cs typeface="Nunito Sans" pitchFamily="34" charset="-120"/>
              </a:rPr>
              <a:t>Ein positives Bild für spätere Bewerbungen</a:t>
            </a:r>
            <a:endParaRPr lang="en-US" sz="1600" dirty="0"/>
          </a:p>
        </p:txBody>
      </p:sp>
      <p:sp>
        <p:nvSpPr>
          <p:cNvPr id="7" name="Shape 5"/>
          <p:cNvSpPr/>
          <p:nvPr/>
        </p:nvSpPr>
        <p:spPr>
          <a:xfrm>
            <a:off x="6175375" y="1750616"/>
            <a:ext cx="5200650" cy="2144911"/>
          </a:xfrm>
          <a:prstGeom prst="roundRect">
            <a:avLst>
              <a:gd name="adj" fmla="val 4589"/>
            </a:avLst>
          </a:prstGeom>
          <a:solidFill>
            <a:srgbClr val="FCFBF7"/>
          </a:solidFill>
          <a:ln w="6350">
            <a:solidFill>
              <a:srgbClr val="D9DEDF"/>
            </a:solidFill>
            <a:prstDash val="solid"/>
          </a:ln>
        </p:spPr>
      </p:sp>
      <p:sp>
        <p:nvSpPr>
          <p:cNvPr id="8" name="Text 6"/>
          <p:cNvSpPr/>
          <p:nvPr/>
        </p:nvSpPr>
        <p:spPr>
          <a:xfrm>
            <a:off x="6356350" y="1931591"/>
            <a:ext cx="49838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33A2B"/>
                </a:solidFill>
                <a:latin typeface="Nunito Sans" pitchFamily="34" charset="0"/>
                <a:ea typeface="Nunito Sans" pitchFamily="34" charset="-122"/>
                <a:cs typeface="Nunito Sans" pitchFamily="34" charset="-120"/>
              </a:rPr>
              <a:t>Risiken</a:t>
            </a:r>
            <a:endParaRPr lang="en-US" sz="1600" dirty="0"/>
          </a:p>
        </p:txBody>
      </p:sp>
      <p:sp>
        <p:nvSpPr>
          <p:cNvPr id="9" name="Text 7"/>
          <p:cNvSpPr/>
          <p:nvPr/>
        </p:nvSpPr>
        <p:spPr>
          <a:xfrm>
            <a:off x="6420358" y="2292251"/>
            <a:ext cx="4912233" cy="1447701"/>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14304D"/>
                </a:solidFill>
                <a:latin typeface="Nunito Sans" pitchFamily="34" charset="0"/>
                <a:ea typeface="Nunito Sans" pitchFamily="34" charset="-122"/>
                <a:cs typeface="Nunito Sans" pitchFamily="34" charset="-120"/>
              </a:rPr>
              <a:t>Fotos sind kaum löschbar, zum Beispiel durch Screenshots</a:t>
            </a:r>
            <a:endParaRPr lang="en-US" sz="1600" dirty="0"/>
          </a:p>
          <a:p>
            <a:pPr algn="l" marL="189992" indent="-189992">
              <a:lnSpc>
                <a:spcPts val="2240"/>
              </a:lnSpc>
              <a:buSzPct val="100000"/>
              <a:buChar char="•"/>
            </a:pPr>
            <a:r>
              <a:rPr lang="en-US" sz="1600" dirty="0">
                <a:solidFill>
                  <a:srgbClr val="14304D"/>
                </a:solidFill>
                <a:latin typeface="Nunito Sans" pitchFamily="34" charset="0"/>
                <a:ea typeface="Nunito Sans" pitchFamily="34" charset="-122"/>
                <a:cs typeface="Nunito Sans" pitchFamily="34" charset="-120"/>
              </a:rPr>
              <a:t>Cybermobbing</a:t>
            </a:r>
            <a:endParaRPr lang="en-US" sz="1600" dirty="0"/>
          </a:p>
          <a:p>
            <a:pPr algn="l" marL="189992" indent="-189992">
              <a:lnSpc>
                <a:spcPts val="2240"/>
              </a:lnSpc>
              <a:buSzPct val="100000"/>
              <a:buChar char="•"/>
            </a:pPr>
            <a:r>
              <a:rPr lang="en-US" sz="1600" dirty="0">
                <a:solidFill>
                  <a:srgbClr val="14304D"/>
                </a:solidFill>
                <a:latin typeface="Nunito Sans" pitchFamily="34" charset="0"/>
                <a:ea typeface="Nunito Sans" pitchFamily="34" charset="-122"/>
                <a:cs typeface="Nunito Sans" pitchFamily="34" charset="-120"/>
              </a:rPr>
              <a:t>Einbrecher sehen, dass niemand zuhause ist</a:t>
            </a:r>
            <a:endParaRPr lang="en-US" sz="1600" dirty="0"/>
          </a:p>
          <a:p>
            <a:pPr algn="l" marL="189992" indent="-189992">
              <a:lnSpc>
                <a:spcPts val="2240"/>
              </a:lnSpc>
              <a:buSzPct val="100000"/>
              <a:buChar char="•"/>
            </a:pPr>
            <a:r>
              <a:rPr lang="en-US" sz="1600" dirty="0">
                <a:solidFill>
                  <a:srgbClr val="14304D"/>
                </a:solidFill>
                <a:latin typeface="Nunito Sans" pitchFamily="34" charset="0"/>
                <a:ea typeface="Nunito Sans" pitchFamily="34" charset="-122"/>
                <a:cs typeface="Nunito Sans" pitchFamily="34" charset="-120"/>
              </a:rPr>
              <a:t>Abgebildete sind nicht einverstanden</a:t>
            </a:r>
            <a:endParaRPr lang="en-US" sz="1600" dirty="0"/>
          </a:p>
        </p:txBody>
      </p:sp>
      <p:sp>
        <p:nvSpPr>
          <p:cNvPr id="10" name="Text 8"/>
          <p:cNvSpPr/>
          <p:nvPr/>
        </p:nvSpPr>
        <p:spPr>
          <a:xfrm>
            <a:off x="812800" y="4101902"/>
            <a:ext cx="10566400" cy="538460"/>
          </a:xfrm>
          <a:prstGeom prst="roundRect">
            <a:avLst>
              <a:gd name="adj" fmla="val 18869"/>
            </a:avLst>
          </a:prstGeom>
          <a:solidFill>
            <a:srgbClr val="E39A3B"/>
          </a:solidFill>
          <a:ln/>
        </p:spPr>
        <p:txBody>
          <a:bodyPr wrap="square" lIns="173442" tIns="97242" rIns="0" bIns="71842"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Empfehlung: Poste nur Fotos, die du auch in fünf Jahren noch zeigen würdest.</a:t>
            </a:r>
            <a:endParaRPr lang="en-US" sz="16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2" name="Text 1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304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PRIVATSPHÄRE · 3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Domine" pitchFamily="18" charset="0"/>
                <a:ea typeface="Domine" pitchFamily="18" charset="-122"/>
                <a:cs typeface="Domine" pitchFamily="18" charset="-120"/>
              </a:rPr>
              <a:t>Vier Tipps für ein sicheres Profil</a:t>
            </a:r>
            <a:endParaRPr lang="en-US" sz="3200" dirty="0"/>
          </a:p>
        </p:txBody>
      </p:sp>
      <p:sp>
        <p:nvSpPr>
          <p:cNvPr id="4" name="Shape 2"/>
          <p:cNvSpPr/>
          <p:nvPr/>
        </p:nvSpPr>
        <p:spPr>
          <a:xfrm>
            <a:off x="812800" y="1747441"/>
            <a:ext cx="5207000" cy="812800"/>
          </a:xfrm>
          <a:prstGeom prst="roundRect">
            <a:avLst>
              <a:gd name="adj" fmla="val 12500"/>
            </a:avLst>
          </a:prstGeom>
          <a:solidFill>
            <a:srgbClr val="1E4268"/>
          </a:solidFill>
          <a:ln/>
        </p:spPr>
      </p:sp>
      <p:pic>
        <p:nvPicPr>
          <p:cNvPr id="5" name="Image 0" descr="Lock">    </p:cNvPr>
          <p:cNvPicPr>
            <a:picLocks noChangeAspect="1"/>
          </p:cNvPicPr>
          <p:nvPr/>
        </p:nvPicPr>
        <p:blipFill>
          <a:blip r:embed="rId1"/>
          <a:srcRect l="0" r="0" t="0" b="0"/>
          <a:stretch/>
        </p:blipFill>
        <p:spPr>
          <a:xfrm>
            <a:off x="990600" y="1925241"/>
            <a:ext cx="457200" cy="457200"/>
          </a:xfrm>
          <a:prstGeom prst="rect">
            <a:avLst/>
          </a:prstGeom>
        </p:spPr>
      </p:pic>
      <p:sp>
        <p:nvSpPr>
          <p:cNvPr id="6" name="Text 3"/>
          <p:cNvSpPr/>
          <p:nvPr/>
        </p:nvSpPr>
        <p:spPr>
          <a:xfrm>
            <a:off x="1600200" y="2011561"/>
            <a:ext cx="39243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Profil auf privat stellen</a:t>
            </a:r>
            <a:endParaRPr lang="en-US" sz="1600" dirty="0"/>
          </a:p>
        </p:txBody>
      </p:sp>
      <p:sp>
        <p:nvSpPr>
          <p:cNvPr id="7" name="Shape 4"/>
          <p:cNvSpPr/>
          <p:nvPr/>
        </p:nvSpPr>
        <p:spPr>
          <a:xfrm>
            <a:off x="6172200" y="1747441"/>
            <a:ext cx="5207000" cy="812800"/>
          </a:xfrm>
          <a:prstGeom prst="roundRect">
            <a:avLst>
              <a:gd name="adj" fmla="val 12500"/>
            </a:avLst>
          </a:prstGeom>
          <a:solidFill>
            <a:srgbClr val="1E4268"/>
          </a:solidFill>
          <a:ln/>
        </p:spPr>
      </p:sp>
      <p:pic>
        <p:nvPicPr>
          <p:cNvPr id="8" name="Image 1" descr="Users">    </p:cNvPr>
          <p:cNvPicPr>
            <a:picLocks noChangeAspect="1"/>
          </p:cNvPicPr>
          <p:nvPr/>
        </p:nvPicPr>
        <p:blipFill>
          <a:blip r:embed="rId2"/>
          <a:srcRect l="0" r="0" t="0" b="0"/>
          <a:stretch/>
        </p:blipFill>
        <p:spPr>
          <a:xfrm>
            <a:off x="6350000" y="1925241"/>
            <a:ext cx="457200" cy="457200"/>
          </a:xfrm>
          <a:prstGeom prst="rect">
            <a:avLst/>
          </a:prstGeom>
        </p:spPr>
      </p:pic>
      <p:sp>
        <p:nvSpPr>
          <p:cNvPr id="9" name="Text 5"/>
          <p:cNvSpPr/>
          <p:nvPr/>
        </p:nvSpPr>
        <p:spPr>
          <a:xfrm>
            <a:off x="6959600" y="2011561"/>
            <a:ext cx="39243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Nickname statt vollem Namen</a:t>
            </a:r>
            <a:endParaRPr lang="en-US" sz="1600" dirty="0"/>
          </a:p>
        </p:txBody>
      </p:sp>
      <p:sp>
        <p:nvSpPr>
          <p:cNvPr id="10" name="Shape 6"/>
          <p:cNvSpPr/>
          <p:nvPr/>
        </p:nvSpPr>
        <p:spPr>
          <a:xfrm>
            <a:off x="812800" y="2712641"/>
            <a:ext cx="5207000" cy="812800"/>
          </a:xfrm>
          <a:prstGeom prst="roundRect">
            <a:avLst>
              <a:gd name="adj" fmla="val 12500"/>
            </a:avLst>
          </a:prstGeom>
          <a:solidFill>
            <a:srgbClr val="1E4268"/>
          </a:solidFill>
          <a:ln/>
        </p:spPr>
      </p:sp>
      <p:pic>
        <p:nvPicPr>
          <p:cNvPr id="11" name="Image 2" descr="Globe">    </p:cNvPr>
          <p:cNvPicPr>
            <a:picLocks noChangeAspect="1"/>
          </p:cNvPicPr>
          <p:nvPr/>
        </p:nvPicPr>
        <p:blipFill>
          <a:blip r:embed="rId3"/>
          <a:srcRect l="0" r="0" t="0" b="0"/>
          <a:stretch/>
        </p:blipFill>
        <p:spPr>
          <a:xfrm>
            <a:off x="990600" y="2890441"/>
            <a:ext cx="457200" cy="457200"/>
          </a:xfrm>
          <a:prstGeom prst="rect">
            <a:avLst/>
          </a:prstGeom>
        </p:spPr>
      </p:pic>
      <p:sp>
        <p:nvSpPr>
          <p:cNvPr id="12" name="Text 7"/>
          <p:cNvSpPr/>
          <p:nvPr/>
        </p:nvSpPr>
        <p:spPr>
          <a:xfrm>
            <a:off x="1600200" y="2976761"/>
            <a:ext cx="39243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Keine Ortsangaben, GPS ausschalten</a:t>
            </a:r>
            <a:endParaRPr lang="en-US" sz="1600" dirty="0"/>
          </a:p>
        </p:txBody>
      </p:sp>
      <p:sp>
        <p:nvSpPr>
          <p:cNvPr id="13" name="Shape 8"/>
          <p:cNvSpPr/>
          <p:nvPr/>
        </p:nvSpPr>
        <p:spPr>
          <a:xfrm>
            <a:off x="6172200" y="2712641"/>
            <a:ext cx="5207000" cy="812800"/>
          </a:xfrm>
          <a:prstGeom prst="roundRect">
            <a:avLst>
              <a:gd name="adj" fmla="val 12500"/>
            </a:avLst>
          </a:prstGeom>
          <a:solidFill>
            <a:srgbClr val="1E4268"/>
          </a:solidFill>
          <a:ln/>
        </p:spPr>
      </p:sp>
      <p:pic>
        <p:nvPicPr>
          <p:cNvPr id="14" name="Image 3" descr="Key">    </p:cNvPr>
          <p:cNvPicPr>
            <a:picLocks noChangeAspect="1"/>
          </p:cNvPicPr>
          <p:nvPr/>
        </p:nvPicPr>
        <p:blipFill>
          <a:blip r:embed="rId4"/>
          <a:srcRect l="0" r="0" t="0" b="0"/>
          <a:stretch/>
        </p:blipFill>
        <p:spPr>
          <a:xfrm>
            <a:off x="6350000" y="2890441"/>
            <a:ext cx="457200" cy="457200"/>
          </a:xfrm>
          <a:prstGeom prst="rect">
            <a:avLst/>
          </a:prstGeom>
        </p:spPr>
      </p:pic>
      <p:sp>
        <p:nvSpPr>
          <p:cNvPr id="15" name="Text 9"/>
          <p:cNvSpPr/>
          <p:nvPr/>
        </p:nvSpPr>
        <p:spPr>
          <a:xfrm>
            <a:off x="6959600" y="2976761"/>
            <a:ext cx="39243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E-Mail und Telefonnummer verbergen</a:t>
            </a:r>
            <a:endParaRPr lang="en-US" sz="1600" dirty="0"/>
          </a:p>
        </p:txBody>
      </p:sp>
      <p:sp>
        <p:nvSpPr>
          <p:cNvPr id="16" name="Text 10"/>
          <p:cNvSpPr/>
          <p:nvPr/>
        </p:nvSpPr>
        <p:spPr>
          <a:xfrm>
            <a:off x="812800" y="37286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39A3B"/>
                </a:solidFill>
                <a:latin typeface="Nunito Sans" pitchFamily="34" charset="0"/>
                <a:ea typeface="Nunito Sans" pitchFamily="34" charset="-122"/>
                <a:cs typeface="Nunito Sans" pitchFamily="34" charset="-120"/>
              </a:rPr>
              <a:t>Frage dich vor dem Posten: Wer könnte das sehen, und wäre das okay?</a:t>
            </a:r>
            <a:endParaRPr lang="en-US" sz="1600" dirty="0"/>
          </a:p>
        </p:txBody>
      </p:sp>
      <p:sp>
        <p:nvSpPr>
          <p:cNvPr id="17"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8"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REPETITION · 2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kommt in der Prüfung</a:t>
            </a:r>
            <a:endParaRPr lang="en-US" sz="3200" dirty="0"/>
          </a:p>
        </p:txBody>
      </p:sp>
      <p:sp>
        <p:nvSpPr>
          <p:cNvPr id="4" name="Shape 2"/>
          <p:cNvSpPr/>
          <p:nvPr/>
        </p:nvSpPr>
        <p:spPr>
          <a:xfrm>
            <a:off x="815975" y="1750616"/>
            <a:ext cx="5226050" cy="732730"/>
          </a:xfrm>
          <a:prstGeom prst="roundRect">
            <a:avLst>
              <a:gd name="adj" fmla="val 13433"/>
            </a:avLst>
          </a:prstGeom>
          <a:solidFill>
            <a:srgbClr val="D6EAE7"/>
          </a:solidFill>
          <a:ln w="6350">
            <a:solidFill>
              <a:srgbClr val="9CC9C3"/>
            </a:solidFill>
            <a:prstDash val="solid"/>
          </a:ln>
        </p:spPr>
      </p:sp>
      <p:sp>
        <p:nvSpPr>
          <p:cNvPr id="5" name="Text 3"/>
          <p:cNvSpPr/>
          <p:nvPr/>
        </p:nvSpPr>
        <p:spPr>
          <a:xfrm>
            <a:off x="971550" y="1855391"/>
            <a:ext cx="50623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Aufgabe 1 · 5 Punkte · Grundanforderung</a:t>
            </a:r>
            <a:endParaRPr lang="en-US" sz="1200" dirty="0"/>
          </a:p>
        </p:txBody>
      </p:sp>
      <p:sp>
        <p:nvSpPr>
          <p:cNvPr id="6" name="Text 4"/>
          <p:cNvSpPr/>
          <p:nvPr/>
        </p:nvSpPr>
        <p:spPr>
          <a:xfrm>
            <a:off x="971550" y="2094111"/>
            <a:ext cx="50623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Begriffe</a:t>
            </a:r>
            <a:endParaRPr lang="en-US" sz="1600" dirty="0"/>
          </a:p>
        </p:txBody>
      </p:sp>
      <p:sp>
        <p:nvSpPr>
          <p:cNvPr id="7" name="Shape 5"/>
          <p:cNvSpPr/>
          <p:nvPr/>
        </p:nvSpPr>
        <p:spPr>
          <a:xfrm>
            <a:off x="6149975" y="1750616"/>
            <a:ext cx="5226050" cy="732730"/>
          </a:xfrm>
          <a:prstGeom prst="roundRect">
            <a:avLst>
              <a:gd name="adj" fmla="val 13433"/>
            </a:avLst>
          </a:prstGeom>
          <a:solidFill>
            <a:srgbClr val="D6EAE7"/>
          </a:solidFill>
          <a:ln w="6350">
            <a:solidFill>
              <a:srgbClr val="9CC9C3"/>
            </a:solidFill>
            <a:prstDash val="solid"/>
          </a:ln>
        </p:spPr>
      </p:sp>
      <p:sp>
        <p:nvSpPr>
          <p:cNvPr id="8" name="Text 6"/>
          <p:cNvSpPr/>
          <p:nvPr/>
        </p:nvSpPr>
        <p:spPr>
          <a:xfrm>
            <a:off x="6305550" y="1855391"/>
            <a:ext cx="50623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Aufgabe 2 · 3 Punkte · Grundanforderung</a:t>
            </a:r>
            <a:endParaRPr lang="en-US" sz="1200" dirty="0"/>
          </a:p>
        </p:txBody>
      </p:sp>
      <p:sp>
        <p:nvSpPr>
          <p:cNvPr id="9" name="Text 7"/>
          <p:cNvSpPr/>
          <p:nvPr/>
        </p:nvSpPr>
        <p:spPr>
          <a:xfrm>
            <a:off x="6305550" y="2094111"/>
            <a:ext cx="50623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Infrastruktur oder Dienst</a:t>
            </a:r>
            <a:endParaRPr lang="en-US" sz="1600" dirty="0"/>
          </a:p>
        </p:txBody>
      </p:sp>
      <p:sp>
        <p:nvSpPr>
          <p:cNvPr id="10" name="Shape 8"/>
          <p:cNvSpPr/>
          <p:nvPr/>
        </p:nvSpPr>
        <p:spPr>
          <a:xfrm>
            <a:off x="815975" y="2591296"/>
            <a:ext cx="5226050" cy="732730"/>
          </a:xfrm>
          <a:prstGeom prst="roundRect">
            <a:avLst>
              <a:gd name="adj" fmla="val 13433"/>
            </a:avLst>
          </a:prstGeom>
          <a:solidFill>
            <a:srgbClr val="D6EAE7"/>
          </a:solidFill>
          <a:ln w="6350">
            <a:solidFill>
              <a:srgbClr val="9CC9C3"/>
            </a:solidFill>
            <a:prstDash val="solid"/>
          </a:ln>
        </p:spPr>
      </p:sp>
      <p:sp>
        <p:nvSpPr>
          <p:cNvPr id="11" name="Text 9"/>
          <p:cNvSpPr/>
          <p:nvPr/>
        </p:nvSpPr>
        <p:spPr>
          <a:xfrm>
            <a:off x="971550" y="2696071"/>
            <a:ext cx="50623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Aufgabe 3 · 4 Punkte · Grundanforderung</a:t>
            </a:r>
            <a:endParaRPr lang="en-US" sz="1200" dirty="0"/>
          </a:p>
        </p:txBody>
      </p:sp>
      <p:sp>
        <p:nvSpPr>
          <p:cNvPr id="12" name="Text 10"/>
          <p:cNvSpPr/>
          <p:nvPr/>
        </p:nvSpPr>
        <p:spPr>
          <a:xfrm>
            <a:off x="971550" y="2934791"/>
            <a:ext cx="50623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Das Internet als Spedition</a:t>
            </a:r>
            <a:endParaRPr lang="en-US" sz="1600" dirty="0"/>
          </a:p>
        </p:txBody>
      </p:sp>
      <p:sp>
        <p:nvSpPr>
          <p:cNvPr id="13" name="Shape 11"/>
          <p:cNvSpPr/>
          <p:nvPr/>
        </p:nvSpPr>
        <p:spPr>
          <a:xfrm>
            <a:off x="6149975" y="2591296"/>
            <a:ext cx="5226050" cy="732730"/>
          </a:xfrm>
          <a:prstGeom prst="roundRect">
            <a:avLst>
              <a:gd name="adj" fmla="val 13433"/>
            </a:avLst>
          </a:prstGeom>
          <a:solidFill>
            <a:srgbClr val="D6EAE7"/>
          </a:solidFill>
          <a:ln w="6350">
            <a:solidFill>
              <a:srgbClr val="9CC9C3"/>
            </a:solidFill>
            <a:prstDash val="solid"/>
          </a:ln>
        </p:spPr>
      </p:sp>
      <p:sp>
        <p:nvSpPr>
          <p:cNvPr id="14" name="Text 12"/>
          <p:cNvSpPr/>
          <p:nvPr/>
        </p:nvSpPr>
        <p:spPr>
          <a:xfrm>
            <a:off x="6305550" y="2696071"/>
            <a:ext cx="50623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Aufgabe 4 · 3 Punkte · Grundanforderung</a:t>
            </a:r>
            <a:endParaRPr lang="en-US" sz="1200" dirty="0"/>
          </a:p>
        </p:txBody>
      </p:sp>
      <p:sp>
        <p:nvSpPr>
          <p:cNvPr id="15" name="Text 13"/>
          <p:cNvSpPr/>
          <p:nvPr/>
        </p:nvSpPr>
        <p:spPr>
          <a:xfrm>
            <a:off x="6305550" y="2934791"/>
            <a:ext cx="50623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Standortbestimmung</a:t>
            </a:r>
            <a:endParaRPr lang="en-US" sz="1600" dirty="0"/>
          </a:p>
        </p:txBody>
      </p:sp>
      <p:sp>
        <p:nvSpPr>
          <p:cNvPr id="16" name="Shape 14"/>
          <p:cNvSpPr/>
          <p:nvPr/>
        </p:nvSpPr>
        <p:spPr>
          <a:xfrm>
            <a:off x="815975" y="3431977"/>
            <a:ext cx="5226050" cy="732730"/>
          </a:xfrm>
          <a:prstGeom prst="roundRect">
            <a:avLst>
              <a:gd name="adj" fmla="val 13433"/>
            </a:avLst>
          </a:prstGeom>
          <a:solidFill>
            <a:srgbClr val="FCFBF7"/>
          </a:solidFill>
          <a:ln w="6350">
            <a:solidFill>
              <a:srgbClr val="D9DEDF"/>
            </a:solidFill>
            <a:prstDash val="solid"/>
          </a:ln>
        </p:spPr>
      </p:sp>
      <p:sp>
        <p:nvSpPr>
          <p:cNvPr id="17" name="Text 15"/>
          <p:cNvSpPr/>
          <p:nvPr/>
        </p:nvSpPr>
        <p:spPr>
          <a:xfrm>
            <a:off x="971550" y="3536752"/>
            <a:ext cx="50623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B"/>
                </a:solidFill>
                <a:latin typeface="Nunito Sans" pitchFamily="34" charset="0"/>
                <a:ea typeface="Nunito Sans" pitchFamily="34" charset="-122"/>
                <a:cs typeface="Nunito Sans" pitchFamily="34" charset="-120"/>
              </a:rPr>
              <a:t>Aufgabe 5 · 6 Punkte</a:t>
            </a:r>
            <a:endParaRPr lang="en-US" sz="1200" dirty="0"/>
          </a:p>
        </p:txBody>
      </p:sp>
      <p:sp>
        <p:nvSpPr>
          <p:cNvPr id="18" name="Text 16"/>
          <p:cNvSpPr/>
          <p:nvPr/>
        </p:nvSpPr>
        <p:spPr>
          <a:xfrm>
            <a:off x="971550" y="3775472"/>
            <a:ext cx="50623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Netzwerk planen mit Prim</a:t>
            </a:r>
            <a:endParaRPr lang="en-US" sz="1600" dirty="0"/>
          </a:p>
        </p:txBody>
      </p:sp>
      <p:sp>
        <p:nvSpPr>
          <p:cNvPr id="19" name="Shape 17"/>
          <p:cNvSpPr/>
          <p:nvPr/>
        </p:nvSpPr>
        <p:spPr>
          <a:xfrm>
            <a:off x="6149975" y="3431977"/>
            <a:ext cx="5226050" cy="732730"/>
          </a:xfrm>
          <a:prstGeom prst="roundRect">
            <a:avLst>
              <a:gd name="adj" fmla="val 13433"/>
            </a:avLst>
          </a:prstGeom>
          <a:solidFill>
            <a:srgbClr val="FCFBF7"/>
          </a:solidFill>
          <a:ln w="6350">
            <a:solidFill>
              <a:srgbClr val="D9DEDF"/>
            </a:solidFill>
            <a:prstDash val="solid"/>
          </a:ln>
        </p:spPr>
      </p:sp>
      <p:sp>
        <p:nvSpPr>
          <p:cNvPr id="20" name="Text 18"/>
          <p:cNvSpPr/>
          <p:nvPr/>
        </p:nvSpPr>
        <p:spPr>
          <a:xfrm>
            <a:off x="6305550" y="3536752"/>
            <a:ext cx="50623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B"/>
                </a:solidFill>
                <a:latin typeface="Nunito Sans" pitchFamily="34" charset="0"/>
                <a:ea typeface="Nunito Sans" pitchFamily="34" charset="-122"/>
                <a:cs typeface="Nunito Sans" pitchFamily="34" charset="-120"/>
              </a:rPr>
              <a:t>Aufgabe 6 · 4 Punkte</a:t>
            </a:r>
            <a:endParaRPr lang="en-US" sz="1200" dirty="0"/>
          </a:p>
        </p:txBody>
      </p:sp>
      <p:sp>
        <p:nvSpPr>
          <p:cNvPr id="21" name="Text 19"/>
          <p:cNvSpPr/>
          <p:nvPr/>
        </p:nvSpPr>
        <p:spPr>
          <a:xfrm>
            <a:off x="6305550" y="3775472"/>
            <a:ext cx="50623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Online-Bewertungen</a:t>
            </a:r>
            <a:endParaRPr lang="en-US" sz="1600" dirty="0"/>
          </a:p>
        </p:txBody>
      </p:sp>
      <p:sp>
        <p:nvSpPr>
          <p:cNvPr id="22" name="Shape 20"/>
          <p:cNvSpPr/>
          <p:nvPr/>
        </p:nvSpPr>
        <p:spPr>
          <a:xfrm>
            <a:off x="815975" y="4272657"/>
            <a:ext cx="5226050" cy="732730"/>
          </a:xfrm>
          <a:prstGeom prst="roundRect">
            <a:avLst>
              <a:gd name="adj" fmla="val 13433"/>
            </a:avLst>
          </a:prstGeom>
          <a:solidFill>
            <a:srgbClr val="FCFBF7"/>
          </a:solidFill>
          <a:ln w="6350">
            <a:solidFill>
              <a:srgbClr val="D9DEDF"/>
            </a:solidFill>
            <a:prstDash val="solid"/>
          </a:ln>
        </p:spPr>
      </p:sp>
      <p:sp>
        <p:nvSpPr>
          <p:cNvPr id="23" name="Text 21"/>
          <p:cNvSpPr/>
          <p:nvPr/>
        </p:nvSpPr>
        <p:spPr>
          <a:xfrm>
            <a:off x="971550" y="4377432"/>
            <a:ext cx="50623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B"/>
                </a:solidFill>
                <a:latin typeface="Nunito Sans" pitchFamily="34" charset="0"/>
                <a:ea typeface="Nunito Sans" pitchFamily="34" charset="-122"/>
                <a:cs typeface="Nunito Sans" pitchFamily="34" charset="-120"/>
              </a:rPr>
              <a:t>Aufgabe 7 · 6 Punkte</a:t>
            </a:r>
            <a:endParaRPr lang="en-US" sz="1200" dirty="0"/>
          </a:p>
        </p:txBody>
      </p:sp>
      <p:sp>
        <p:nvSpPr>
          <p:cNvPr id="24" name="Text 22"/>
          <p:cNvSpPr/>
          <p:nvPr/>
        </p:nvSpPr>
        <p:spPr>
          <a:xfrm>
            <a:off x="971550" y="4616152"/>
            <a:ext cx="50623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Fotos: Chance, Risiko, Empfehlung, Wirkung</a:t>
            </a:r>
            <a:endParaRPr lang="en-US" sz="1600" dirty="0"/>
          </a:p>
        </p:txBody>
      </p:sp>
      <p:sp>
        <p:nvSpPr>
          <p:cNvPr id="25" name="Shape 23"/>
          <p:cNvSpPr/>
          <p:nvPr/>
        </p:nvSpPr>
        <p:spPr>
          <a:xfrm>
            <a:off x="6149975" y="4272657"/>
            <a:ext cx="5226050" cy="732730"/>
          </a:xfrm>
          <a:prstGeom prst="roundRect">
            <a:avLst>
              <a:gd name="adj" fmla="val 13433"/>
            </a:avLst>
          </a:prstGeom>
          <a:solidFill>
            <a:srgbClr val="D6EAE7"/>
          </a:solidFill>
          <a:ln w="6350">
            <a:solidFill>
              <a:srgbClr val="9CC9C3"/>
            </a:solidFill>
            <a:prstDash val="solid"/>
          </a:ln>
        </p:spPr>
      </p:sp>
      <p:sp>
        <p:nvSpPr>
          <p:cNvPr id="26" name="Text 24"/>
          <p:cNvSpPr/>
          <p:nvPr/>
        </p:nvSpPr>
        <p:spPr>
          <a:xfrm>
            <a:off x="6305550" y="4377432"/>
            <a:ext cx="50623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Aufgabe 8 · 3 Punkte · Grundanforderung</a:t>
            </a:r>
            <a:endParaRPr lang="en-US" sz="1200" dirty="0"/>
          </a:p>
        </p:txBody>
      </p:sp>
      <p:sp>
        <p:nvSpPr>
          <p:cNvPr id="27" name="Text 25"/>
          <p:cNvSpPr/>
          <p:nvPr/>
        </p:nvSpPr>
        <p:spPr>
          <a:xfrm>
            <a:off x="6305550" y="4616152"/>
            <a:ext cx="50623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Richtig oder falsch</a:t>
            </a:r>
            <a:endParaRPr lang="en-US" sz="1600" dirty="0"/>
          </a:p>
        </p:txBody>
      </p:sp>
      <p:sp>
        <p:nvSpPr>
          <p:cNvPr id="28" name="Text 26"/>
          <p:cNvSpPr/>
          <p:nvPr/>
        </p:nvSpPr>
        <p:spPr>
          <a:xfrm>
            <a:off x="812800" y="521176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Zusammen 34 Punkte. Die Grundanforderungen machen 18 Punkte aus.</a:t>
            </a:r>
            <a:endParaRPr lang="en-US" sz="1600" dirty="0"/>
          </a:p>
        </p:txBody>
      </p:sp>
      <p:sp>
        <p:nvSpPr>
          <p:cNvPr id="29" name="Text 2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30" name="Text 28"/>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MINI-QUIZ · 6 MIN · ZU ZWEIT</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Sechs Fragen zu Kapitel 1</a:t>
            </a:r>
            <a:endParaRPr lang="en-US" sz="3200" dirty="0"/>
          </a:p>
        </p:txBody>
      </p:sp>
      <p:sp>
        <p:nvSpPr>
          <p:cNvPr id="4" name="Text 2"/>
          <p:cNvSpPr/>
          <p:nvPr/>
        </p:nvSpPr>
        <p:spPr>
          <a:xfrm>
            <a:off x="812800" y="1747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833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Wozu hat jedes Gerät im Internet eine IP-Adresse?</a:t>
            </a:r>
            <a:endParaRPr lang="en-US" sz="1600" dirty="0"/>
          </a:p>
        </p:txBody>
      </p:sp>
      <p:sp>
        <p:nvSpPr>
          <p:cNvPr id="6" name="Text 4"/>
          <p:cNvSpPr/>
          <p:nvPr/>
        </p:nvSpPr>
        <p:spPr>
          <a:xfrm>
            <a:off x="812800" y="23316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179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Nenne zwei Merkmale einer glaubwürdigen Online-Bewertung.</a:t>
            </a:r>
            <a:endParaRPr lang="en-US" sz="1600" dirty="0"/>
          </a:p>
        </p:txBody>
      </p:sp>
      <p:sp>
        <p:nvSpPr>
          <p:cNvPr id="8" name="Text 6"/>
          <p:cNvSpPr/>
          <p:nvPr/>
        </p:nvSpPr>
        <p:spPr>
          <a:xfrm>
            <a:off x="812800" y="29158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0021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Wie viele Verbindungen hat der günstigste Plan nach Prim bei 6 Standorten?</a:t>
            </a:r>
            <a:endParaRPr lang="en-US" sz="1600" dirty="0"/>
          </a:p>
        </p:txBody>
      </p:sp>
      <p:sp>
        <p:nvSpPr>
          <p:cNvPr id="10" name="Text 8"/>
          <p:cNvSpPr/>
          <p:nvPr/>
        </p:nvSpPr>
        <p:spPr>
          <a:xfrm>
            <a:off x="812800" y="35000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4</a:t>
            </a:r>
            <a:endParaRPr lang="en-US" sz="1600" dirty="0"/>
          </a:p>
        </p:txBody>
      </p:sp>
      <p:sp>
        <p:nvSpPr>
          <p:cNvPr id="11" name="Text 9"/>
          <p:cNvSpPr/>
          <p:nvPr/>
        </p:nvSpPr>
        <p:spPr>
          <a:xfrm>
            <a:off x="1447800" y="35863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Ist das WWW das Internet? Begründe mit dem Bild der Spedition.</a:t>
            </a:r>
            <a:endParaRPr lang="en-US" sz="1600" dirty="0"/>
          </a:p>
        </p:txBody>
      </p:sp>
      <p:sp>
        <p:nvSpPr>
          <p:cNvPr id="12" name="Text 10"/>
          <p:cNvSpPr/>
          <p:nvPr/>
        </p:nvSpPr>
        <p:spPr>
          <a:xfrm>
            <a:off x="812800" y="40842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5</a:t>
            </a:r>
            <a:endParaRPr lang="en-US" sz="1600" dirty="0"/>
          </a:p>
        </p:txBody>
      </p:sp>
      <p:sp>
        <p:nvSpPr>
          <p:cNvPr id="13" name="Text 11"/>
          <p:cNvSpPr/>
          <p:nvPr/>
        </p:nvSpPr>
        <p:spPr>
          <a:xfrm>
            <a:off x="1447800" y="41705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Was bedeutet FOMO?</a:t>
            </a:r>
            <a:endParaRPr lang="en-US" sz="1600" dirty="0"/>
          </a:p>
        </p:txBody>
      </p:sp>
      <p:sp>
        <p:nvSpPr>
          <p:cNvPr id="14" name="Text 12"/>
          <p:cNvSpPr/>
          <p:nvPr/>
        </p:nvSpPr>
        <p:spPr>
          <a:xfrm>
            <a:off x="812800" y="4668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6</a:t>
            </a:r>
            <a:endParaRPr lang="en-US" sz="1600" dirty="0"/>
          </a:p>
        </p:txBody>
      </p:sp>
      <p:sp>
        <p:nvSpPr>
          <p:cNvPr id="15" name="Text 13"/>
          <p:cNvSpPr/>
          <p:nvPr/>
        </p:nvSpPr>
        <p:spPr>
          <a:xfrm>
            <a:off x="1447800" y="4754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Nenne eine Chance und ein Risiko beim Posten von Ferienfotos.</a:t>
            </a:r>
            <a:endParaRPr lang="en-US" sz="16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7" name="Text 1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LÖSUNGEN · 4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sind die Antworten</a:t>
            </a:r>
            <a:endParaRPr lang="en-US" sz="3200" dirty="0"/>
          </a:p>
        </p:txBody>
      </p:sp>
      <p:sp>
        <p:nvSpPr>
          <p:cNvPr id="4" name="Text 2"/>
          <p:cNvSpPr/>
          <p:nvPr/>
        </p:nvSpPr>
        <p:spPr>
          <a:xfrm>
            <a:off x="812800" y="1747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833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Damit Daten ihr Ziel finden. Über die IP-Adresse lässt sich auch der ungefähre Standort bestimmen.</a:t>
            </a:r>
            <a:endParaRPr lang="en-US" sz="1600" dirty="0"/>
          </a:p>
        </p:txBody>
      </p:sp>
      <p:sp>
        <p:nvSpPr>
          <p:cNvPr id="6" name="Text 4"/>
          <p:cNvSpPr/>
          <p:nvPr/>
        </p:nvSpPr>
        <p:spPr>
          <a:xfrm>
            <a:off x="812800" y="23316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179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Zum Beispiel: genaue Angaben zum Produkt, Vor- und Nachteile genannt, nicht nur Lob oder Kritik.</a:t>
            </a:r>
            <a:endParaRPr lang="en-US" sz="1600" dirty="0"/>
          </a:p>
        </p:txBody>
      </p:sp>
      <p:sp>
        <p:nvSpPr>
          <p:cNvPr id="8" name="Text 6"/>
          <p:cNvSpPr/>
          <p:nvPr/>
        </p:nvSpPr>
        <p:spPr>
          <a:xfrm>
            <a:off x="812800" y="29158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0021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5 Verbindungen, also immer ein Standort weniger als es Standorte gibt.</a:t>
            </a:r>
            <a:endParaRPr lang="en-US" sz="1600" dirty="0"/>
          </a:p>
        </p:txBody>
      </p:sp>
      <p:sp>
        <p:nvSpPr>
          <p:cNvPr id="10" name="Text 8"/>
          <p:cNvSpPr/>
          <p:nvPr/>
        </p:nvSpPr>
        <p:spPr>
          <a:xfrm>
            <a:off x="812800" y="35000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4</a:t>
            </a:r>
            <a:endParaRPr lang="en-US" sz="1600" dirty="0"/>
          </a:p>
        </p:txBody>
      </p:sp>
      <p:sp>
        <p:nvSpPr>
          <p:cNvPr id="11" name="Text 9"/>
          <p:cNvSpPr/>
          <p:nvPr/>
        </p:nvSpPr>
        <p:spPr>
          <a:xfrm>
            <a:off x="1447800" y="35863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Nein. Das WWW ist ein Dienst (ein Lieferfahrzeug), das Internet die Infrastruktur (das Strassennetz).</a:t>
            </a:r>
            <a:endParaRPr lang="en-US" sz="1600" dirty="0"/>
          </a:p>
        </p:txBody>
      </p:sp>
      <p:sp>
        <p:nvSpPr>
          <p:cNvPr id="12" name="Text 10"/>
          <p:cNvSpPr/>
          <p:nvPr/>
        </p:nvSpPr>
        <p:spPr>
          <a:xfrm>
            <a:off x="812800" y="40842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5</a:t>
            </a:r>
            <a:endParaRPr lang="en-US" sz="1600" dirty="0"/>
          </a:p>
        </p:txBody>
      </p:sp>
      <p:sp>
        <p:nvSpPr>
          <p:cNvPr id="13" name="Text 11"/>
          <p:cNvSpPr/>
          <p:nvPr/>
        </p:nvSpPr>
        <p:spPr>
          <a:xfrm>
            <a:off x="1447800" y="41705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Fear of Missing Out: die Angst, etwas zu verpassen.</a:t>
            </a:r>
            <a:endParaRPr lang="en-US" sz="1600" dirty="0"/>
          </a:p>
        </p:txBody>
      </p:sp>
      <p:sp>
        <p:nvSpPr>
          <p:cNvPr id="14" name="Text 12"/>
          <p:cNvSpPr/>
          <p:nvPr/>
        </p:nvSpPr>
        <p:spPr>
          <a:xfrm>
            <a:off x="812800" y="4668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6</a:t>
            </a:r>
            <a:endParaRPr lang="en-US" sz="1600" dirty="0"/>
          </a:p>
        </p:txBody>
      </p:sp>
      <p:sp>
        <p:nvSpPr>
          <p:cNvPr id="15" name="Text 13"/>
          <p:cNvSpPr/>
          <p:nvPr/>
        </p:nvSpPr>
        <p:spPr>
          <a:xfrm>
            <a:off x="1447800" y="4754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Chance: Kontakt halten. Risiko: Fotos bleiben im Netz, auch wenn man sie löscht.</a:t>
            </a:r>
            <a:endParaRPr lang="en-US" sz="16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7" name="Text 1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304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PRÜFUNGSINFOS · 3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Domine" pitchFamily="18" charset="0"/>
                <a:ea typeface="Domine" pitchFamily="18" charset="-122"/>
                <a:cs typeface="Domine" pitchFamily="18" charset="-120"/>
              </a:rPr>
              <a:t>Nächste Woche ist Prüfung</a:t>
            </a:r>
            <a:endParaRPr lang="en-US" sz="3200" dirty="0"/>
          </a:p>
        </p:txBody>
      </p:sp>
      <p:sp>
        <p:nvSpPr>
          <p:cNvPr id="4" name="Shape 2"/>
          <p:cNvSpPr/>
          <p:nvPr/>
        </p:nvSpPr>
        <p:spPr>
          <a:xfrm>
            <a:off x="812800" y="1747441"/>
            <a:ext cx="2527300" cy="960041"/>
          </a:xfrm>
          <a:prstGeom prst="roundRect">
            <a:avLst>
              <a:gd name="adj" fmla="val 10583"/>
            </a:avLst>
          </a:prstGeom>
          <a:solidFill>
            <a:srgbClr val="1E4268"/>
          </a:solidFill>
          <a:ln/>
        </p:spPr>
      </p:sp>
      <p:sp>
        <p:nvSpPr>
          <p:cNvPr id="5" name="Text 3"/>
          <p:cNvSpPr/>
          <p:nvPr/>
        </p:nvSpPr>
        <p:spPr>
          <a:xfrm>
            <a:off x="990600" y="1899841"/>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Dienstag</a:t>
            </a:r>
            <a:endParaRPr lang="en-US" sz="1200" dirty="0"/>
          </a:p>
        </p:txBody>
      </p:sp>
      <p:sp>
        <p:nvSpPr>
          <p:cNvPr id="6" name="Text 4"/>
          <p:cNvSpPr/>
          <p:nvPr/>
        </p:nvSpPr>
        <p:spPr>
          <a:xfrm>
            <a:off x="990600" y="2163961"/>
            <a:ext cx="223685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4EE"/>
                </a:solidFill>
                <a:latin typeface="Nunito Sans" pitchFamily="34" charset="0"/>
                <a:ea typeface="Nunito Sans" pitchFamily="34" charset="-122"/>
                <a:cs typeface="Nunito Sans" pitchFamily="34" charset="-120"/>
              </a:rPr>
              <a:t>10.11.2026</a:t>
            </a:r>
            <a:endParaRPr lang="en-US" sz="2200" dirty="0"/>
          </a:p>
        </p:txBody>
      </p:sp>
      <p:sp>
        <p:nvSpPr>
          <p:cNvPr id="7" name="Shape 5"/>
          <p:cNvSpPr/>
          <p:nvPr/>
        </p:nvSpPr>
        <p:spPr>
          <a:xfrm>
            <a:off x="3492500" y="1747441"/>
            <a:ext cx="2527300" cy="960041"/>
          </a:xfrm>
          <a:prstGeom prst="roundRect">
            <a:avLst>
              <a:gd name="adj" fmla="val 10583"/>
            </a:avLst>
          </a:prstGeom>
          <a:solidFill>
            <a:srgbClr val="1E4268"/>
          </a:solidFill>
          <a:ln/>
        </p:spPr>
      </p:sp>
      <p:sp>
        <p:nvSpPr>
          <p:cNvPr id="8" name="Text 6"/>
          <p:cNvSpPr/>
          <p:nvPr/>
        </p:nvSpPr>
        <p:spPr>
          <a:xfrm>
            <a:off x="3670300" y="1899841"/>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Dauer</a:t>
            </a:r>
            <a:endParaRPr lang="en-US" sz="1200" dirty="0"/>
          </a:p>
        </p:txBody>
      </p:sp>
      <p:sp>
        <p:nvSpPr>
          <p:cNvPr id="9" name="Text 7"/>
          <p:cNvSpPr/>
          <p:nvPr/>
        </p:nvSpPr>
        <p:spPr>
          <a:xfrm>
            <a:off x="3670300" y="2163961"/>
            <a:ext cx="223685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4EE"/>
                </a:solidFill>
                <a:latin typeface="Nunito Sans" pitchFamily="34" charset="0"/>
                <a:ea typeface="Nunito Sans" pitchFamily="34" charset="-122"/>
                <a:cs typeface="Nunito Sans" pitchFamily="34" charset="-120"/>
              </a:rPr>
              <a:t>40 Minuten</a:t>
            </a:r>
            <a:endParaRPr lang="en-US" sz="2200" dirty="0"/>
          </a:p>
        </p:txBody>
      </p:sp>
      <p:sp>
        <p:nvSpPr>
          <p:cNvPr id="10" name="Shape 8"/>
          <p:cNvSpPr/>
          <p:nvPr/>
        </p:nvSpPr>
        <p:spPr>
          <a:xfrm>
            <a:off x="6172200" y="1747441"/>
            <a:ext cx="2527300" cy="960041"/>
          </a:xfrm>
          <a:prstGeom prst="roundRect">
            <a:avLst>
              <a:gd name="adj" fmla="val 10583"/>
            </a:avLst>
          </a:prstGeom>
          <a:solidFill>
            <a:srgbClr val="1E4268"/>
          </a:solidFill>
          <a:ln/>
        </p:spPr>
      </p:sp>
      <p:sp>
        <p:nvSpPr>
          <p:cNvPr id="11" name="Text 9"/>
          <p:cNvSpPr/>
          <p:nvPr/>
        </p:nvSpPr>
        <p:spPr>
          <a:xfrm>
            <a:off x="6350000" y="1899841"/>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Total</a:t>
            </a:r>
            <a:endParaRPr lang="en-US" sz="1200" dirty="0"/>
          </a:p>
        </p:txBody>
      </p:sp>
      <p:sp>
        <p:nvSpPr>
          <p:cNvPr id="12" name="Text 10"/>
          <p:cNvSpPr/>
          <p:nvPr/>
        </p:nvSpPr>
        <p:spPr>
          <a:xfrm>
            <a:off x="6350000" y="2163961"/>
            <a:ext cx="223685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4EE"/>
                </a:solidFill>
                <a:latin typeface="Nunito Sans" pitchFamily="34" charset="0"/>
                <a:ea typeface="Nunito Sans" pitchFamily="34" charset="-122"/>
                <a:cs typeface="Nunito Sans" pitchFamily="34" charset="-120"/>
              </a:rPr>
              <a:t>34 Punkte</a:t>
            </a:r>
            <a:endParaRPr lang="en-US" sz="2200" dirty="0"/>
          </a:p>
        </p:txBody>
      </p:sp>
      <p:sp>
        <p:nvSpPr>
          <p:cNvPr id="13" name="Shape 11"/>
          <p:cNvSpPr/>
          <p:nvPr/>
        </p:nvSpPr>
        <p:spPr>
          <a:xfrm>
            <a:off x="8851900" y="1747441"/>
            <a:ext cx="2527300" cy="960041"/>
          </a:xfrm>
          <a:prstGeom prst="roundRect">
            <a:avLst>
              <a:gd name="adj" fmla="val 10583"/>
            </a:avLst>
          </a:prstGeom>
          <a:solidFill>
            <a:srgbClr val="1E4268"/>
          </a:solidFill>
          <a:ln/>
        </p:spPr>
      </p:sp>
      <p:sp>
        <p:nvSpPr>
          <p:cNvPr id="14" name="Text 12"/>
          <p:cNvSpPr/>
          <p:nvPr/>
        </p:nvSpPr>
        <p:spPr>
          <a:xfrm>
            <a:off x="9029700" y="1899841"/>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Hilfsmittel</a:t>
            </a:r>
            <a:endParaRPr lang="en-US" sz="1200" dirty="0"/>
          </a:p>
        </p:txBody>
      </p:sp>
      <p:sp>
        <p:nvSpPr>
          <p:cNvPr id="15" name="Text 13"/>
          <p:cNvSpPr/>
          <p:nvPr/>
        </p:nvSpPr>
        <p:spPr>
          <a:xfrm>
            <a:off x="9029700" y="2163961"/>
            <a:ext cx="223685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4EE"/>
                </a:solidFill>
                <a:latin typeface="Nunito Sans" pitchFamily="34" charset="0"/>
                <a:ea typeface="Nunito Sans" pitchFamily="34" charset="-122"/>
                <a:cs typeface="Nunito Sans" pitchFamily="34" charset="-120"/>
              </a:rPr>
              <a:t>Keine</a:t>
            </a:r>
            <a:endParaRPr lang="en-US" sz="2200" dirty="0"/>
          </a:p>
        </p:txBody>
      </p:sp>
      <p:sp>
        <p:nvSpPr>
          <p:cNvPr id="16" name="Text 14"/>
          <p:cNvSpPr/>
          <p:nvPr/>
        </p:nvSpPr>
        <p:spPr>
          <a:xfrm>
            <a:off x="812800" y="291068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1</a:t>
            </a:r>
            <a:endParaRPr lang="en-US" sz="1600" dirty="0"/>
          </a:p>
        </p:txBody>
      </p:sp>
      <p:sp>
        <p:nvSpPr>
          <p:cNvPr id="17" name="Text 15"/>
          <p:cNvSpPr/>
          <p:nvPr/>
        </p:nvSpPr>
        <p:spPr>
          <a:xfrm>
            <a:off x="1447800" y="2997002"/>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Für eine Note 4 brauchst du 20,5 von 34 Punkten.</a:t>
            </a:r>
            <a:endParaRPr lang="en-US" sz="1600" dirty="0"/>
          </a:p>
        </p:txBody>
      </p:sp>
      <p:sp>
        <p:nvSpPr>
          <p:cNvPr id="18" name="Text 16"/>
          <p:cNvSpPr/>
          <p:nvPr/>
        </p:nvSpPr>
        <p:spPr>
          <a:xfrm>
            <a:off x="812800" y="352028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2</a:t>
            </a:r>
            <a:endParaRPr lang="en-US" sz="1600" dirty="0"/>
          </a:p>
        </p:txBody>
      </p:sp>
      <p:sp>
        <p:nvSpPr>
          <p:cNvPr id="19" name="Text 17"/>
          <p:cNvSpPr/>
          <p:nvPr/>
        </p:nvSpPr>
        <p:spPr>
          <a:xfrm>
            <a:off x="1447800" y="3606602"/>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Sicher starten mit den Aufgaben 1, 2, 3, 4 und 8 (zusammen 18 Punkte).</a:t>
            </a:r>
            <a:endParaRPr lang="en-US" sz="1600" dirty="0"/>
          </a:p>
        </p:txBody>
      </p:sp>
      <p:sp>
        <p:nvSpPr>
          <p:cNvPr id="20" name="Text 18"/>
          <p:cNvSpPr/>
          <p:nvPr/>
        </p:nvSpPr>
        <p:spPr>
          <a:xfrm>
            <a:off x="812800" y="412988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3</a:t>
            </a:r>
            <a:endParaRPr lang="en-US" sz="1600" dirty="0"/>
          </a:p>
        </p:txBody>
      </p:sp>
      <p:sp>
        <p:nvSpPr>
          <p:cNvPr id="21" name="Text 19"/>
          <p:cNvSpPr/>
          <p:nvPr/>
        </p:nvSpPr>
        <p:spPr>
          <a:xfrm>
            <a:off x="1447800" y="4216202"/>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Hausaufgabe: Reisetagebuch (Aufgabe 127) schreiben und Hefteinträge durchgehen.</a:t>
            </a:r>
            <a:endParaRPr lang="en-US" sz="16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23" name="Text 2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theme/theme1.xml><?xml version="1.0" encoding="utf-8"?>
<a:theme xmlns:a="http://schemas.openxmlformats.org/drawingml/2006/main" name="M&amp;I Kapitel 1: Wirkung von Fotos und Repetition (03.11.2026)">
  <a:themeElements>
    <a:clrScheme name="M&amp;I Kapitel 1: Wirkung von Fotos und Repetition (03.11.2026)">
      <a:dk1>
        <a:srgbClr val="14304D"/>
      </a:dk1>
      <a:lt1>
        <a:srgbClr val="F6F4EE"/>
      </a:lt1>
      <a:dk2>
        <a:srgbClr val="4D6175"/>
      </a:dk2>
      <a:lt2>
        <a:srgbClr val="DFE0DE"/>
      </a:lt2>
      <a:accent1>
        <a:srgbClr val="0B6E6E"/>
      </a:accent1>
      <a:accent2>
        <a:srgbClr val="6FD0C8"/>
      </a:accent2>
      <a:accent3>
        <a:srgbClr val="1E4268"/>
      </a:accent3>
      <a:accent4>
        <a:srgbClr val="E39A3B"/>
      </a:accent4>
      <a:accent5>
        <a:srgbClr val="A33A2B"/>
      </a:accent5>
      <a:accent6>
        <a:srgbClr val="4A5B6B"/>
      </a:accent6>
      <a:hlink>
        <a:srgbClr val="0563C1"/>
      </a:hlink>
      <a:folHlink>
        <a:srgbClr val="954F72"/>
      </a:folHlink>
    </a:clrScheme>
    <a:fontScheme name="M&amp;I Kapitel 1: Wirkung von Fotos und Repetition (03.11.2026)">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M&amp;I Kapitel 1: Wirkung von Fotos und Repetition (03.11.2026)</dc:title>
  <dc:subject/>
  <dc:creator/>
  <cp:lastModifiedBy/>
  <cp:revision>1</cp:revision>
  <dcterms:created xsi:type="dcterms:W3CDTF">2026-10-19T19:19:11Z</dcterms:created>
  <dcterms:modified xsi:type="dcterms:W3CDTF">2026-10-19T19:19:11Z</dcterms:modified>
</cp:coreProperties>
</file>