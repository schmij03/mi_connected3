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74" r:id="rId7"/>
    <p:sldId id="279" r:id="rId8"/>
    <p:sldId id="280" r:id="rId9"/>
    <p:sldId id="258" r:id="rId10"/>
    <p:sldId id="259" r:id="rId11"/>
    <p:sldId id="276" r:id="rId12"/>
    <p:sldId id="282" r:id="rId13"/>
    <p:sldId id="260" r:id="rId14"/>
    <p:sldId id="261" r:id="rId15"/>
    <p:sldId id="277" r:id="rId16"/>
    <p:sldId id="26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5952"/>
  </p:normalViewPr>
  <p:slideViewPr>
    <p:cSldViewPr snapToGrid="0" snapToObjects="1">
      <p:cViewPr varScale="1">
        <p:scale>
          <a:sx n="116" d="100"/>
          <a:sy n="116" d="100"/>
        </p:scale>
        <p:origin x="4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Schmid" userId="1110e7f4-0253-46c7-a340-3f814eeafb47" providerId="ADAL" clId="{01880861-311D-531E-A1C6-52F600E95700}"/>
    <pc:docChg chg="delSld modSld">
      <pc:chgData name="Jan Schmid" userId="1110e7f4-0253-46c7-a340-3f814eeafb47" providerId="ADAL" clId="{01880861-311D-531E-A1C6-52F600E95700}" dt="2026-10-19T18:12:03.830" v="118" actId="2696"/>
      <pc:docMkLst>
        <pc:docMk/>
      </pc:docMkLst>
      <pc:sldChg chg="del">
        <pc:chgData name="Jan Schmid" userId="1110e7f4-0253-46c7-a340-3f814eeafb47" providerId="ADAL" clId="{01880861-311D-531E-A1C6-52F600E95700}" dt="2026-10-19T18:12:03.830" v="118" actId="2696"/>
        <pc:sldMkLst>
          <pc:docMk/>
          <pc:sldMk cId="0" sldId="263"/>
        </pc:sldMkLst>
      </pc:sldChg>
      <pc:sldChg chg="del">
        <pc:chgData name="Jan Schmid" userId="1110e7f4-0253-46c7-a340-3f814eeafb47" providerId="ADAL" clId="{01880861-311D-531E-A1C6-52F600E95700}" dt="2026-10-19T18:12:03.830" v="118" actId="2696"/>
        <pc:sldMkLst>
          <pc:docMk/>
          <pc:sldMk cId="0" sldId="264"/>
        </pc:sldMkLst>
      </pc:sldChg>
      <pc:sldChg chg="del">
        <pc:chgData name="Jan Schmid" userId="1110e7f4-0253-46c7-a340-3f814eeafb47" providerId="ADAL" clId="{01880861-311D-531E-A1C6-52F600E95700}" dt="2026-10-19T18:12:03.830" v="118" actId="2696"/>
        <pc:sldMkLst>
          <pc:docMk/>
          <pc:sldMk cId="0" sldId="265"/>
        </pc:sldMkLst>
      </pc:sldChg>
      <pc:sldChg chg="del">
        <pc:chgData name="Jan Schmid" userId="1110e7f4-0253-46c7-a340-3f814eeafb47" providerId="ADAL" clId="{01880861-311D-531E-A1C6-52F600E95700}" dt="2026-10-19T18:12:03.830" v="118" actId="2696"/>
        <pc:sldMkLst>
          <pc:docMk/>
          <pc:sldMk cId="0" sldId="266"/>
        </pc:sldMkLst>
      </pc:sldChg>
      <pc:sldChg chg="del">
        <pc:chgData name="Jan Schmid" userId="1110e7f4-0253-46c7-a340-3f814eeafb47" providerId="ADAL" clId="{01880861-311D-531E-A1C6-52F600E95700}" dt="2026-10-19T18:12:03.830" v="118" actId="2696"/>
        <pc:sldMkLst>
          <pc:docMk/>
          <pc:sldMk cId="0" sldId="267"/>
        </pc:sldMkLst>
      </pc:sldChg>
      <pc:sldChg chg="del">
        <pc:chgData name="Jan Schmid" userId="1110e7f4-0253-46c7-a340-3f814eeafb47" providerId="ADAL" clId="{01880861-311D-531E-A1C6-52F600E95700}" dt="2026-10-19T18:12:03.830" v="118" actId="2696"/>
        <pc:sldMkLst>
          <pc:docMk/>
          <pc:sldMk cId="0" sldId="268"/>
        </pc:sldMkLst>
      </pc:sldChg>
      <pc:sldChg chg="del">
        <pc:chgData name="Jan Schmid" userId="1110e7f4-0253-46c7-a340-3f814eeafb47" providerId="ADAL" clId="{01880861-311D-531E-A1C6-52F600E95700}" dt="2026-10-19T18:11:48.349" v="117" actId="2696"/>
        <pc:sldMkLst>
          <pc:docMk/>
          <pc:sldMk cId="0" sldId="272"/>
        </pc:sldMkLst>
      </pc:sldChg>
      <pc:sldChg chg="modSp del mod">
        <pc:chgData name="Jan Schmid" userId="1110e7f4-0253-46c7-a340-3f814eeafb47" providerId="ADAL" clId="{01880861-311D-531E-A1C6-52F600E95700}" dt="2026-10-19T18:11:43.321" v="116" actId="2696"/>
        <pc:sldMkLst>
          <pc:docMk/>
          <pc:sldMk cId="0" sldId="273"/>
        </pc:sldMkLst>
      </pc:sldChg>
      <pc:sldChg chg="del">
        <pc:chgData name="Jan Schmid" userId="1110e7f4-0253-46c7-a340-3f814eeafb47" providerId="ADAL" clId="{01880861-311D-531E-A1C6-52F600E95700}" dt="2026-10-19T18:12:03.830" v="118" actId="2696"/>
        <pc:sldMkLst>
          <pc:docMk/>
          <pc:sldMk cId="0" sldId="278"/>
        </pc:sldMkLst>
      </pc:sldChg>
      <pc:sldChg chg="del">
        <pc:chgData name="Jan Schmid" userId="1110e7f4-0253-46c7-a340-3f814eeafb47" providerId="ADAL" clId="{01880861-311D-531E-A1C6-52F600E95700}" dt="2026-10-19T18:12:03.830" v="118" actId="2696"/>
        <pc:sldMkLst>
          <pc:docMk/>
          <pc:sldMk cId="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3124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Kurz ankündigen: Heute gibt es zuerst die Hausaufgabe von letzter Woche, danach zwei Themen. Teil A: Kann man Online-Bewertungen trauen? Teil B: Warum ruckelt ein Video?</a:t>
            </a:r>
          </a:p>
          <a:p>
            <a:r>
              <a:t>Der Titel ist bewusst als Frage gestellt. Du musst hier noch nichts beantworten.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Aufgaben 106 und 107 konnten letzte Woche nicht mehr gelöst werden und waren Hausaufgabe (Arbeitsbuch oder AB 1 B).</a:t>
            </a:r>
          </a:p>
          <a:p>
            <a:r>
              <a:t>Ablauf: 1 Minute zu zweit vergleichen lassen. Danach pro Frage 1 bis 2 Kinder aufrufen. Die Antworten kurz bestätigen oder ergänzen, dann die Lösungsfolien zeigen (nächste drei Folien).</a:t>
            </a:r>
          </a:p>
          <a:p>
            <a:r>
              <a:t>Wer die Hausaufgabe nicht gemacht hat, hört zu und ergänzt die Lösungen auf dem Blatt. Keine Diskussion darüber in der Lektion, einfach notieren und der Klassenlehrperson melden.</a:t>
            </a:r>
          </a:p>
          <a:p>
            <a:r>
              <a:t>Lösung Frage 1: Eine IP-Adresse ist eine Nummer, die jedes Gerät im Internet hat, zum Beispiel 146.159.93.154. Sie funktioniert wie eine Hausadresse: Damit wissen die Daten, wohin sie müssen.</a:t>
            </a:r>
          </a:p>
          <a:p>
            <a:r>
              <a:t>Lösung Aufgabe 106 und 107: siehe die nächsten drei Folien.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Lösung Aufgabe 106 (aus dem Handbuch connected 3):</a:t>
            </a:r>
          </a:p>
          <a:p>
            <a:r>
              <a:t>Mit einer Webseite wie «IP-Standort» kann man zu jeder Webseite die IP-Adresse und den ungefähren Standort des Servers herausfinden. Ein Server ist ein Computer, der rund um die Uhr läuft und die Webseite ausliefert.</a:t>
            </a:r>
          </a:p>
          <a:p>
            <a:r>
              <a:t>Beispiele: www.ti.ch 193.246.181.24 Bellinzona; sbb.ch 194.150.245.142 Bern; www.swisscom.ch 195.186.210.170 Genf; srf.ch 146.159.93.154 Bern; youtube.com 172.217.12.174 New York City USA.</a:t>
            </a:r>
          </a:p>
          <a:p>
            <a:r>
              <a:t>Wenn Kinder andere Orte oder andere Nummern haben, ist das kein Fehler. Die Angaben können sich ändern. Mit oder ohne «www.» kann ein anderer Ort erscheinen, weil grosse Webseiten ihre Inhalte über Firmen in anderen Ländern verteilen (bei www.srf.ch die Firma Akamai in Boston).</a:t>
            </a:r>
          </a:p>
          <a:p>
            <a:r>
              <a:t>Falls ein Kind fragt, warum auf dem eigenen Gerät eine andere IP-Adresse steht (oft 192.168...): Das ist die Adresse im eigenen WLAN zu Hause. Gegen aussen hat der Router zu Hause eine andere, gemeinsame Adresse.</a:t>
            </a:r>
          </a:p>
          <a:p>
            <a:r>
              <a:t>Kernaussage für die Klasse: Jede Webseite hat eine IP-Adresse, und zu vielen gibt es einen Ort. Das gilt auch für uns: Wir sind online nie ganz anonym.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DF40-77DE-887A-B8E1-A9515771CA66}"/>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961C2FD-4260-E7D6-4387-CD75AE4F8C16}"/>
              </a:ext>
            </a:extLst>
          </p:cNvPr>
          <p:cNvSpPr>
            <a:spLocks noGrp="1"/>
          </p:cNvSpPr>
          <p:nvPr>
            <p:ph type="body" idx="1"/>
          </p:nvPr>
        </p:nvSpPr>
        <p:spPr/>
        <p:txBody>
          <a:bodyPr/>
          <a:lstStyle/>
          <a:p>
            <a:r>
              <a:t>Lösung Aufgabe 106 (aus dem Handbuch connected 3):</a:t>
            </a:r>
          </a:p>
          <a:p>
            <a:r>
              <a:t>Mit einer Webseite wie «IP-Standort» kann man zu jeder Webseite die IP-Adresse und den ungefähren Standort des Servers herausfinden. Ein Server ist ein Computer, der rund um die Uhr läuft und die Webseite ausliefert.</a:t>
            </a:r>
          </a:p>
          <a:p>
            <a:r>
              <a:t>Beispiele: www.ti.ch 193.246.181.24 Bellinzona; sbb.ch 194.150.245.142 Bern; www.swisscom.ch 195.186.210.170 Genf; srf.ch 146.159.93.154 Bern; youtube.com 172.217.12.174 New York City USA.</a:t>
            </a:r>
          </a:p>
          <a:p>
            <a:r>
              <a:t>Wenn Kinder andere Orte oder andere Nummern haben, ist das kein Fehler. Die Angaben können sich ändern. Mit oder ohne «www.» kann ein anderer Ort erscheinen, weil grosse Webseiten ihre Inhalte über Firmen in anderen Ländern verteilen (bei www.srf.ch die Firma Akamai in Boston).</a:t>
            </a:r>
          </a:p>
          <a:p>
            <a:r>
              <a:t>Falls ein Kind fragt, warum auf dem eigenen Gerät eine andere IP-Adresse steht (oft 192.168...): Das ist die Adresse im eigenen WLAN zu Hause. Gegen aussen hat der Router zu Hause eine andere, gemeinsame Adresse.</a:t>
            </a:r>
          </a:p>
          <a:p>
            <a:r>
              <a:t>Kernaussage für die Klasse: Jede Webseite hat eine IP-Adresse, und zu vielen gibt es einen Ort. Das gilt auch für uns: Wir sind online nie ganz anonym.</a:t>
            </a:r>
          </a:p>
        </p:txBody>
      </p:sp>
    </p:spTree>
    <p:extLst>
      <p:ext uri="{BB962C8B-B14F-4D97-AF65-F5344CB8AC3E}">
        <p14:creationId xmlns:p14="http://schemas.microsoft.com/office/powerpoint/2010/main" val="4234666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CE9F3-B291-6C32-6604-455155F8D9FE}"/>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B4C0A7AE-1233-DDE7-AA31-78CD6BCF1D4F}"/>
              </a:ext>
            </a:extLst>
          </p:cNvPr>
          <p:cNvSpPr>
            <a:spLocks noGrp="1"/>
          </p:cNvSpPr>
          <p:nvPr>
            <p:ph type="body" idx="1"/>
          </p:nvPr>
        </p:nvSpPr>
        <p:spPr/>
        <p:txBody>
          <a:bodyPr/>
          <a:lstStyle/>
          <a:p>
            <a:r>
              <a:t>Lösung Aufgabe 107 (Handbuch connected 3). Im Arbeitsbuch sind vier Bilder zu sehen, zu jedem gehört einer der vier Kästen auf der Folie.</a:t>
            </a:r>
          </a:p>
          <a:p>
            <a:r>
              <a:t>1. Streaming: Anhand der IP-Adresse einer Nutzerin oder eines Nutzers erkennen Musik- oder Videostreamingdienste (zum Beispiel YouTube), in welchem Land sich die Person befindet. Nur wenn das gewünschte Medium in diesem Land nach geltendem Recht gezeigt werden darf, gibt der Dienst das Streaming frei. Bei Rechtsverstössen (zum Beispiel gegen das Urheberrecht oder den Kinder- und Jugendmedienschutz) verhindert der Dienst das Streaming. Kinder kennen das als Meldung «Dieses Video ist in deinem Land nicht verfügbar».</a:t>
            </a:r>
          </a:p>
          <a:p>
            <a:r>
              <a:t>2. Werbung: Ohne IP-Adressen würde das System der personalisierten Werbung nicht funktionieren. Die Suchanfragen und die IP-Adresse werden gespeichert. Mit diesen Daten werden Personenprofile erstellt. Anhand des Personenprofils können einer Person Werbeanzeigen gezeigt werden, die genau zu ihren Interessen passen. Wie solche Profile genau entstehen, ist erst Thema in connected 4, Kapitel 4. Hier also nicht vertiefen.</a:t>
            </a:r>
          </a:p>
          <a:p>
            <a:r>
              <a:t>3. Webshop: Aufgrund der IP-Adresse (und der Browser-Metadaten) wird in einem internationalen Webshop automatisch die passende Währung eingestellt oder man wird in den passenden landesspezifischen Webshop weitergeleitet. Beispiel: Die Preise erscheinen automatisch in Franken.</a:t>
            </a:r>
          </a:p>
          <a:p>
            <a:r>
              <a:t>4. Zensur: Staaten mit Zensurabsichten (zum Beispiel Diktaturen) können anhand der IP-Adressen bestimmte Dienste (etwa bestimmte soziale Netzwerke) landesweit sperren. Falls Kinder fragen, welche Staaten das tun: Das lässt sich mit einer Internetrecherche schnell herausfinden, muss aber in dieser Lektion nicht geklärt werden.</a:t>
            </a:r>
          </a:p>
          <a:p>
            <a:r>
              <a:t>Auf Niveau B genügt es, wenn jedes Kind ein Beispiel in eigenen Worten erklären kann. Eigene Beispiele der Kinder (zum Beispiel eine Wetter-App zeigt automatisch den eigenen Ort) gelten auch.</a:t>
            </a:r>
          </a:p>
          <a:p>
            <a:r>
              <a:t>Danach Übergang: «Jetzt beginnt das neue Thema.»</a:t>
            </a:r>
          </a:p>
        </p:txBody>
      </p:sp>
    </p:spTree>
    <p:extLst>
      <p:ext uri="{BB962C8B-B14F-4D97-AF65-F5344CB8AC3E}">
        <p14:creationId xmlns:p14="http://schemas.microsoft.com/office/powerpoint/2010/main" val="1532778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drei Lernziele vorlesen oder von einem Kind vorlesen lassen. Nicht erklären, nur zeigen.</a:t>
            </a:r>
          </a:p>
          <a:p>
            <a:r>
              <a:t>Am Schluss der Lektion kommt diese Liste nochmals (Folie 21).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Arbeitsbuch Aufgabe 108. Frage an die Klasse: «Stell dir vor, alle drei Glaceläden sind gleich weit weg. Wohin gehst du?»</a:t>
            </a:r>
          </a:p>
          <a:p>
            <a:r>
              <a:t>Ablauf: Jede Ecke des Zimmers steht für einen Laden (zum Beispiel Fensterecke Sole, Türecke Bellavista, Tafelecke Glacestube). Die Kinder stellen sich in eine Ecke. Aus zwei Ecken je eine Begründung hören, dann alle zurück an den Platz.</a:t>
            </a:r>
          </a:p>
          <a:p>
            <a:r>
              <a:t>Hier noch nicht bewerten, alle Meinungen sind erlaubt. Die Auflösung kommt auf der nächsten Folie.</a:t>
            </a:r>
          </a:p>
          <a:p>
            <a:r>
              <a:t>Zeit: etwa 4 Minuten zusammen mit der Lösungsfolie.</a:t>
            </a:r>
          </a:p>
          <a:p>
            <a:r>
              <a:t>Aufgabe 109 (auf der Folie): Wie nutzt du Online-Bewertungen im Alltag? Das ist eine offene Frage, es gibt keine falsche Antwort. Die Kinder bringen eigene Erfahrungen ein: Wann schauen sie Bewertungen an (Spiele, Apps, Kleider, Restaurants)? Haben sie selbst schon bewertet? Auch Likes, Dislikes und Kommentare auf YouTube, TikTok oder Instagram sind eine Art Bewertung. Ein bis zwei Antworten im Plenum genügen.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Lösung Aufgabe 108: Es gibt keine einzig richtige Wahl. Wichtig sind diese Gedanken:</a:t>
            </a:r>
          </a:p>
          <a:p>
            <a:r>
              <a:t>Gelateria Sole: 4.9 Sterne sieht super aus, aber 7 Bewertungen sind sehr wenige. Vielleicht haben Freunde oder der Besitzer selbst sie geschrieben.</a:t>
            </a:r>
          </a:p>
          <a:p>
            <a:r>
              <a:t>Eiscafé Bellavista: 318 Bewertungen sind viele. Wenn ein paar davon falsch sind, verändert das den Durchschnitt kaum. 4.2 ist trotzdem gut.</a:t>
            </a:r>
          </a:p>
          <a:p>
            <a:r>
              <a:t>Glacestube am Platz: Ohne Bewertung weiss man nichts. Das heisst aber nicht, dass die Glace schlecht ist. Der Laden ist vielleicht neu, oder niemand hat sich die Mühe gemacht.</a:t>
            </a:r>
          </a:p>
          <a:p>
            <a:r>
              <a:t>Frage zur Überleitung: «Warum sollte jemand eine falsche Bewertung schreiben?»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C6ADB-BE0E-A816-1D97-91F3B094953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B78755CA-14FF-E2D5-83BE-2B9AFCBB06A5}"/>
              </a:ext>
            </a:extLst>
          </p:cNvPr>
          <p:cNvSpPr>
            <a:spLocks noGrp="1"/>
          </p:cNvSpPr>
          <p:nvPr>
            <p:ph type="body" idx="1"/>
          </p:nvPr>
        </p:nvSpPr>
        <p:spPr/>
        <p:txBody>
          <a:bodyPr/>
          <a:lstStyle/>
          <a:p>
            <a:r>
              <a:t>Lösung Aufgabe 108: Es gibt keine einzig richtige Wahl. Wichtig sind diese Gedanken:</a:t>
            </a:r>
          </a:p>
          <a:p>
            <a:r>
              <a:t>Gelateria Sole: 4.9 Sterne sieht super aus, aber 7 Bewertungen sind sehr wenige. Vielleicht haben Freunde oder der Besitzer selbst sie geschrieben.</a:t>
            </a:r>
          </a:p>
          <a:p>
            <a:r>
              <a:t>Eiscafé Bellavista: 318 Bewertungen sind viele. Wenn ein paar davon falsch sind, verändert das den Durchschnitt kaum. 4.2 ist trotzdem gut.</a:t>
            </a:r>
          </a:p>
          <a:p>
            <a:r>
              <a:t>Glacestube am Platz: Ohne Bewertung weiss man nichts. Das heisst aber nicht, dass die Glace schlecht ist. Der Laden ist vielleicht neu, oder niemand hat sich die Mühe gemacht.</a:t>
            </a:r>
          </a:p>
          <a:p>
            <a:r>
              <a:t>Frage zur Überleitung: «Warum sollte jemand eine falsche Bewertung schreiben?»</a:t>
            </a:r>
          </a:p>
        </p:txBody>
      </p:sp>
    </p:spTree>
    <p:extLst>
      <p:ext uri="{BB962C8B-B14F-4D97-AF65-F5344CB8AC3E}">
        <p14:creationId xmlns:p14="http://schemas.microsoft.com/office/powerpoint/2010/main" val="3337087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Arbeitsbuch Aufgabe 110. Zuerst die Klasse fragen: «Wer könnte falsche Bewertungen schreiben, und warum?» Zwei bis drei Antworten sammeln, dann die Folie als Lösung zeigen.</a:t>
            </a:r>
          </a:p>
          <a:p>
            <a:r>
              <a:t>Lösung (die drei Punkte auf der Folie) und mögliche weitere Antworten:</a:t>
            </a:r>
          </a:p>
          <a:p>
            <a:r>
              <a:t>Ein Betrieb will neue Kundschaft gewinnen und lobt sich selbst.</a:t>
            </a:r>
          </a:p>
          <a:p>
            <a:r>
              <a:t>Eine Konkurrenzfirma will schaden und schreibt schlechte Bewertungen.</a:t>
            </a:r>
          </a:p>
          <a:p>
            <a:r>
              <a:t>Leute werden bezahlt oder bekommen Rabatt oder Geschenke für gute Bewertungen.</a:t>
            </a:r>
          </a:p>
          <a:p>
            <a:r>
              <a:t>Jemand will einer Person bewusst schaden, zum Beispiel mit Dislikes und bösen Kommentaren (Verbindung zu Cybermobbing).</a:t>
            </a:r>
          </a:p>
          <a:p>
            <a:r>
              <a:t>Die Kinder notieren eine Antwort im Arbeitsbuch bei Aufgabe 110. Zeit: etwa 3 Minuten.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Arbeitsbuch Aufgabe 111.</a:t>
            </a:r>
          </a:p>
          <a:p>
            <a:r>
              <a:t>Ablauf: 3 Minuten allein die Kriterien lesen und die drei wichtigsten ankreuzen. Dann 3 Minuten mit der Banknachbarin oder dem Banknachbarn vergleichen: Wo seid ihr gleich, wo verschieden? Warum? Am Schluss 1 Minute: zwei Kinder nennen ihre Kriterien mit Begründung.</a:t>
            </a:r>
          </a:p>
          <a:p>
            <a:r>
              <a:t>Es gibt kein Richtig oder Falsch bei der Auswahl. Wichtig ist eine sinnvolle Begründung. Die Lösungsfolie zeigt Beispiele.</a:t>
            </a:r>
          </a:p>
          <a:p>
            <a:r>
              <a:t>Musterbegründungen zu allen Kriterien aus dem Handbuch stehen in den Notizen der nächsten Folie.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Diese Folie zeigen, nachdem zwei Kinder ihren Satz vorgelesen haben. Die Kinder dürfen ihren Satz verbessern.</a:t>
            </a:r>
          </a:p>
          <a:p>
            <a:r>
              <a:t>Eine schwache Begründung ist zum Beispiel «weil es gut ist» oder «weil ich das so finde». Dann nachfragen: «Wie hilft dir das, eine falsche Bewertung zu erkennen?»</a:t>
            </a:r>
          </a:p>
          <a:p>
            <a:r>
              <a:t>Musterbegründungen zu allen acht Kriterien (Handbuch connected 3, Aufgabe 111). Die Kriterien im Arbeitsbuch stammen aus dieser Liste:</a:t>
            </a:r>
          </a:p>
          <a:p>
            <a:r>
              <a:t>1. Mindestens 20 Bewertungen: Je mehr Bewertungen, desto weniger fallen einzelne falsche ins Gewicht.</a:t>
            </a:r>
          </a:p>
          <a:p>
            <a:r>
              <a:t>2. Nicht nur Sterne, sondern auch ein Text: Ein Text braucht mehr Aufwand und sagt genauer, was gut oder schlecht war.</a:t>
            </a:r>
          </a:p>
          <a:p>
            <a:r>
              <a:t>3. Der Text ist fehlerfrei: Viele gefälschte Bewertungen sind schlecht aus einer anderen Sprache übersetzt. (Aber auch fehlerfreie Texte können gefälscht sein.)</a:t>
            </a:r>
          </a:p>
          <a:p>
            <a:r>
              <a:t>4. Persönliche Erfahrungen: Die Person hat das Produkt wohl wirklich benutzt, das wirkt echter.</a:t>
            </a:r>
          </a:p>
          <a:p>
            <a:r>
              <a:t>5. Bewertungen über längere Zeit verteilt: Dann hat nicht eine Person an einem Tag viele falsche Bewertungen geschrieben.</a:t>
            </a:r>
          </a:p>
          <a:p>
            <a:r>
              <a:t>6. Bewertungen sind aktuell: Man sieht, wie es heute ist. Die Qualität kann sich ändern.</a:t>
            </a:r>
          </a:p>
          <a:p>
            <a:r>
              <a:t>7. Personen in meinem Alter: Jugendliche finden eine laute Disco toll, ältere Leute vielleicht störend.</a:t>
            </a:r>
          </a:p>
          <a:p>
            <a:r>
              <a:t>8. Der Name ist bekannt: Man kann nachschauen, was die Person sonst noch bewertet hat.</a:t>
            </a:r>
          </a:p>
          <a:p>
            <a:r>
              <a:t>Merksatz für dich: Ein einzelnes Kriterium reicht selten. Man schaut immer mehrere Bewertungen und mehrere Kriterien zusammen an.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Merksatz laut vorlesen lassen. Die Kinder schreiben ihn ins Heft oder ins Arbeitsbuch.</a:t>
            </a:r>
          </a:p>
          <a:p>
            <a:r>
              <a:t>Verbindung zu den Glaceläden herstellen: «Welcher Laden hatte viele Bewertungen?» Antwort: Eiscafé Bellavista.</a:t>
            </a:r>
          </a:p>
          <a:p>
            <a:r>
              <a:t>Damit ist Teil A fertig. Zeit bis hier: etwa 11:30 Uhr.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777240" y="1371600"/>
            <a:ext cx="1371600" cy="1371600"/>
          </a:xfrm>
          <a:prstGeom prst="ellipse">
            <a:avLst/>
          </a:prstGeom>
          <a:solidFill>
            <a:srgbClr val="E4572E"/>
          </a:solidFill>
          <a:ln/>
        </p:spPr>
        <p:txBody>
          <a:bodyPr/>
          <a:lstStyle/>
          <a:p>
            <a:endParaRPr lang="de-CH"/>
          </a:p>
        </p:txBody>
      </p:sp>
      <p:sp>
        <p:nvSpPr>
          <p:cNvPr id="3" name="Text 1"/>
          <p:cNvSpPr txBox="1"/>
          <p:nvPr/>
        </p:nvSpPr>
        <p:spPr>
          <a:xfrm>
            <a:off x="777240" y="1371600"/>
            <a:ext cx="1371600" cy="137160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2</a:t>
            </a:r>
            <a:endParaRPr lang="en-US" sz="4600" dirty="0"/>
          </a:p>
        </p:txBody>
      </p:sp>
      <p:sp>
        <p:nvSpPr>
          <p:cNvPr id="4" name="Text 2"/>
          <p:cNvSpPr txBox="1"/>
          <p:nvPr/>
        </p:nvSpPr>
        <p:spPr>
          <a:xfrm>
            <a:off x="2514600" y="1481328"/>
            <a:ext cx="8686800" cy="457200"/>
          </a:xfrm>
          <a:prstGeom prst="rect">
            <a:avLst/>
          </a:prstGeom>
          <a:noFill/>
          <a:ln/>
        </p:spPr>
        <p:txBody>
          <a:bodyPr wrap="square" lIns="0" tIns="0" rIns="0" bIns="0" rtlCol="0" anchor="ctr"/>
          <a:lstStyle/>
          <a:p>
            <a:pPr marL="0" indent="0">
              <a:buNone/>
            </a:pPr>
            <a:r>
              <a:rPr lang="en-US" sz="1800" b="1" dirty="0">
                <a:solidFill>
                  <a:srgbClr val="E4572E"/>
                </a:solidFill>
                <a:latin typeface="Calibri" pitchFamily="34" charset="0"/>
                <a:ea typeface="Calibri" pitchFamily="34" charset="-122"/>
                <a:cs typeface="Calibri" pitchFamily="34" charset="-120"/>
              </a:rPr>
              <a:t>Lektion 2</a:t>
            </a:r>
            <a:endParaRPr lang="en-US" sz="1800" dirty="0"/>
          </a:p>
        </p:txBody>
      </p:sp>
      <p:sp>
        <p:nvSpPr>
          <p:cNvPr id="5" name="Text 3"/>
          <p:cNvSpPr txBox="1"/>
          <p:nvPr/>
        </p:nvSpPr>
        <p:spPr>
          <a:xfrm>
            <a:off x="2514600" y="1920240"/>
            <a:ext cx="8961120" cy="118872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Kann man Bewertungen trauen?</a:t>
            </a:r>
            <a:endParaRPr lang="en-US" sz="4000" dirty="0"/>
          </a:p>
        </p:txBody>
      </p:sp>
      <p:sp>
        <p:nvSpPr>
          <p:cNvPr id="6" name="Text 4"/>
          <p:cNvSpPr txBox="1"/>
          <p:nvPr/>
        </p:nvSpPr>
        <p:spPr>
          <a:xfrm>
            <a:off x="2514600" y="2788920"/>
            <a:ext cx="8961120" cy="640080"/>
          </a:xfrm>
          <a:prstGeom prst="rect">
            <a:avLst/>
          </a:prstGeom>
          <a:noFill/>
          <a:ln/>
        </p:spPr>
        <p:txBody>
          <a:bodyPr wrap="square" lIns="0" tIns="0" rIns="0" bIns="0" rtlCol="0" anchor="ctr"/>
          <a:lstStyle/>
          <a:p>
            <a:pPr marL="0" indent="0">
              <a:buNone/>
            </a:pPr>
            <a:r>
              <a:rPr lang="en-US" sz="2000" dirty="0">
                <a:solidFill>
                  <a:srgbClr val="BFD6E4"/>
                </a:solidFill>
                <a:latin typeface="Calibri" pitchFamily="34" charset="0"/>
                <a:ea typeface="Calibri" pitchFamily="34" charset="-122"/>
                <a:cs typeface="Calibri" pitchFamily="34" charset="-120"/>
              </a:rPr>
              <a:t>Und: Warum ruckelt das Video in den Ferien?</a:t>
            </a:r>
            <a:endParaRPr lang="en-US" sz="2000" dirty="0"/>
          </a:p>
        </p:txBody>
      </p:sp>
      <p:sp>
        <p:nvSpPr>
          <p:cNvPr id="7" name="Text 5"/>
          <p:cNvSpPr txBox="1"/>
          <p:nvPr/>
        </p:nvSpPr>
        <p:spPr>
          <a:xfrm>
            <a:off x="777240" y="5852160"/>
            <a:ext cx="10607040" cy="457200"/>
          </a:xfrm>
          <a:prstGeom prst="rect">
            <a:avLst/>
          </a:prstGeom>
          <a:noFill/>
          <a:ln/>
        </p:spPr>
        <p:txBody>
          <a:bodyPr wrap="square" lIns="0" tIns="0" rIns="0" bIns="0" rtlCol="0" anchor="ctr"/>
          <a:lstStyle/>
          <a:p>
            <a:pPr marL="0" indent="0">
              <a:buNone/>
            </a:pPr>
            <a:r>
              <a:rPr lang="en-US" sz="1400" dirty="0">
                <a:solidFill>
                  <a:srgbClr val="8FAEC2"/>
                </a:solidFill>
                <a:latin typeface="Calibri" pitchFamily="34" charset="0"/>
                <a:ea typeface="Calibri" pitchFamily="34" charset="-122"/>
                <a:cs typeface="Calibri" pitchFamily="34" charset="-120"/>
              </a:rPr>
              <a:t>connected 3, Kapitel 1C und 1D, Dienstag 22.09.2026, Niveau 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Hausaufgabe: Aufgaben 106 und 107</a:t>
            </a:r>
            <a:endParaRPr lang="en-US" sz="3200" dirty="0"/>
          </a:p>
        </p:txBody>
      </p:sp>
      <p:sp>
        <p:nvSpPr>
          <p:cNvPr id="3" name="Shape 1"/>
          <p:cNvSpPr/>
          <p:nvPr/>
        </p:nvSpPr>
        <p:spPr>
          <a:xfrm>
            <a:off x="10771632" y="320040"/>
            <a:ext cx="868680" cy="868680"/>
          </a:xfrm>
          <a:prstGeom prst="ellipse">
            <a:avLst/>
          </a:prstGeom>
          <a:solidFill>
            <a:srgbClr val="E4572E"/>
          </a:solidFill>
          <a:ln/>
        </p:spPr>
        <p:txBody>
          <a:bodyPr/>
          <a:lstStyle/>
          <a:p>
            <a:endParaRPr lang="de-CH"/>
          </a:p>
        </p:txBody>
      </p:sp>
      <p:sp>
        <p:nvSpPr>
          <p:cNvPr id="4" name="Text 2"/>
          <p:cNvSpPr txBox="1"/>
          <p:nvPr/>
        </p:nvSpPr>
        <p:spPr>
          <a:xfrm>
            <a:off x="10771632" y="32004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5" name="Text 3"/>
          <p:cNvSpPr txBox="1"/>
          <p:nvPr/>
        </p:nvSpPr>
        <p:spPr>
          <a:xfrm>
            <a:off x="731520" y="1463040"/>
            <a:ext cx="10543032" cy="384048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1F2933"/>
                </a:solidFill>
                <a:latin typeface="Calibri" pitchFamily="34" charset="0"/>
                <a:ea typeface="Calibri" pitchFamily="34" charset="-122"/>
                <a:cs typeface="Calibri" pitchFamily="34" charset="-120"/>
              </a:rPr>
              <a:t>Was ist eine IP-Adresse?</a:t>
            </a:r>
            <a:endParaRPr lang="en-US" sz="2000" dirty="0"/>
          </a:p>
          <a:p>
            <a:pPr marL="342900" indent="-342900">
              <a:spcAft>
                <a:spcPts val="1000"/>
              </a:spcAft>
              <a:buSzPct val="100000"/>
              <a:buChar char="•"/>
            </a:pPr>
            <a:r>
              <a:rPr lang="en-US" sz="2000" b="1" dirty="0">
                <a:solidFill>
                  <a:srgbClr val="1F2933"/>
                </a:solidFill>
                <a:latin typeface="Calibri" pitchFamily="34" charset="0"/>
                <a:ea typeface="Calibri" pitchFamily="34" charset="-122"/>
                <a:cs typeface="Calibri" pitchFamily="34" charset="-120"/>
              </a:rPr>
              <a:t>Aufgabe 106: </a:t>
            </a:r>
            <a:r>
              <a:rPr lang="en-US" sz="2000" dirty="0">
                <a:solidFill>
                  <a:srgbClr val="1F2933"/>
                </a:solidFill>
                <a:latin typeface="Calibri" pitchFamily="34" charset="0"/>
                <a:ea typeface="Calibri" pitchFamily="34" charset="-122"/>
                <a:cs typeface="Calibri" pitchFamily="34" charset="-120"/>
              </a:rPr>
              <a:t>In welcher Stadt stehen die Server der zwei Webseiten, die du untersucht hast?</a:t>
            </a:r>
            <a:endParaRPr lang="en-US" sz="2000" dirty="0"/>
          </a:p>
          <a:p>
            <a:pPr marL="342900" indent="-342900">
              <a:spcAft>
                <a:spcPts val="1000"/>
              </a:spcAft>
              <a:buSzPct val="100000"/>
              <a:buChar char="•"/>
            </a:pPr>
            <a:r>
              <a:rPr lang="en-US" sz="2000" b="1" dirty="0">
                <a:solidFill>
                  <a:srgbClr val="1F2933"/>
                </a:solidFill>
                <a:latin typeface="Calibri" pitchFamily="34" charset="0"/>
                <a:ea typeface="Calibri" pitchFamily="34" charset="-122"/>
                <a:cs typeface="Calibri" pitchFamily="34" charset="-120"/>
              </a:rPr>
              <a:t>Aufgabe 107: </a:t>
            </a:r>
            <a:r>
              <a:rPr lang="en-US" sz="2000" dirty="0">
                <a:solidFill>
                  <a:srgbClr val="1F2933"/>
                </a:solidFill>
                <a:latin typeface="Calibri" pitchFamily="34" charset="0"/>
                <a:ea typeface="Calibri" pitchFamily="34" charset="-122"/>
                <a:cs typeface="Calibri" pitchFamily="34" charset="-120"/>
              </a:rPr>
              <a:t>Wo merkst du im Alltag, dass eine Webseite deine IP-Adresse kennt? Nenne ein Beispiel.</a:t>
            </a:r>
            <a:endParaRPr lang="en-US" sz="2000" dirty="0"/>
          </a:p>
        </p:txBody>
      </p:sp>
      <p:sp>
        <p:nvSpPr>
          <p:cNvPr id="6" name="Shape 4"/>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7" name="Text 5"/>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Zuerst 1 Minute mit der Banknachbarin oder dem Banknachbarn vergleichen, dann im Plenum.</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err="1">
                <a:solidFill>
                  <a:srgbClr val="065A82"/>
                </a:solidFill>
                <a:latin typeface="Calibri" pitchFamily="34" charset="0"/>
                <a:ea typeface="Calibri" pitchFamily="34" charset="-122"/>
                <a:cs typeface="Calibri" pitchFamily="34" charset="-120"/>
              </a:rPr>
              <a:t>Beispiel-Lösung</a:t>
            </a:r>
            <a:r>
              <a:rPr lang="en-US" sz="3200" b="1" dirty="0">
                <a:solidFill>
                  <a:srgbClr val="065A82"/>
                </a:solidFill>
                <a:latin typeface="Calibri" pitchFamily="34" charset="0"/>
                <a:ea typeface="Calibri" pitchFamily="34" charset="-122"/>
                <a:cs typeface="Calibri" pitchFamily="34" charset="-120"/>
              </a:rPr>
              <a:t>: IP-Adresse und Aufgabe 106</a:t>
            </a:r>
            <a:endParaRPr lang="en-US" sz="3200" dirty="0"/>
          </a:p>
        </p:txBody>
      </p:sp>
      <p:sp>
        <p:nvSpPr>
          <p:cNvPr id="4" name="Shape 2"/>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Wichtig: Auch deine IP-Adresse verrät ungefähr, wo du bist. Im Internet bist du nie ganz anonym.</a:t>
            </a:r>
            <a:endParaRPr lang="en-US" sz="1700" dirty="0"/>
          </a:p>
        </p:txBody>
      </p:sp>
      <p:graphicFrame>
        <p:nvGraphicFramePr>
          <p:cNvPr id="7" name="Tabelle 6">
            <a:extLst>
              <a:ext uri="{FF2B5EF4-FFF2-40B4-BE49-F238E27FC236}">
                <a16:creationId xmlns:a16="http://schemas.microsoft.com/office/drawing/2014/main" id="{B01117E9-5A3B-A8B4-FB58-D9969DF0D274}"/>
              </a:ext>
            </a:extLst>
          </p:cNvPr>
          <p:cNvGraphicFramePr>
            <a:graphicFrameLocks noGrp="1"/>
          </p:cNvGraphicFramePr>
          <p:nvPr>
            <p:extLst>
              <p:ext uri="{D42A27DB-BD31-4B8C-83A1-F6EECF244321}">
                <p14:modId xmlns:p14="http://schemas.microsoft.com/office/powerpoint/2010/main" val="1803712703"/>
              </p:ext>
            </p:extLst>
          </p:nvPr>
        </p:nvGraphicFramePr>
        <p:xfrm>
          <a:off x="958467" y="1250381"/>
          <a:ext cx="7634691" cy="2902974"/>
        </p:xfrm>
        <a:graphic>
          <a:graphicData uri="http://schemas.openxmlformats.org/drawingml/2006/table">
            <a:tbl>
              <a:tblPr firstRow="1" firstCol="1" bandRow="1">
                <a:tableStyleId>{0660B408-B3CF-4A94-85FC-2B1E0A45F4A2}</a:tableStyleId>
              </a:tblPr>
              <a:tblGrid>
                <a:gridCol w="2796352">
                  <a:extLst>
                    <a:ext uri="{9D8B030D-6E8A-4147-A177-3AD203B41FA5}">
                      <a16:colId xmlns:a16="http://schemas.microsoft.com/office/drawing/2014/main" val="1107183366"/>
                    </a:ext>
                  </a:extLst>
                </a:gridCol>
                <a:gridCol w="2228116">
                  <a:extLst>
                    <a:ext uri="{9D8B030D-6E8A-4147-A177-3AD203B41FA5}">
                      <a16:colId xmlns:a16="http://schemas.microsoft.com/office/drawing/2014/main" val="1749523400"/>
                    </a:ext>
                  </a:extLst>
                </a:gridCol>
                <a:gridCol w="2610223">
                  <a:extLst>
                    <a:ext uri="{9D8B030D-6E8A-4147-A177-3AD203B41FA5}">
                      <a16:colId xmlns:a16="http://schemas.microsoft.com/office/drawing/2014/main" val="2243297463"/>
                    </a:ext>
                  </a:extLst>
                </a:gridCol>
              </a:tblGrid>
              <a:tr h="483829">
                <a:tc>
                  <a:txBody>
                    <a:bodyPr/>
                    <a:lstStyle/>
                    <a:p>
                      <a:pPr>
                        <a:lnSpc>
                          <a:spcPct val="115000"/>
                        </a:lnSpc>
                        <a:spcAft>
                          <a:spcPts val="800"/>
                        </a:spcAft>
                        <a:buNone/>
                      </a:pPr>
                      <a:r>
                        <a:rPr lang="de-CH" sz="2000" kern="0">
                          <a:effectLst/>
                        </a:rPr>
                        <a:t>Website:</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IP-Adresse:</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Ort:</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40795"/>
                  </a:ext>
                </a:extLst>
              </a:tr>
              <a:tr h="483829">
                <a:tc>
                  <a:txBody>
                    <a:bodyPr/>
                    <a:lstStyle/>
                    <a:p>
                      <a:pPr>
                        <a:lnSpc>
                          <a:spcPct val="115000"/>
                        </a:lnSpc>
                        <a:spcAft>
                          <a:spcPts val="800"/>
                        </a:spcAft>
                        <a:buNone/>
                      </a:pPr>
                      <a:r>
                        <a:rPr lang="de-CH" sz="2000" kern="0">
                          <a:effectLst/>
                        </a:rPr>
                        <a:t>www.ti.ch</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dirty="0">
                          <a:effectLst/>
                        </a:rPr>
                        <a:t>193.246.181.24</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Bellinzona, Tessin</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0029413"/>
                  </a:ext>
                </a:extLst>
              </a:tr>
              <a:tr h="483829">
                <a:tc>
                  <a:txBody>
                    <a:bodyPr/>
                    <a:lstStyle/>
                    <a:p>
                      <a:pPr>
                        <a:lnSpc>
                          <a:spcPct val="115000"/>
                        </a:lnSpc>
                        <a:spcAft>
                          <a:spcPts val="800"/>
                        </a:spcAft>
                        <a:buNone/>
                      </a:pPr>
                      <a:r>
                        <a:rPr lang="de-CH" sz="2000" kern="0" dirty="0" err="1">
                          <a:effectLst/>
                        </a:rPr>
                        <a:t>sbb.ch</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194.150.245.142</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dirty="0">
                          <a:effectLst/>
                        </a:rPr>
                        <a:t>Bern</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97306616"/>
                  </a:ext>
                </a:extLst>
              </a:tr>
              <a:tr h="483829">
                <a:tc>
                  <a:txBody>
                    <a:bodyPr/>
                    <a:lstStyle/>
                    <a:p>
                      <a:pPr>
                        <a:lnSpc>
                          <a:spcPct val="115000"/>
                        </a:lnSpc>
                        <a:spcAft>
                          <a:spcPts val="800"/>
                        </a:spcAft>
                        <a:buNone/>
                      </a:pPr>
                      <a:r>
                        <a:rPr lang="de-CH" sz="2000" kern="0">
                          <a:effectLst/>
                        </a:rPr>
                        <a:t>www.swisscom.ch</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195.186.210.170</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dirty="0">
                          <a:effectLst/>
                        </a:rPr>
                        <a:t>Genf</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5792269"/>
                  </a:ext>
                </a:extLst>
              </a:tr>
              <a:tr h="483829">
                <a:tc>
                  <a:txBody>
                    <a:bodyPr/>
                    <a:lstStyle/>
                    <a:p>
                      <a:pPr>
                        <a:lnSpc>
                          <a:spcPct val="115000"/>
                        </a:lnSpc>
                        <a:spcAft>
                          <a:spcPts val="800"/>
                        </a:spcAft>
                        <a:buNone/>
                      </a:pPr>
                      <a:r>
                        <a:rPr lang="de-CH" sz="2000" kern="0">
                          <a:effectLst/>
                        </a:rPr>
                        <a:t>srf.ch</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146.159.93.154</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dirty="0">
                          <a:effectLst/>
                        </a:rPr>
                        <a:t>Bern</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6276717"/>
                  </a:ext>
                </a:extLst>
              </a:tr>
              <a:tr h="483829">
                <a:tc>
                  <a:txBody>
                    <a:bodyPr/>
                    <a:lstStyle/>
                    <a:p>
                      <a:pPr>
                        <a:lnSpc>
                          <a:spcPct val="115000"/>
                        </a:lnSpc>
                        <a:spcAft>
                          <a:spcPts val="800"/>
                        </a:spcAft>
                        <a:buNone/>
                      </a:pPr>
                      <a:r>
                        <a:rPr lang="de-CH" sz="2000" kern="0" dirty="0" err="1">
                          <a:effectLst/>
                        </a:rPr>
                        <a:t>youtube.com</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a:effectLst/>
                        </a:rPr>
                        <a:t>172.217.12.174</a:t>
                      </a:r>
                      <a:endParaRPr lang="de-CH"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de-CH" sz="2000" kern="0" dirty="0">
                          <a:effectLst/>
                        </a:rPr>
                        <a:t>New York City, USA</a:t>
                      </a:r>
                      <a:endParaRPr lang="de-CH"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221852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2C06-CB1B-76D2-F92D-050A44CD658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1289B7-176B-685D-3FD7-6E7F899E8221}"/>
              </a:ext>
            </a:extLst>
          </p:cNvPr>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Lösung: IP-Adresse und Aufgabe 106</a:t>
            </a:r>
            <a:endParaRPr lang="en-US" sz="3200" dirty="0"/>
          </a:p>
        </p:txBody>
      </p:sp>
      <p:sp>
        <p:nvSpPr>
          <p:cNvPr id="3" name="Text 1">
            <a:extLst>
              <a:ext uri="{FF2B5EF4-FFF2-40B4-BE49-F238E27FC236}">
                <a16:creationId xmlns:a16="http://schemas.microsoft.com/office/drawing/2014/main" id="{37302985-C80E-ABBB-1770-64E6335B9361}"/>
              </a:ext>
            </a:extLst>
          </p:cNvPr>
          <p:cNvSpPr txBox="1"/>
          <p:nvPr/>
        </p:nvSpPr>
        <p:spPr>
          <a:xfrm>
            <a:off x="731520" y="1463040"/>
            <a:ext cx="10543032" cy="3840480"/>
          </a:xfrm>
          <a:prstGeom prst="rect">
            <a:avLst/>
          </a:prstGeom>
          <a:noFill/>
          <a:ln/>
        </p:spPr>
        <p:txBody>
          <a:bodyPr wrap="square" lIns="0" tIns="0" rIns="0" bIns="0" rtlCol="0" anchor="t"/>
          <a:lstStyle/>
          <a:p>
            <a:pPr marL="342900" indent="-342900">
              <a:spcAft>
                <a:spcPts val="1000"/>
              </a:spcAft>
              <a:buSzPct val="100000"/>
              <a:buChar char="•"/>
            </a:pPr>
            <a:r>
              <a:rPr lang="en-US" sz="2000" b="1" dirty="0">
                <a:solidFill>
                  <a:srgbClr val="1F2933"/>
                </a:solidFill>
                <a:latin typeface="Calibri" pitchFamily="34" charset="0"/>
                <a:ea typeface="Calibri" pitchFamily="34" charset="-122"/>
                <a:cs typeface="Calibri" pitchFamily="34" charset="-120"/>
              </a:rPr>
              <a:t>IP-Adresse: </a:t>
            </a:r>
            <a:r>
              <a:rPr lang="en-US" sz="2000" dirty="0">
                <a:solidFill>
                  <a:srgbClr val="1F2933"/>
                </a:solidFill>
                <a:latin typeface="Calibri" pitchFamily="34" charset="0"/>
                <a:ea typeface="Calibri" pitchFamily="34" charset="-122"/>
                <a:cs typeface="Calibri" pitchFamily="34" charset="-120"/>
              </a:rPr>
              <a:t>Eine Nummer für jedes Gerät im Internet, zum Beispiel 146.159.93.154. Wie eine Adresse auf einem Brief.</a:t>
            </a:r>
            <a:endParaRPr lang="en-US" sz="2000" dirty="0"/>
          </a:p>
          <a:p>
            <a:pPr marL="342900" indent="-342900">
              <a:spcAft>
                <a:spcPts val="1000"/>
              </a:spcAft>
              <a:buSzPct val="100000"/>
              <a:buChar char="•"/>
            </a:pPr>
            <a:r>
              <a:rPr lang="en-US" sz="2000" b="1" dirty="0">
                <a:solidFill>
                  <a:srgbClr val="1F2933"/>
                </a:solidFill>
                <a:latin typeface="Calibri" pitchFamily="34" charset="0"/>
                <a:ea typeface="Calibri" pitchFamily="34" charset="-122"/>
                <a:cs typeface="Calibri" pitchFamily="34" charset="-120"/>
              </a:rPr>
              <a:t>Beispiele: </a:t>
            </a:r>
            <a:r>
              <a:rPr lang="en-US" sz="2000" dirty="0">
                <a:solidFill>
                  <a:srgbClr val="1F2933"/>
                </a:solidFill>
                <a:latin typeface="Calibri" pitchFamily="34" charset="0"/>
                <a:ea typeface="Calibri" pitchFamily="34" charset="-122"/>
                <a:cs typeface="Calibri" pitchFamily="34" charset="-120"/>
              </a:rPr>
              <a:t>srf.ch in Bern, sbb.ch in Bern, www.ti.ch in Bellinzona, youtube.com in New York City (USA).</a:t>
            </a:r>
            <a:endParaRPr lang="en-US" sz="2000" dirty="0"/>
          </a:p>
          <a:p>
            <a:pPr marL="342900" indent="-342900">
              <a:spcAft>
                <a:spcPts val="1000"/>
              </a:spcAft>
              <a:buSzPct val="100000"/>
              <a:buChar char="•"/>
            </a:pPr>
            <a:r>
              <a:rPr lang="en-US" sz="2000" b="1" dirty="0">
                <a:solidFill>
                  <a:srgbClr val="1F2933"/>
                </a:solidFill>
                <a:latin typeface="Calibri" pitchFamily="34" charset="0"/>
                <a:ea typeface="Calibri" pitchFamily="34" charset="-122"/>
                <a:cs typeface="Calibri" pitchFamily="34" charset="-120"/>
              </a:rPr>
              <a:t>Andere Orte sind möglich: </a:t>
            </a:r>
            <a:r>
              <a:rPr lang="en-US" sz="2000" dirty="0">
                <a:solidFill>
                  <a:srgbClr val="1F2933"/>
                </a:solidFill>
                <a:latin typeface="Calibri" pitchFamily="34" charset="0"/>
                <a:ea typeface="Calibri" pitchFamily="34" charset="-122"/>
                <a:cs typeface="Calibri" pitchFamily="34" charset="-120"/>
              </a:rPr>
              <a:t>Mit «www.» kann ein anderer Ort erscheinen. www.srf.ch zeigt zum Beispiel Boston.</a:t>
            </a:r>
            <a:endParaRPr lang="en-US" sz="2000" dirty="0"/>
          </a:p>
        </p:txBody>
      </p:sp>
      <p:sp>
        <p:nvSpPr>
          <p:cNvPr id="4" name="Shape 2">
            <a:extLst>
              <a:ext uri="{FF2B5EF4-FFF2-40B4-BE49-F238E27FC236}">
                <a16:creationId xmlns:a16="http://schemas.microsoft.com/office/drawing/2014/main" id="{A43F086F-398D-6A7F-0A2C-FCBB41216CCA}"/>
              </a:ext>
            </a:extLst>
          </p:cNvPr>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a:extLst>
              <a:ext uri="{FF2B5EF4-FFF2-40B4-BE49-F238E27FC236}">
                <a16:creationId xmlns:a16="http://schemas.microsoft.com/office/drawing/2014/main" id="{7705F47C-A3EA-8F01-D641-E0625E03470D}"/>
              </a:ext>
            </a:extLst>
          </p:cNvPr>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Wichtig: Auch deine IP-Adresse verrät ungefähr, wo du bist. Im Internet bist du nie ganz anonym.</a:t>
            </a:r>
            <a:endParaRPr lang="en-US" sz="1700" dirty="0"/>
          </a:p>
        </p:txBody>
      </p:sp>
    </p:spTree>
    <p:extLst>
      <p:ext uri="{BB962C8B-B14F-4D97-AF65-F5344CB8AC3E}">
        <p14:creationId xmlns:p14="http://schemas.microsoft.com/office/powerpoint/2010/main" val="4003402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B0DDF-3256-FE66-814A-9CF115BD92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57DD58-740F-EFD6-1886-A3FAF1E52C84}"/>
              </a:ext>
            </a:extLst>
          </p:cNvPr>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Lösung: Aufgabe 107</a:t>
            </a:r>
            <a:endParaRPr lang="en-US" sz="3200" dirty="0"/>
          </a:p>
        </p:txBody>
      </p:sp>
      <p:sp>
        <p:nvSpPr>
          <p:cNvPr id="4" name="Shape 2">
            <a:extLst>
              <a:ext uri="{FF2B5EF4-FFF2-40B4-BE49-F238E27FC236}">
                <a16:creationId xmlns:a16="http://schemas.microsoft.com/office/drawing/2014/main" id="{F0F5A41D-4BD9-B5B9-EB0A-D335E68CD9D9}"/>
              </a:ext>
            </a:extLst>
          </p:cNvPr>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a:extLst>
              <a:ext uri="{FF2B5EF4-FFF2-40B4-BE49-F238E27FC236}">
                <a16:creationId xmlns:a16="http://schemas.microsoft.com/office/drawing/2014/main" id="{631B3F76-4F56-D685-3D3C-CE0B3BE0357B}"/>
              </a:ext>
            </a:extLst>
          </p:cNvPr>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Die IP-Adresse zeigt ungefähr, wo ein Gerät ist. Webseiten passen ihr Angebot daran an.</a:t>
            </a:r>
            <a:endParaRPr lang="en-US" sz="1700" dirty="0"/>
          </a:p>
        </p:txBody>
      </p:sp>
      <p:sp>
        <p:nvSpPr>
          <p:cNvPr id="6" name="Rounded Rectangle 5">
            <a:extLst>
              <a:ext uri="{FF2B5EF4-FFF2-40B4-BE49-F238E27FC236}">
                <a16:creationId xmlns:a16="http://schemas.microsoft.com/office/drawing/2014/main" id="{D7129248-BDED-ABE0-761B-C69C45D57CDA}"/>
              </a:ext>
            </a:extLst>
          </p:cNvPr>
          <p:cNvSpPr/>
          <p:nvPr/>
        </p:nvSpPr>
        <p:spPr>
          <a:xfrm>
            <a:off x="548640" y="1330000"/>
            <a:ext cx="5455920" cy="1920000"/>
          </a:xfrm>
          <a:prstGeom prst="roundRect">
            <a:avLst>
              <a:gd name="adj" fmla="val 5000"/>
            </a:avLst>
          </a:prstGeom>
          <a:solidFill>
            <a:srgbClr val="EA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C2FCAFA-AECF-571A-193F-EF309B2E8D12}"/>
              </a:ext>
            </a:extLst>
          </p:cNvPr>
          <p:cNvSpPr txBox="1"/>
          <p:nvPr/>
        </p:nvSpPr>
        <p:spPr>
          <a:xfrm>
            <a:off x="731520" y="1467160"/>
            <a:ext cx="5090160" cy="1645680"/>
          </a:xfrm>
          <a:prstGeom prst="rect">
            <a:avLst/>
          </a:prstGeom>
          <a:noFill/>
        </p:spPr>
        <p:txBody>
          <a:bodyPr wrap="square" lIns="0" tIns="0" rIns="0" bIns="0" anchor="t">
            <a:spAutoFit/>
          </a:bodyPr>
          <a:lstStyle/>
          <a:p>
            <a:pPr>
              <a:spcAft>
                <a:spcPts val="400"/>
              </a:spcAft>
            </a:pPr>
            <a:r>
              <a:rPr sz="1600" b="1">
                <a:solidFill>
                  <a:srgbClr val="065A82"/>
                </a:solidFill>
                <a:latin typeface="Calibri"/>
              </a:rPr>
              <a:t>Streaming (zum Beispiel YouTube)</a:t>
            </a:r>
          </a:p>
          <a:p>
            <a:r>
              <a:rPr sz="1400">
                <a:solidFill>
                  <a:srgbClr val="1F2933"/>
                </a:solidFill>
                <a:latin typeface="Calibri"/>
              </a:rPr>
              <a:t>Anhand der IP-Adresse erkennen Musik- oder Videostreamingdienste, in welchem Land sich jemand befindet. Nur wenn das Video oder die Musik in diesem Land nach geltendem Recht gezeigt werden darf, gibt der Dienst das Streaming frei. Bei Rechtsverstössen (zum Beispiel Urheberrecht, Jugendschutz) wird es verhindert.</a:t>
            </a:r>
          </a:p>
        </p:txBody>
      </p:sp>
      <p:sp>
        <p:nvSpPr>
          <p:cNvPr id="8" name="Rounded Rectangle 7">
            <a:extLst>
              <a:ext uri="{FF2B5EF4-FFF2-40B4-BE49-F238E27FC236}">
                <a16:creationId xmlns:a16="http://schemas.microsoft.com/office/drawing/2014/main" id="{8EA55824-531E-0769-4E4B-ED05AC8FCD8B}"/>
              </a:ext>
            </a:extLst>
          </p:cNvPr>
          <p:cNvSpPr/>
          <p:nvPr/>
        </p:nvSpPr>
        <p:spPr>
          <a:xfrm>
            <a:off x="6184392" y="1330000"/>
            <a:ext cx="5455920" cy="1920000"/>
          </a:xfrm>
          <a:prstGeom prst="roundRect">
            <a:avLst>
              <a:gd name="adj" fmla="val 5000"/>
            </a:avLst>
          </a:prstGeom>
          <a:solidFill>
            <a:srgbClr val="EA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13861027-BD94-B1AC-505C-9F4CFA1DE41B}"/>
              </a:ext>
            </a:extLst>
          </p:cNvPr>
          <p:cNvSpPr txBox="1"/>
          <p:nvPr/>
        </p:nvSpPr>
        <p:spPr>
          <a:xfrm>
            <a:off x="6367272" y="1467160"/>
            <a:ext cx="5090160" cy="1645680"/>
          </a:xfrm>
          <a:prstGeom prst="rect">
            <a:avLst/>
          </a:prstGeom>
          <a:noFill/>
        </p:spPr>
        <p:txBody>
          <a:bodyPr wrap="square" lIns="0" tIns="0" rIns="0" bIns="0" anchor="t">
            <a:spAutoFit/>
          </a:bodyPr>
          <a:lstStyle/>
          <a:p>
            <a:pPr>
              <a:spcAft>
                <a:spcPts val="400"/>
              </a:spcAft>
            </a:pPr>
            <a:r>
              <a:rPr sz="1600" b="1">
                <a:solidFill>
                  <a:srgbClr val="065A82"/>
                </a:solidFill>
                <a:latin typeface="Calibri"/>
              </a:rPr>
              <a:t>Personalisierte Werbung</a:t>
            </a:r>
          </a:p>
          <a:p>
            <a:r>
              <a:rPr sz="1400">
                <a:solidFill>
                  <a:srgbClr val="1F2933"/>
                </a:solidFill>
                <a:latin typeface="Calibri"/>
              </a:rPr>
              <a:t>Ohne IP-Adressen würde personalisierte Werbung nicht funktionieren. Suchanfragen und IP-Adresse werden gespeichert. Daraus entsteht ein Personenprofil. So bekommt jemand Werbung, die genau zu den eigenen Interessen passt.</a:t>
            </a:r>
          </a:p>
        </p:txBody>
      </p:sp>
      <p:sp>
        <p:nvSpPr>
          <p:cNvPr id="10" name="Rounded Rectangle 9">
            <a:extLst>
              <a:ext uri="{FF2B5EF4-FFF2-40B4-BE49-F238E27FC236}">
                <a16:creationId xmlns:a16="http://schemas.microsoft.com/office/drawing/2014/main" id="{E56A352B-0945-D713-0141-DEC9AA6EC216}"/>
              </a:ext>
            </a:extLst>
          </p:cNvPr>
          <p:cNvSpPr/>
          <p:nvPr/>
        </p:nvSpPr>
        <p:spPr>
          <a:xfrm>
            <a:off x="548640" y="3400000"/>
            <a:ext cx="5455920" cy="1920000"/>
          </a:xfrm>
          <a:prstGeom prst="roundRect">
            <a:avLst>
              <a:gd name="adj" fmla="val 5000"/>
            </a:avLst>
          </a:prstGeom>
          <a:solidFill>
            <a:srgbClr val="EA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2094DBB-6F00-2404-5868-8FF337C5F1C2}"/>
              </a:ext>
            </a:extLst>
          </p:cNvPr>
          <p:cNvSpPr txBox="1"/>
          <p:nvPr/>
        </p:nvSpPr>
        <p:spPr>
          <a:xfrm>
            <a:off x="731520" y="3537160"/>
            <a:ext cx="5090160" cy="1645680"/>
          </a:xfrm>
          <a:prstGeom prst="rect">
            <a:avLst/>
          </a:prstGeom>
          <a:noFill/>
        </p:spPr>
        <p:txBody>
          <a:bodyPr wrap="square" lIns="0" tIns="0" rIns="0" bIns="0" anchor="t">
            <a:spAutoFit/>
          </a:bodyPr>
          <a:lstStyle/>
          <a:p>
            <a:pPr>
              <a:spcAft>
                <a:spcPts val="400"/>
              </a:spcAft>
            </a:pPr>
            <a:r>
              <a:rPr sz="1600" b="1">
                <a:solidFill>
                  <a:srgbClr val="065A82"/>
                </a:solidFill>
                <a:latin typeface="Calibri"/>
              </a:rPr>
              <a:t>Internationaler Webshop</a:t>
            </a:r>
          </a:p>
          <a:p>
            <a:r>
              <a:rPr sz="1400">
                <a:solidFill>
                  <a:srgbClr val="1F2933"/>
                </a:solidFill>
                <a:latin typeface="Calibri"/>
              </a:rPr>
              <a:t>Aufgrund der IP-Adresse (und der Browser-Daten) stellt ein internationaler Webshop automatisch die passende Währung ein oder leitet in den Webshop des eigenen Landes weiter.</a:t>
            </a:r>
          </a:p>
        </p:txBody>
      </p:sp>
      <p:sp>
        <p:nvSpPr>
          <p:cNvPr id="12" name="Rounded Rectangle 11">
            <a:extLst>
              <a:ext uri="{FF2B5EF4-FFF2-40B4-BE49-F238E27FC236}">
                <a16:creationId xmlns:a16="http://schemas.microsoft.com/office/drawing/2014/main" id="{A4C21FB1-1741-ED1B-6A17-C09A75EA918E}"/>
              </a:ext>
            </a:extLst>
          </p:cNvPr>
          <p:cNvSpPr/>
          <p:nvPr/>
        </p:nvSpPr>
        <p:spPr>
          <a:xfrm>
            <a:off x="6184392" y="3400000"/>
            <a:ext cx="5455920" cy="1920000"/>
          </a:xfrm>
          <a:prstGeom prst="roundRect">
            <a:avLst>
              <a:gd name="adj" fmla="val 5000"/>
            </a:avLst>
          </a:prstGeom>
          <a:solidFill>
            <a:srgbClr val="EA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D439FBC7-7D48-225D-412B-57404B0A6FEB}"/>
              </a:ext>
            </a:extLst>
          </p:cNvPr>
          <p:cNvSpPr txBox="1"/>
          <p:nvPr/>
        </p:nvSpPr>
        <p:spPr>
          <a:xfrm>
            <a:off x="6367272" y="3537160"/>
            <a:ext cx="5090160" cy="1645680"/>
          </a:xfrm>
          <a:prstGeom prst="rect">
            <a:avLst/>
          </a:prstGeom>
          <a:noFill/>
        </p:spPr>
        <p:txBody>
          <a:bodyPr wrap="square" lIns="0" tIns="0" rIns="0" bIns="0" anchor="t">
            <a:spAutoFit/>
          </a:bodyPr>
          <a:lstStyle/>
          <a:p>
            <a:pPr>
              <a:spcAft>
                <a:spcPts val="400"/>
              </a:spcAft>
            </a:pPr>
            <a:r>
              <a:rPr sz="1600" b="1">
                <a:solidFill>
                  <a:srgbClr val="065A82"/>
                </a:solidFill>
                <a:latin typeface="Calibri"/>
              </a:rPr>
              <a:t>Zensur</a:t>
            </a:r>
          </a:p>
          <a:p>
            <a:r>
              <a:rPr sz="1400">
                <a:solidFill>
                  <a:srgbClr val="1F2933"/>
                </a:solidFill>
                <a:latin typeface="Calibri"/>
              </a:rPr>
              <a:t>Staaten mit Zensurabsichten (zum Beispiel Diktaturen) können anhand der IP-Adressen bestimmte Dienste, etwa soziale Netzwerke, im ganzen Land sperren.</a:t>
            </a:r>
          </a:p>
        </p:txBody>
      </p:sp>
    </p:spTree>
    <p:extLst>
      <p:ext uri="{BB962C8B-B14F-4D97-AF65-F5344CB8AC3E}">
        <p14:creationId xmlns:p14="http://schemas.microsoft.com/office/powerpoint/2010/main" val="2737306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Das lernst du heute</a:t>
            </a:r>
            <a:endParaRPr lang="en-US" sz="3200" dirty="0"/>
          </a:p>
        </p:txBody>
      </p:sp>
      <p:sp>
        <p:nvSpPr>
          <p:cNvPr id="3" name="Shape 1"/>
          <p:cNvSpPr/>
          <p:nvPr/>
        </p:nvSpPr>
        <p:spPr>
          <a:xfrm>
            <a:off x="548640" y="1508760"/>
            <a:ext cx="11091672" cy="1051560"/>
          </a:xfrm>
          <a:prstGeom prst="roundRect">
            <a:avLst>
              <a:gd name="adj" fmla="val 6957"/>
            </a:avLst>
          </a:prstGeom>
          <a:solidFill>
            <a:srgbClr val="EAF2F6"/>
          </a:solidFill>
          <a:ln/>
        </p:spPr>
        <p:txBody>
          <a:bodyPr/>
          <a:lstStyle/>
          <a:p>
            <a:endParaRPr lang="de-CH"/>
          </a:p>
        </p:txBody>
      </p:sp>
      <p:sp>
        <p:nvSpPr>
          <p:cNvPr id="4" name="Shape 2"/>
          <p:cNvSpPr/>
          <p:nvPr/>
        </p:nvSpPr>
        <p:spPr>
          <a:xfrm>
            <a:off x="868680" y="1714500"/>
            <a:ext cx="640080" cy="640080"/>
          </a:xfrm>
          <a:prstGeom prst="ellipse">
            <a:avLst/>
          </a:prstGeom>
          <a:solidFill>
            <a:srgbClr val="065A82"/>
          </a:solidFill>
          <a:ln/>
        </p:spPr>
        <p:txBody>
          <a:bodyPr/>
          <a:lstStyle/>
          <a:p>
            <a:endParaRPr lang="de-CH"/>
          </a:p>
        </p:txBody>
      </p:sp>
      <p:sp>
        <p:nvSpPr>
          <p:cNvPr id="5" name="Text 3"/>
          <p:cNvSpPr txBox="1"/>
          <p:nvPr/>
        </p:nvSpPr>
        <p:spPr>
          <a:xfrm>
            <a:off x="868680" y="17145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783080" y="1508760"/>
            <a:ext cx="9628632" cy="105156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Ich kann zwei Kriterien nennen, an denen ich eine gute Bewertung erkenne.</a:t>
            </a:r>
            <a:endParaRPr lang="en-US" sz="1900" dirty="0"/>
          </a:p>
        </p:txBody>
      </p:sp>
      <p:sp>
        <p:nvSpPr>
          <p:cNvPr id="7" name="Shape 5"/>
          <p:cNvSpPr/>
          <p:nvPr/>
        </p:nvSpPr>
        <p:spPr>
          <a:xfrm>
            <a:off x="548640" y="2834640"/>
            <a:ext cx="11091672" cy="1051560"/>
          </a:xfrm>
          <a:prstGeom prst="roundRect">
            <a:avLst>
              <a:gd name="adj" fmla="val 6957"/>
            </a:avLst>
          </a:prstGeom>
          <a:solidFill>
            <a:srgbClr val="EAF2F6"/>
          </a:solidFill>
          <a:ln/>
        </p:spPr>
        <p:txBody>
          <a:bodyPr/>
          <a:lstStyle/>
          <a:p>
            <a:endParaRPr lang="de-CH"/>
          </a:p>
        </p:txBody>
      </p:sp>
      <p:sp>
        <p:nvSpPr>
          <p:cNvPr id="8" name="Shape 6"/>
          <p:cNvSpPr/>
          <p:nvPr/>
        </p:nvSpPr>
        <p:spPr>
          <a:xfrm>
            <a:off x="868680" y="3040380"/>
            <a:ext cx="640080" cy="640080"/>
          </a:xfrm>
          <a:prstGeom prst="ellipse">
            <a:avLst/>
          </a:prstGeom>
          <a:solidFill>
            <a:srgbClr val="065A82"/>
          </a:solidFill>
          <a:ln/>
        </p:spPr>
        <p:txBody>
          <a:bodyPr/>
          <a:lstStyle/>
          <a:p>
            <a:endParaRPr lang="de-CH"/>
          </a:p>
        </p:txBody>
      </p:sp>
      <p:sp>
        <p:nvSpPr>
          <p:cNvPr id="9" name="Text 7"/>
          <p:cNvSpPr txBox="1"/>
          <p:nvPr/>
        </p:nvSpPr>
        <p:spPr>
          <a:xfrm>
            <a:off x="868680" y="30403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783080" y="2834640"/>
            <a:ext cx="9628632" cy="105156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Ich kann sagen, warum jemand Bewertungen fälscht.</a:t>
            </a:r>
            <a:endParaRPr lang="en-US" sz="1900" dirty="0"/>
          </a:p>
        </p:txBody>
      </p:sp>
      <p:sp>
        <p:nvSpPr>
          <p:cNvPr id="11" name="Shape 9"/>
          <p:cNvSpPr/>
          <p:nvPr/>
        </p:nvSpPr>
        <p:spPr>
          <a:xfrm>
            <a:off x="548640" y="4160520"/>
            <a:ext cx="11091672" cy="1051560"/>
          </a:xfrm>
          <a:prstGeom prst="roundRect">
            <a:avLst>
              <a:gd name="adj" fmla="val 6957"/>
            </a:avLst>
          </a:prstGeom>
          <a:solidFill>
            <a:srgbClr val="EAF2F6"/>
          </a:solidFill>
          <a:ln/>
        </p:spPr>
        <p:txBody>
          <a:bodyPr/>
          <a:lstStyle/>
          <a:p>
            <a:endParaRPr lang="de-CH"/>
          </a:p>
        </p:txBody>
      </p:sp>
      <p:sp>
        <p:nvSpPr>
          <p:cNvPr id="12" name="Shape 10"/>
          <p:cNvSpPr/>
          <p:nvPr/>
        </p:nvSpPr>
        <p:spPr>
          <a:xfrm>
            <a:off x="868680" y="4366260"/>
            <a:ext cx="640080" cy="640080"/>
          </a:xfrm>
          <a:prstGeom prst="ellipse">
            <a:avLst/>
          </a:prstGeom>
          <a:solidFill>
            <a:srgbClr val="065A82"/>
          </a:solidFill>
          <a:ln/>
        </p:spPr>
        <p:txBody>
          <a:bodyPr/>
          <a:lstStyle/>
          <a:p>
            <a:endParaRPr lang="de-CH"/>
          </a:p>
        </p:txBody>
      </p:sp>
      <p:sp>
        <p:nvSpPr>
          <p:cNvPr id="13" name="Text 11"/>
          <p:cNvSpPr txBox="1"/>
          <p:nvPr/>
        </p:nvSpPr>
        <p:spPr>
          <a:xfrm>
            <a:off x="868680" y="43662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783080" y="4160520"/>
            <a:ext cx="9628632" cy="1051560"/>
          </a:xfrm>
          <a:prstGeom prst="rect">
            <a:avLst/>
          </a:prstGeom>
          <a:noFill/>
          <a:ln/>
        </p:spPr>
        <p:txBody>
          <a:bodyPr wrap="square" lIns="0" tIns="0" rIns="0" bIns="0" rtlCol="0" anchor="ctr"/>
          <a:lstStyle/>
          <a:p>
            <a:pPr marL="0" indent="0">
              <a:buNone/>
            </a:pPr>
            <a:r>
              <a:rPr lang="en-US" sz="1900" dirty="0">
                <a:solidFill>
                  <a:srgbClr val="1F2933"/>
                </a:solidFill>
                <a:latin typeface="Calibri" pitchFamily="34" charset="0"/>
                <a:ea typeface="Calibri" pitchFamily="34" charset="-122"/>
                <a:cs typeface="Calibri" pitchFamily="34" charset="-120"/>
              </a:rPr>
              <a:t>Ich kann zwei Gründe nennen, warum ein Video ruckelt.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Drei Glaceläden. Wohin gehst du? (Aufgabe 108-109)</a:t>
            </a:r>
            <a:endParaRPr lang="en-US" sz="3200" dirty="0"/>
          </a:p>
        </p:txBody>
      </p:sp>
      <p:sp>
        <p:nvSpPr>
          <p:cNvPr id="3" name="Shape 1"/>
          <p:cNvSpPr/>
          <p:nvPr/>
        </p:nvSpPr>
        <p:spPr>
          <a:xfrm>
            <a:off x="548640" y="2560320"/>
            <a:ext cx="3502152" cy="2651760"/>
          </a:xfrm>
          <a:prstGeom prst="roundRect">
            <a:avLst>
              <a:gd name="adj" fmla="val 2759"/>
            </a:avLst>
          </a:prstGeom>
          <a:solidFill>
            <a:srgbClr val="EAF2F6"/>
          </a:solidFill>
          <a:ln/>
        </p:spPr>
        <p:txBody>
          <a:bodyPr/>
          <a:lstStyle/>
          <a:p>
            <a:endParaRPr lang="de-CH"/>
          </a:p>
        </p:txBody>
      </p:sp>
      <p:sp>
        <p:nvSpPr>
          <p:cNvPr id="4" name="Text 2"/>
          <p:cNvSpPr txBox="1"/>
          <p:nvPr/>
        </p:nvSpPr>
        <p:spPr>
          <a:xfrm>
            <a:off x="84124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Gelateria Sole</a:t>
            </a:r>
            <a:endParaRPr lang="en-US" sz="2000" dirty="0"/>
          </a:p>
        </p:txBody>
      </p:sp>
      <p:sp>
        <p:nvSpPr>
          <p:cNvPr id="5" name="Text 3"/>
          <p:cNvSpPr txBox="1"/>
          <p:nvPr/>
        </p:nvSpPr>
        <p:spPr>
          <a:xfrm>
            <a:off x="841248" y="3483864"/>
            <a:ext cx="291693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4.9 von 5 Sternen</a:t>
            </a:r>
            <a:endParaRPr lang="en-US" sz="1600" dirty="0"/>
          </a:p>
          <a:p>
            <a:pPr marL="0" indent="0">
              <a:lnSpc>
                <a:spcPct val="110000"/>
              </a:lnSpc>
              <a:buNone/>
            </a:pPr>
            <a:endParaRPr lang="en-US" sz="1600" dirty="0"/>
          </a:p>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7 Bewertungen</a:t>
            </a:r>
            <a:endParaRPr lang="en-US" sz="1600" dirty="0"/>
          </a:p>
        </p:txBody>
      </p:sp>
      <p:sp>
        <p:nvSpPr>
          <p:cNvPr id="6" name="Shape 4"/>
          <p:cNvSpPr/>
          <p:nvPr/>
        </p:nvSpPr>
        <p:spPr>
          <a:xfrm>
            <a:off x="4343400" y="2560320"/>
            <a:ext cx="3502152" cy="2651760"/>
          </a:xfrm>
          <a:prstGeom prst="roundRect">
            <a:avLst>
              <a:gd name="adj" fmla="val 2759"/>
            </a:avLst>
          </a:prstGeom>
          <a:solidFill>
            <a:srgbClr val="EAF2F6"/>
          </a:solidFill>
          <a:ln/>
        </p:spPr>
        <p:txBody>
          <a:bodyPr/>
          <a:lstStyle/>
          <a:p>
            <a:endParaRPr lang="de-CH"/>
          </a:p>
        </p:txBody>
      </p:sp>
      <p:sp>
        <p:nvSpPr>
          <p:cNvPr id="7" name="Text 5"/>
          <p:cNvSpPr txBox="1"/>
          <p:nvPr/>
        </p:nvSpPr>
        <p:spPr>
          <a:xfrm>
            <a:off x="463600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Eiscafé Bellavista</a:t>
            </a:r>
            <a:endParaRPr lang="en-US" sz="2000" dirty="0"/>
          </a:p>
        </p:txBody>
      </p:sp>
      <p:sp>
        <p:nvSpPr>
          <p:cNvPr id="8" name="Text 6"/>
          <p:cNvSpPr txBox="1"/>
          <p:nvPr/>
        </p:nvSpPr>
        <p:spPr>
          <a:xfrm>
            <a:off x="4636008" y="3483864"/>
            <a:ext cx="291693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4.2 von 5 Sternen</a:t>
            </a:r>
            <a:endParaRPr lang="en-US" sz="1600" dirty="0"/>
          </a:p>
          <a:p>
            <a:pPr marL="0" indent="0">
              <a:lnSpc>
                <a:spcPct val="110000"/>
              </a:lnSpc>
              <a:buNone/>
            </a:pPr>
            <a:endParaRPr lang="en-US" sz="1600" dirty="0"/>
          </a:p>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318 Bewertungen</a:t>
            </a:r>
            <a:endParaRPr lang="en-US" sz="1600" dirty="0"/>
          </a:p>
        </p:txBody>
      </p:sp>
      <p:sp>
        <p:nvSpPr>
          <p:cNvPr id="9" name="Shape 7"/>
          <p:cNvSpPr/>
          <p:nvPr/>
        </p:nvSpPr>
        <p:spPr>
          <a:xfrm>
            <a:off x="8138160" y="2560320"/>
            <a:ext cx="3502152" cy="2651760"/>
          </a:xfrm>
          <a:prstGeom prst="roundRect">
            <a:avLst>
              <a:gd name="adj" fmla="val 2759"/>
            </a:avLst>
          </a:prstGeom>
          <a:solidFill>
            <a:srgbClr val="EAF2F6"/>
          </a:solidFill>
          <a:ln/>
        </p:spPr>
        <p:txBody>
          <a:bodyPr/>
          <a:lstStyle/>
          <a:p>
            <a:endParaRPr lang="de-CH"/>
          </a:p>
        </p:txBody>
      </p:sp>
      <p:sp>
        <p:nvSpPr>
          <p:cNvPr id="10" name="Text 8"/>
          <p:cNvSpPr txBox="1"/>
          <p:nvPr/>
        </p:nvSpPr>
        <p:spPr>
          <a:xfrm>
            <a:off x="843076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Glacestube am Platz</a:t>
            </a:r>
            <a:endParaRPr lang="en-US" sz="2000" dirty="0"/>
          </a:p>
        </p:txBody>
      </p:sp>
      <p:sp>
        <p:nvSpPr>
          <p:cNvPr id="11" name="Text 9"/>
          <p:cNvSpPr txBox="1"/>
          <p:nvPr/>
        </p:nvSpPr>
        <p:spPr>
          <a:xfrm>
            <a:off x="8430768" y="3483864"/>
            <a:ext cx="291693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keine Bewertung</a:t>
            </a:r>
            <a:endParaRPr lang="en-US" sz="1600" dirty="0"/>
          </a:p>
        </p:txBody>
      </p:sp>
      <p:sp>
        <p:nvSpPr>
          <p:cNvPr id="12" name="Text 12">
            <a:extLst>
              <a:ext uri="{FF2B5EF4-FFF2-40B4-BE49-F238E27FC236}">
                <a16:creationId xmlns:a16="http://schemas.microsoft.com/office/drawing/2014/main" id="{5A0CEB7F-2840-E406-42CB-DB2729534A69}"/>
              </a:ext>
            </a:extLst>
          </p:cNvPr>
          <p:cNvSpPr txBox="1"/>
          <p:nvPr/>
        </p:nvSpPr>
        <p:spPr>
          <a:xfrm>
            <a:off x="576072" y="1328083"/>
            <a:ext cx="7708392" cy="4480560"/>
          </a:xfrm>
          <a:prstGeom prst="rect">
            <a:avLst/>
          </a:prstGeom>
          <a:noFill/>
          <a:ln/>
        </p:spPr>
        <p:txBody>
          <a:bodyPr wrap="square" lIns="0" tIns="0" rIns="0" bIns="0" rtlCol="0" anchor="t"/>
          <a:lstStyle/>
          <a:p>
            <a:pPr marL="457200" indent="-457200">
              <a:spcAft>
                <a:spcPts val="1200"/>
              </a:spcAft>
              <a:buSzPct val="100000"/>
              <a:buFont typeface="+mj-lt"/>
              <a:buAutoNum type="arabicPeriod"/>
            </a:pPr>
            <a:r>
              <a:rPr lang="en-US" sz="2000" dirty="0" err="1">
                <a:solidFill>
                  <a:srgbClr val="1F2933"/>
                </a:solidFill>
                <a:latin typeface="Calibri" pitchFamily="34" charset="0"/>
                <a:ea typeface="Calibri" pitchFamily="34" charset="-122"/>
                <a:cs typeface="Calibri" pitchFamily="34" charset="-120"/>
              </a:rPr>
              <a:t>Schreibt</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eure</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Begründung</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bei</a:t>
            </a:r>
            <a:r>
              <a:rPr lang="en-US" sz="2000" dirty="0">
                <a:solidFill>
                  <a:srgbClr val="1F2933"/>
                </a:solidFill>
                <a:latin typeface="Calibri" pitchFamily="34" charset="0"/>
                <a:ea typeface="Calibri" pitchFamily="34" charset="-122"/>
                <a:cs typeface="Calibri" pitchFamily="34" charset="-120"/>
              </a:rPr>
              <a:t> der Aufgabe 108 auf.</a:t>
            </a:r>
          </a:p>
          <a:p>
            <a:pPr marL="457200" indent="-457200">
              <a:spcAft>
                <a:spcPts val="1200"/>
              </a:spcAft>
              <a:buSzPct val="100000"/>
              <a:buFont typeface="+mj-lt"/>
              <a:buAutoNum type="arabicPeriod"/>
            </a:pPr>
            <a:r>
              <a:rPr lang="en-US" sz="2000" dirty="0" err="1">
                <a:solidFill>
                  <a:srgbClr val="1F2933"/>
                </a:solidFill>
                <a:latin typeface="Calibri" pitchFamily="34" charset="0"/>
                <a:cs typeface="Calibri" pitchFamily="34" charset="-120"/>
              </a:rPr>
              <a:t>Löse</a:t>
            </a:r>
            <a:r>
              <a:rPr lang="en-US" sz="2000" dirty="0">
                <a:solidFill>
                  <a:srgbClr val="1F2933"/>
                </a:solidFill>
                <a:latin typeface="Calibri" pitchFamily="34" charset="0"/>
                <a:cs typeface="Calibri" pitchFamily="34" charset="-120"/>
              </a:rPr>
              <a:t> Aufgabe 109: Wie </a:t>
            </a:r>
            <a:r>
              <a:rPr lang="en-US" sz="2000" dirty="0" err="1">
                <a:solidFill>
                  <a:srgbClr val="1F2933"/>
                </a:solidFill>
                <a:latin typeface="Calibri" pitchFamily="34" charset="0"/>
                <a:cs typeface="Calibri" pitchFamily="34" charset="-120"/>
              </a:rPr>
              <a:t>nutzt</a:t>
            </a:r>
            <a:r>
              <a:rPr lang="en-US" sz="2000" dirty="0">
                <a:solidFill>
                  <a:srgbClr val="1F2933"/>
                </a:solidFill>
                <a:latin typeface="Calibri" pitchFamily="34" charset="0"/>
                <a:cs typeface="Calibri" pitchFamily="34" charset="-120"/>
              </a:rPr>
              <a:t> du Online </a:t>
            </a:r>
            <a:r>
              <a:rPr lang="en-US" sz="2000" dirty="0" err="1">
                <a:solidFill>
                  <a:srgbClr val="1F2933"/>
                </a:solidFill>
                <a:latin typeface="Calibri" pitchFamily="34" charset="0"/>
                <a:cs typeface="Calibri" pitchFamily="34" charset="-120"/>
              </a:rPr>
              <a:t>Bewertungen</a:t>
            </a:r>
            <a:r>
              <a:rPr lang="en-US" sz="2000" dirty="0">
                <a:solidFill>
                  <a:srgbClr val="1F2933"/>
                </a:solidFill>
                <a:latin typeface="Calibri" pitchFamily="34" charset="0"/>
                <a:cs typeface="Calibri" pitchFamily="34" charset="-120"/>
              </a:rPr>
              <a:t> </a:t>
            </a:r>
            <a:r>
              <a:rPr lang="en-US" sz="2000" dirty="0" err="1">
                <a:solidFill>
                  <a:srgbClr val="1F2933"/>
                </a:solidFill>
                <a:latin typeface="Calibri" pitchFamily="34" charset="0"/>
                <a:cs typeface="Calibri" pitchFamily="34" charset="-120"/>
              </a:rPr>
              <a:t>im</a:t>
            </a:r>
            <a:r>
              <a:rPr lang="en-US" sz="2000" dirty="0">
                <a:solidFill>
                  <a:srgbClr val="1F2933"/>
                </a:solidFill>
                <a:latin typeface="Calibri" pitchFamily="34" charset="0"/>
                <a:cs typeface="Calibri" pitchFamily="34" charset="-120"/>
              </a:rPr>
              <a:t> </a:t>
            </a:r>
            <a:r>
              <a:rPr lang="en-US" sz="2000" dirty="0" err="1">
                <a:solidFill>
                  <a:srgbClr val="1F2933"/>
                </a:solidFill>
                <a:latin typeface="Calibri" pitchFamily="34" charset="0"/>
                <a:cs typeface="Calibri" pitchFamily="34" charset="-120"/>
              </a:rPr>
              <a:t>Alltag</a:t>
            </a:r>
            <a:r>
              <a:rPr lang="en-US" sz="2000" dirty="0">
                <a:solidFill>
                  <a:srgbClr val="1F2933"/>
                </a:solidFill>
                <a:latin typeface="Calibri" pitchFamily="34" charset="0"/>
                <a:cs typeface="Calibri" pitchFamily="34" charset="-120"/>
              </a:rPr>
              <a: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err="1">
                <a:solidFill>
                  <a:srgbClr val="065A82"/>
                </a:solidFill>
                <a:latin typeface="Calibri" pitchFamily="34" charset="0"/>
                <a:ea typeface="Calibri" pitchFamily="34" charset="-122"/>
                <a:cs typeface="Calibri" pitchFamily="34" charset="-120"/>
              </a:rPr>
              <a:t>Lösung</a:t>
            </a:r>
            <a:r>
              <a:rPr lang="en-US" sz="3200" b="1" dirty="0">
                <a:solidFill>
                  <a:srgbClr val="065A82"/>
                </a:solidFill>
                <a:latin typeface="Calibri" pitchFamily="34" charset="0"/>
                <a:ea typeface="Calibri" pitchFamily="34" charset="-122"/>
                <a:cs typeface="Calibri" pitchFamily="34" charset="-120"/>
              </a:rPr>
              <a:t> Aufgabe 108: Worauf kommt es an?</a:t>
            </a:r>
            <a:endParaRPr lang="en-US" sz="3200" dirty="0"/>
          </a:p>
        </p:txBody>
      </p:sp>
      <p:sp>
        <p:nvSpPr>
          <p:cNvPr id="3" name="Shape 1"/>
          <p:cNvSpPr/>
          <p:nvPr/>
        </p:nvSpPr>
        <p:spPr>
          <a:xfrm>
            <a:off x="548640" y="2560320"/>
            <a:ext cx="3502152" cy="2651760"/>
          </a:xfrm>
          <a:prstGeom prst="roundRect">
            <a:avLst>
              <a:gd name="adj" fmla="val 2759"/>
            </a:avLst>
          </a:prstGeom>
          <a:solidFill>
            <a:srgbClr val="EAF2F6"/>
          </a:solidFill>
          <a:ln/>
        </p:spPr>
        <p:txBody>
          <a:bodyPr/>
          <a:lstStyle/>
          <a:p>
            <a:endParaRPr lang="de-CH"/>
          </a:p>
        </p:txBody>
      </p:sp>
      <p:sp>
        <p:nvSpPr>
          <p:cNvPr id="4" name="Text 2"/>
          <p:cNvSpPr txBox="1"/>
          <p:nvPr/>
        </p:nvSpPr>
        <p:spPr>
          <a:xfrm>
            <a:off x="84124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Gelateria Sole</a:t>
            </a:r>
            <a:endParaRPr lang="en-US" sz="2000" dirty="0"/>
          </a:p>
        </p:txBody>
      </p:sp>
      <p:sp>
        <p:nvSpPr>
          <p:cNvPr id="6" name="Shape 4"/>
          <p:cNvSpPr/>
          <p:nvPr/>
        </p:nvSpPr>
        <p:spPr>
          <a:xfrm>
            <a:off x="4343400" y="2560320"/>
            <a:ext cx="3502152" cy="2651760"/>
          </a:xfrm>
          <a:prstGeom prst="roundRect">
            <a:avLst>
              <a:gd name="adj" fmla="val 2759"/>
            </a:avLst>
          </a:prstGeom>
          <a:solidFill>
            <a:srgbClr val="EAF2F6"/>
          </a:solidFill>
          <a:ln/>
        </p:spPr>
        <p:txBody>
          <a:bodyPr/>
          <a:lstStyle/>
          <a:p>
            <a:endParaRPr lang="de-CH"/>
          </a:p>
        </p:txBody>
      </p:sp>
      <p:sp>
        <p:nvSpPr>
          <p:cNvPr id="7" name="Text 5"/>
          <p:cNvSpPr txBox="1"/>
          <p:nvPr/>
        </p:nvSpPr>
        <p:spPr>
          <a:xfrm>
            <a:off x="463600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Eiscafé Bellavista</a:t>
            </a:r>
            <a:endParaRPr lang="en-US" sz="2000" dirty="0"/>
          </a:p>
        </p:txBody>
      </p:sp>
      <p:sp>
        <p:nvSpPr>
          <p:cNvPr id="9" name="Shape 7"/>
          <p:cNvSpPr/>
          <p:nvPr/>
        </p:nvSpPr>
        <p:spPr>
          <a:xfrm>
            <a:off x="8138160" y="2560320"/>
            <a:ext cx="3502152" cy="2651760"/>
          </a:xfrm>
          <a:prstGeom prst="roundRect">
            <a:avLst>
              <a:gd name="adj" fmla="val 2759"/>
            </a:avLst>
          </a:prstGeom>
          <a:solidFill>
            <a:srgbClr val="EAF2F6"/>
          </a:solidFill>
          <a:ln/>
        </p:spPr>
        <p:txBody>
          <a:bodyPr/>
          <a:lstStyle/>
          <a:p>
            <a:endParaRPr lang="de-CH"/>
          </a:p>
        </p:txBody>
      </p:sp>
      <p:sp>
        <p:nvSpPr>
          <p:cNvPr id="10" name="Text 8"/>
          <p:cNvSpPr txBox="1"/>
          <p:nvPr/>
        </p:nvSpPr>
        <p:spPr>
          <a:xfrm>
            <a:off x="843076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Glacestube am Platz</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C45E3-50AE-0BC7-DC66-ADFE75E52D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721B64A-6CF1-ECF6-9231-9CEEFC4447DE}"/>
              </a:ext>
            </a:extLst>
          </p:cNvPr>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err="1">
                <a:solidFill>
                  <a:srgbClr val="065A82"/>
                </a:solidFill>
                <a:latin typeface="Calibri" pitchFamily="34" charset="0"/>
                <a:ea typeface="Calibri" pitchFamily="34" charset="-122"/>
                <a:cs typeface="Calibri" pitchFamily="34" charset="-120"/>
              </a:rPr>
              <a:t>Lösung</a:t>
            </a:r>
            <a:r>
              <a:rPr lang="en-US" sz="3200" b="1" dirty="0">
                <a:solidFill>
                  <a:srgbClr val="065A82"/>
                </a:solidFill>
                <a:latin typeface="Calibri" pitchFamily="34" charset="0"/>
                <a:ea typeface="Calibri" pitchFamily="34" charset="-122"/>
                <a:cs typeface="Calibri" pitchFamily="34" charset="-120"/>
              </a:rPr>
              <a:t> Aufgabe 108: Worauf kommt es an?</a:t>
            </a:r>
            <a:endParaRPr lang="en-US" sz="3200" dirty="0"/>
          </a:p>
        </p:txBody>
      </p:sp>
      <p:sp>
        <p:nvSpPr>
          <p:cNvPr id="3" name="Shape 1">
            <a:extLst>
              <a:ext uri="{FF2B5EF4-FFF2-40B4-BE49-F238E27FC236}">
                <a16:creationId xmlns:a16="http://schemas.microsoft.com/office/drawing/2014/main" id="{092A0FE0-4766-718F-9255-69D653D8D2F7}"/>
              </a:ext>
            </a:extLst>
          </p:cNvPr>
          <p:cNvSpPr/>
          <p:nvPr/>
        </p:nvSpPr>
        <p:spPr>
          <a:xfrm>
            <a:off x="548640" y="2560320"/>
            <a:ext cx="3502152" cy="2651760"/>
          </a:xfrm>
          <a:prstGeom prst="roundRect">
            <a:avLst>
              <a:gd name="adj" fmla="val 2759"/>
            </a:avLst>
          </a:prstGeom>
          <a:solidFill>
            <a:srgbClr val="EAF2F6"/>
          </a:solidFill>
          <a:ln/>
        </p:spPr>
        <p:txBody>
          <a:bodyPr/>
          <a:lstStyle/>
          <a:p>
            <a:endParaRPr lang="de-CH"/>
          </a:p>
        </p:txBody>
      </p:sp>
      <p:sp>
        <p:nvSpPr>
          <p:cNvPr id="4" name="Text 2">
            <a:extLst>
              <a:ext uri="{FF2B5EF4-FFF2-40B4-BE49-F238E27FC236}">
                <a16:creationId xmlns:a16="http://schemas.microsoft.com/office/drawing/2014/main" id="{F289BBBF-E00A-8DAF-897F-ADB006AE7711}"/>
              </a:ext>
            </a:extLst>
          </p:cNvPr>
          <p:cNvSpPr txBox="1"/>
          <p:nvPr/>
        </p:nvSpPr>
        <p:spPr>
          <a:xfrm>
            <a:off x="84124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Gelateria Sole</a:t>
            </a:r>
            <a:endParaRPr lang="en-US" sz="2000" dirty="0"/>
          </a:p>
        </p:txBody>
      </p:sp>
      <p:sp>
        <p:nvSpPr>
          <p:cNvPr id="5" name="Text 3">
            <a:extLst>
              <a:ext uri="{FF2B5EF4-FFF2-40B4-BE49-F238E27FC236}">
                <a16:creationId xmlns:a16="http://schemas.microsoft.com/office/drawing/2014/main" id="{BF0AAAC5-F01B-DDD6-89D5-C425661F75D5}"/>
              </a:ext>
            </a:extLst>
          </p:cNvPr>
          <p:cNvSpPr txBox="1"/>
          <p:nvPr/>
        </p:nvSpPr>
        <p:spPr>
          <a:xfrm>
            <a:off x="841248" y="3483864"/>
            <a:ext cx="291693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Nur 7 Bewertungen. Das ist zu wenig.</a:t>
            </a:r>
            <a:endParaRPr lang="en-US" sz="1600" dirty="0"/>
          </a:p>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Sie könnten alle gefälscht sein.</a:t>
            </a:r>
            <a:endParaRPr lang="en-US" sz="1600" dirty="0"/>
          </a:p>
        </p:txBody>
      </p:sp>
      <p:sp>
        <p:nvSpPr>
          <p:cNvPr id="6" name="Shape 4">
            <a:extLst>
              <a:ext uri="{FF2B5EF4-FFF2-40B4-BE49-F238E27FC236}">
                <a16:creationId xmlns:a16="http://schemas.microsoft.com/office/drawing/2014/main" id="{02471EE1-045E-653A-5B59-9663807A8F21}"/>
              </a:ext>
            </a:extLst>
          </p:cNvPr>
          <p:cNvSpPr/>
          <p:nvPr/>
        </p:nvSpPr>
        <p:spPr>
          <a:xfrm>
            <a:off x="4343400" y="2560320"/>
            <a:ext cx="3502152" cy="2651760"/>
          </a:xfrm>
          <a:prstGeom prst="roundRect">
            <a:avLst>
              <a:gd name="adj" fmla="val 2759"/>
            </a:avLst>
          </a:prstGeom>
          <a:solidFill>
            <a:srgbClr val="EAF2F6"/>
          </a:solidFill>
          <a:ln/>
        </p:spPr>
        <p:txBody>
          <a:bodyPr/>
          <a:lstStyle/>
          <a:p>
            <a:endParaRPr lang="de-CH"/>
          </a:p>
        </p:txBody>
      </p:sp>
      <p:sp>
        <p:nvSpPr>
          <p:cNvPr id="7" name="Text 5">
            <a:extLst>
              <a:ext uri="{FF2B5EF4-FFF2-40B4-BE49-F238E27FC236}">
                <a16:creationId xmlns:a16="http://schemas.microsoft.com/office/drawing/2014/main" id="{235A6A1F-29F5-E1A0-5B59-A88A5382609F}"/>
              </a:ext>
            </a:extLst>
          </p:cNvPr>
          <p:cNvSpPr txBox="1"/>
          <p:nvPr/>
        </p:nvSpPr>
        <p:spPr>
          <a:xfrm>
            <a:off x="463600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Eiscafé Bellavista</a:t>
            </a:r>
            <a:endParaRPr lang="en-US" sz="2000" dirty="0"/>
          </a:p>
        </p:txBody>
      </p:sp>
      <p:sp>
        <p:nvSpPr>
          <p:cNvPr id="8" name="Text 6">
            <a:extLst>
              <a:ext uri="{FF2B5EF4-FFF2-40B4-BE49-F238E27FC236}">
                <a16:creationId xmlns:a16="http://schemas.microsoft.com/office/drawing/2014/main" id="{58B36B5B-18D7-1790-5E73-8196E67FA877}"/>
              </a:ext>
            </a:extLst>
          </p:cNvPr>
          <p:cNvSpPr txBox="1"/>
          <p:nvPr/>
        </p:nvSpPr>
        <p:spPr>
          <a:xfrm>
            <a:off x="4636008" y="3483864"/>
            <a:ext cx="291693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318 Bewertungen. Das ist am verlässlichsten.</a:t>
            </a:r>
            <a:endParaRPr lang="en-US" sz="1600" dirty="0"/>
          </a:p>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Auch wenn der Schnitt tiefer ist.</a:t>
            </a:r>
            <a:endParaRPr lang="en-US" sz="1600" dirty="0"/>
          </a:p>
        </p:txBody>
      </p:sp>
      <p:sp>
        <p:nvSpPr>
          <p:cNvPr id="9" name="Shape 7">
            <a:extLst>
              <a:ext uri="{FF2B5EF4-FFF2-40B4-BE49-F238E27FC236}">
                <a16:creationId xmlns:a16="http://schemas.microsoft.com/office/drawing/2014/main" id="{398AF685-3338-CFC2-7FCD-886309ED17D1}"/>
              </a:ext>
            </a:extLst>
          </p:cNvPr>
          <p:cNvSpPr/>
          <p:nvPr/>
        </p:nvSpPr>
        <p:spPr>
          <a:xfrm>
            <a:off x="8138160" y="2560320"/>
            <a:ext cx="3502152" cy="2651760"/>
          </a:xfrm>
          <a:prstGeom prst="roundRect">
            <a:avLst>
              <a:gd name="adj" fmla="val 2759"/>
            </a:avLst>
          </a:prstGeom>
          <a:solidFill>
            <a:srgbClr val="EAF2F6"/>
          </a:solidFill>
          <a:ln/>
        </p:spPr>
        <p:txBody>
          <a:bodyPr/>
          <a:lstStyle/>
          <a:p>
            <a:endParaRPr lang="de-CH"/>
          </a:p>
        </p:txBody>
      </p:sp>
      <p:sp>
        <p:nvSpPr>
          <p:cNvPr id="10" name="Text 8">
            <a:extLst>
              <a:ext uri="{FF2B5EF4-FFF2-40B4-BE49-F238E27FC236}">
                <a16:creationId xmlns:a16="http://schemas.microsoft.com/office/drawing/2014/main" id="{1ED1622C-2D90-FCB4-0F18-44D0CF21A694}"/>
              </a:ext>
            </a:extLst>
          </p:cNvPr>
          <p:cNvSpPr txBox="1"/>
          <p:nvPr/>
        </p:nvSpPr>
        <p:spPr>
          <a:xfrm>
            <a:off x="8430768" y="2880360"/>
            <a:ext cx="2916936" cy="566928"/>
          </a:xfrm>
          <a:prstGeom prst="rect">
            <a:avLst/>
          </a:prstGeom>
          <a:noFill/>
          <a:ln/>
        </p:spPr>
        <p:txBody>
          <a:bodyPr wrap="square" lIns="0" tIns="0" rIns="0" bIns="0" rtlCol="0" anchor="t"/>
          <a:lstStyle/>
          <a:p>
            <a:pPr marL="0" indent="0">
              <a:buNone/>
            </a:pPr>
            <a:r>
              <a:rPr lang="en-US" sz="2000" b="1" dirty="0">
                <a:solidFill>
                  <a:srgbClr val="065A82"/>
                </a:solidFill>
                <a:latin typeface="Calibri" pitchFamily="34" charset="0"/>
                <a:ea typeface="Calibri" pitchFamily="34" charset="-122"/>
                <a:cs typeface="Calibri" pitchFamily="34" charset="-120"/>
              </a:rPr>
              <a:t>Glacestube am Platz</a:t>
            </a:r>
            <a:endParaRPr lang="en-US" sz="2000" dirty="0"/>
          </a:p>
        </p:txBody>
      </p:sp>
      <p:sp>
        <p:nvSpPr>
          <p:cNvPr id="11" name="Text 9">
            <a:extLst>
              <a:ext uri="{FF2B5EF4-FFF2-40B4-BE49-F238E27FC236}">
                <a16:creationId xmlns:a16="http://schemas.microsoft.com/office/drawing/2014/main" id="{42576263-7F84-9ECB-8EE8-FA587D4DEC94}"/>
              </a:ext>
            </a:extLst>
          </p:cNvPr>
          <p:cNvSpPr txBox="1"/>
          <p:nvPr/>
        </p:nvSpPr>
        <p:spPr>
          <a:xfrm>
            <a:off x="8430768" y="3483864"/>
            <a:ext cx="2916936" cy="1463040"/>
          </a:xfrm>
          <a:prstGeom prst="rect">
            <a:avLst/>
          </a:prstGeom>
          <a:noFill/>
          <a:ln/>
        </p:spPr>
        <p:txBody>
          <a:bodyPr wrap="square" lIns="0" tIns="0" rIns="0" bIns="0" rtlCol="0" anchor="t"/>
          <a:lstStyle/>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Keine Bewertung heisst nicht schlecht.</a:t>
            </a:r>
            <a:endParaRPr lang="en-US" sz="1600" dirty="0"/>
          </a:p>
          <a:p>
            <a:pPr marL="0" indent="0">
              <a:lnSpc>
                <a:spcPct val="110000"/>
              </a:lnSpc>
              <a:buNone/>
            </a:pPr>
            <a:r>
              <a:rPr lang="en-US" sz="1600" dirty="0">
                <a:solidFill>
                  <a:srgbClr val="1F2933"/>
                </a:solidFill>
                <a:latin typeface="Calibri" pitchFamily="34" charset="0"/>
                <a:ea typeface="Calibri" pitchFamily="34" charset="-122"/>
                <a:cs typeface="Calibri" pitchFamily="34" charset="-120"/>
              </a:rPr>
              <a:t>Vielleicht ist der Laden neu.</a:t>
            </a:r>
            <a:endParaRPr lang="en-US" sz="1600" dirty="0"/>
          </a:p>
        </p:txBody>
      </p:sp>
    </p:spTree>
    <p:extLst>
      <p:ext uri="{BB962C8B-B14F-4D97-AF65-F5344CB8AC3E}">
        <p14:creationId xmlns:p14="http://schemas.microsoft.com/office/powerpoint/2010/main" val="1636637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Wer schreibt falsche Bewertungen?</a:t>
            </a:r>
            <a:endParaRPr lang="en-US" sz="3200" dirty="0"/>
          </a:p>
        </p:txBody>
      </p:sp>
      <p:sp>
        <p:nvSpPr>
          <p:cNvPr id="3" name="Text 1"/>
          <p:cNvSpPr txBox="1"/>
          <p:nvPr/>
        </p:nvSpPr>
        <p:spPr>
          <a:xfrm>
            <a:off x="731520" y="1463040"/>
            <a:ext cx="10543032" cy="3840480"/>
          </a:xfrm>
          <a:prstGeom prst="rect">
            <a:avLst/>
          </a:prstGeom>
          <a:noFill/>
          <a:ln/>
        </p:spPr>
        <p:txBody>
          <a:bodyPr wrap="square" lIns="0" tIns="0" rIns="0" bIns="0" rtlCol="0" anchor="t"/>
          <a:lstStyle/>
          <a:p>
            <a:pPr marL="342900" indent="-342900">
              <a:lnSpc>
                <a:spcPct val="200000"/>
              </a:lnSpc>
              <a:spcAft>
                <a:spcPts val="1000"/>
              </a:spcAft>
              <a:buSzPct val="100000"/>
              <a:buChar char="•"/>
            </a:pPr>
            <a:r>
              <a:rPr lang="en-US" sz="2000" dirty="0">
                <a:solidFill>
                  <a:srgbClr val="1F2933"/>
                </a:solidFill>
                <a:latin typeface="Calibri" pitchFamily="34" charset="0"/>
                <a:ea typeface="Calibri" pitchFamily="34" charset="-122"/>
                <a:cs typeface="Calibri" pitchFamily="34" charset="-120"/>
              </a:rPr>
              <a:t>Ein Betrieb schreibt selbst gute Bewertungen über sich.</a:t>
            </a:r>
            <a:endParaRPr lang="en-US" sz="2000" dirty="0"/>
          </a:p>
          <a:p>
            <a:pPr marL="342900" indent="-342900">
              <a:lnSpc>
                <a:spcPct val="200000"/>
              </a:lnSpc>
              <a:spcAft>
                <a:spcPts val="1000"/>
              </a:spcAft>
              <a:buSzPct val="100000"/>
              <a:buChar char="•"/>
            </a:pPr>
            <a:r>
              <a:rPr lang="en-US" sz="2000" dirty="0">
                <a:solidFill>
                  <a:srgbClr val="1F2933"/>
                </a:solidFill>
                <a:latin typeface="Calibri" pitchFamily="34" charset="0"/>
                <a:ea typeface="Calibri" pitchFamily="34" charset="-122"/>
                <a:cs typeface="Calibri" pitchFamily="34" charset="-120"/>
              </a:rPr>
              <a:t>Eine Konkurrenzfirma schreibt schlechte Bewertungen.</a:t>
            </a:r>
            <a:endParaRPr lang="en-US" sz="2000" dirty="0"/>
          </a:p>
          <a:p>
            <a:pPr marL="342900" indent="-342900">
              <a:lnSpc>
                <a:spcPct val="200000"/>
              </a:lnSpc>
              <a:spcAft>
                <a:spcPts val="1000"/>
              </a:spcAft>
              <a:buSzPct val="100000"/>
              <a:buChar char="•"/>
            </a:pPr>
            <a:r>
              <a:rPr lang="en-US" sz="2000" dirty="0">
                <a:solidFill>
                  <a:srgbClr val="1F2933"/>
                </a:solidFill>
                <a:latin typeface="Calibri" pitchFamily="34" charset="0"/>
                <a:ea typeface="Calibri" pitchFamily="34" charset="-122"/>
                <a:cs typeface="Calibri" pitchFamily="34" charset="-120"/>
              </a:rPr>
              <a:t>Jemand bekommt Geld oder Rabatt für eine gute Bewertung.</a:t>
            </a:r>
            <a:endParaRPr lang="en-US" sz="2000" dirty="0"/>
          </a:p>
        </p:txBody>
      </p:sp>
      <p:sp>
        <p:nvSpPr>
          <p:cNvPr id="4" name="Shape 2"/>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Arbeitsbuch Aufgabe 110.</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11480"/>
            <a:ext cx="3017520" cy="6035040"/>
          </a:xfrm>
          <a:prstGeom prst="roundRect">
            <a:avLst>
              <a:gd name="adj" fmla="val 2424"/>
            </a:avLst>
          </a:prstGeom>
          <a:solidFill>
            <a:srgbClr val="065A82"/>
          </a:solidFill>
          <a:ln/>
        </p:spPr>
        <p:txBody>
          <a:bodyPr/>
          <a:lstStyle/>
          <a:p>
            <a:endParaRPr lang="de-CH"/>
          </a:p>
        </p:txBody>
      </p:sp>
      <p:sp>
        <p:nvSpPr>
          <p:cNvPr id="3" name="Text 1"/>
          <p:cNvSpPr txBox="1"/>
          <p:nvPr/>
        </p:nvSpPr>
        <p:spPr>
          <a:xfrm>
            <a:off x="868680" y="777240"/>
            <a:ext cx="2377440" cy="457200"/>
          </a:xfrm>
          <a:prstGeom prst="rect">
            <a:avLst/>
          </a:prstGeom>
          <a:noFill/>
          <a:ln/>
        </p:spPr>
        <p:txBody>
          <a:bodyPr wrap="square" lIns="0" tIns="0" rIns="0" bIns="0" rtlCol="0" anchor="ctr"/>
          <a:lstStyle/>
          <a:p>
            <a:pPr marL="0" indent="0">
              <a:buNone/>
            </a:pPr>
            <a:r>
              <a:rPr lang="en-US" sz="2000" b="1" dirty="0">
                <a:solidFill>
                  <a:srgbClr val="9FC6DA"/>
                </a:solidFill>
                <a:latin typeface="Calibri" pitchFamily="34" charset="0"/>
                <a:ea typeface="Calibri" pitchFamily="34" charset="-122"/>
                <a:cs typeface="Calibri" pitchFamily="34" charset="-120"/>
              </a:rPr>
              <a:t>Auftrag</a:t>
            </a:r>
            <a:endParaRPr lang="en-US" sz="2000" dirty="0"/>
          </a:p>
        </p:txBody>
      </p:sp>
      <p:sp>
        <p:nvSpPr>
          <p:cNvPr id="4" name="Text 2"/>
          <p:cNvSpPr txBox="1"/>
          <p:nvPr/>
        </p:nvSpPr>
        <p:spPr>
          <a:xfrm>
            <a:off x="868680" y="1188720"/>
            <a:ext cx="2377440" cy="1371600"/>
          </a:xfrm>
          <a:prstGeom prst="rect">
            <a:avLst/>
          </a:prstGeom>
          <a:noFill/>
          <a:ln/>
        </p:spPr>
        <p:txBody>
          <a:bodyPr wrap="square" lIns="0" tIns="0" rIns="0" bIns="0"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1</a:t>
            </a:r>
            <a:endParaRPr lang="en-US" sz="7200" dirty="0"/>
          </a:p>
        </p:txBody>
      </p:sp>
      <p:sp>
        <p:nvSpPr>
          <p:cNvPr id="5" name="Text 3"/>
          <p:cNvSpPr txBox="1"/>
          <p:nvPr/>
        </p:nvSpPr>
        <p:spPr>
          <a:xfrm>
            <a:off x="868680" y="2697480"/>
            <a:ext cx="2377440" cy="320040"/>
          </a:xfrm>
          <a:prstGeom prst="rect">
            <a:avLst/>
          </a:prstGeom>
          <a:noFill/>
          <a:ln/>
        </p:spPr>
        <p:txBody>
          <a:bodyPr wrap="square" lIns="0" tIns="0" rIns="0" bIns="0" rtlCol="0" anchor="ctr"/>
          <a:lstStyle/>
          <a:p>
            <a:pPr marL="0" indent="0">
              <a:buNone/>
            </a:pPr>
            <a:r>
              <a:rPr lang="en-US" sz="1400" dirty="0">
                <a:solidFill>
                  <a:srgbClr val="9FC6DA"/>
                </a:solidFill>
                <a:latin typeface="Calibri" pitchFamily="34" charset="0"/>
                <a:ea typeface="Calibri" pitchFamily="34" charset="-122"/>
                <a:cs typeface="Calibri" pitchFamily="34" charset="-120"/>
              </a:rPr>
              <a:t>Zeit</a:t>
            </a:r>
            <a:endParaRPr lang="en-US" sz="1400" dirty="0"/>
          </a:p>
        </p:txBody>
      </p:sp>
      <p:sp>
        <p:nvSpPr>
          <p:cNvPr id="6" name="Text 4"/>
          <p:cNvSpPr txBox="1"/>
          <p:nvPr/>
        </p:nvSpPr>
        <p:spPr>
          <a:xfrm>
            <a:off x="868680" y="2999232"/>
            <a:ext cx="237744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7 Minuten</a:t>
            </a:r>
            <a:endParaRPr lang="en-US" sz="1900" dirty="0"/>
          </a:p>
        </p:txBody>
      </p:sp>
      <p:sp>
        <p:nvSpPr>
          <p:cNvPr id="7" name="Text 5"/>
          <p:cNvSpPr txBox="1"/>
          <p:nvPr/>
        </p:nvSpPr>
        <p:spPr>
          <a:xfrm>
            <a:off x="868680" y="3630168"/>
            <a:ext cx="2377440" cy="320040"/>
          </a:xfrm>
          <a:prstGeom prst="rect">
            <a:avLst/>
          </a:prstGeom>
          <a:noFill/>
          <a:ln/>
        </p:spPr>
        <p:txBody>
          <a:bodyPr wrap="square" lIns="0" tIns="0" rIns="0" bIns="0" rtlCol="0" anchor="ctr"/>
          <a:lstStyle/>
          <a:p>
            <a:pPr marL="0" indent="0">
              <a:buNone/>
            </a:pPr>
            <a:r>
              <a:rPr lang="en-US" sz="1400" dirty="0">
                <a:solidFill>
                  <a:srgbClr val="9FC6DA"/>
                </a:solidFill>
                <a:latin typeface="Calibri" pitchFamily="34" charset="0"/>
                <a:ea typeface="Calibri" pitchFamily="34" charset="-122"/>
                <a:cs typeface="Calibri" pitchFamily="34" charset="-120"/>
              </a:rPr>
              <a:t>Sozialform</a:t>
            </a:r>
            <a:endParaRPr lang="en-US" sz="1400" dirty="0"/>
          </a:p>
        </p:txBody>
      </p:sp>
      <p:sp>
        <p:nvSpPr>
          <p:cNvPr id="8" name="Text 6"/>
          <p:cNvSpPr txBox="1"/>
          <p:nvPr/>
        </p:nvSpPr>
        <p:spPr>
          <a:xfrm>
            <a:off x="868680" y="3931920"/>
            <a:ext cx="237744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allein, dann zu zweit</a:t>
            </a:r>
            <a:endParaRPr lang="en-US" sz="1900" dirty="0"/>
          </a:p>
        </p:txBody>
      </p:sp>
      <p:sp>
        <p:nvSpPr>
          <p:cNvPr id="11" name="Text 9"/>
          <p:cNvSpPr txBox="1"/>
          <p:nvPr/>
        </p:nvSpPr>
        <p:spPr>
          <a:xfrm>
            <a:off x="868680" y="4713345"/>
            <a:ext cx="2377440" cy="320040"/>
          </a:xfrm>
          <a:prstGeom prst="rect">
            <a:avLst/>
          </a:prstGeom>
          <a:noFill/>
          <a:ln/>
        </p:spPr>
        <p:txBody>
          <a:bodyPr wrap="square" lIns="0" tIns="0" rIns="0" bIns="0" rtlCol="0" anchor="ctr"/>
          <a:lstStyle/>
          <a:p>
            <a:pPr marL="0" indent="0">
              <a:buNone/>
            </a:pPr>
            <a:r>
              <a:rPr lang="en-US" sz="1400" dirty="0">
                <a:solidFill>
                  <a:srgbClr val="9FC6DA"/>
                </a:solidFill>
                <a:latin typeface="Calibri" pitchFamily="34" charset="0"/>
                <a:ea typeface="Calibri" pitchFamily="34" charset="-122"/>
                <a:cs typeface="Calibri" pitchFamily="34" charset="-120"/>
              </a:rPr>
              <a:t>Arbeitsbuch</a:t>
            </a:r>
            <a:endParaRPr lang="en-US" sz="1400" dirty="0"/>
          </a:p>
        </p:txBody>
      </p:sp>
      <p:sp>
        <p:nvSpPr>
          <p:cNvPr id="12" name="Text 10"/>
          <p:cNvSpPr txBox="1"/>
          <p:nvPr/>
        </p:nvSpPr>
        <p:spPr>
          <a:xfrm>
            <a:off x="868680" y="5015097"/>
            <a:ext cx="2377440" cy="54864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Aufgabe 111</a:t>
            </a:r>
            <a:endParaRPr lang="en-US" sz="1900" dirty="0"/>
          </a:p>
        </p:txBody>
      </p:sp>
      <p:sp>
        <p:nvSpPr>
          <p:cNvPr id="13" name="Text 11"/>
          <p:cNvSpPr txBox="1"/>
          <p:nvPr/>
        </p:nvSpPr>
        <p:spPr>
          <a:xfrm>
            <a:off x="3886200" y="685800"/>
            <a:ext cx="7708392" cy="1005840"/>
          </a:xfrm>
          <a:prstGeom prst="rect">
            <a:avLst/>
          </a:prstGeom>
          <a:noFill/>
          <a:ln/>
        </p:spPr>
        <p:txBody>
          <a:bodyPr wrap="square" lIns="0" tIns="0" rIns="0" bIns="0" rtlCol="0" anchor="t"/>
          <a:lstStyle/>
          <a:p>
            <a:pPr marL="0" indent="0">
              <a:buNone/>
            </a:pPr>
            <a:r>
              <a:rPr lang="en-US" sz="3000" b="1" dirty="0">
                <a:solidFill>
                  <a:srgbClr val="065A82"/>
                </a:solidFill>
                <a:latin typeface="Calibri" pitchFamily="34" charset="0"/>
                <a:ea typeface="Calibri" pitchFamily="34" charset="-122"/>
                <a:cs typeface="Calibri" pitchFamily="34" charset="-120"/>
              </a:rPr>
              <a:t>Welche Kriterien sind dir wichtig?</a:t>
            </a:r>
            <a:endParaRPr lang="en-US" sz="3000" dirty="0"/>
          </a:p>
        </p:txBody>
      </p:sp>
      <p:sp>
        <p:nvSpPr>
          <p:cNvPr id="14" name="Text 12"/>
          <p:cNvSpPr txBox="1"/>
          <p:nvPr/>
        </p:nvSpPr>
        <p:spPr>
          <a:xfrm>
            <a:off x="3886200" y="1691640"/>
            <a:ext cx="7708392"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000" dirty="0">
                <a:solidFill>
                  <a:srgbClr val="1F2933"/>
                </a:solidFill>
                <a:latin typeface="Calibri" pitchFamily="34" charset="0"/>
                <a:ea typeface="Calibri" pitchFamily="34" charset="-122"/>
                <a:cs typeface="Calibri" pitchFamily="34" charset="-120"/>
              </a:rPr>
              <a:t>Lest die fünf </a:t>
            </a:r>
            <a:r>
              <a:rPr lang="en-US" sz="2000" dirty="0" err="1">
                <a:solidFill>
                  <a:srgbClr val="1F2933"/>
                </a:solidFill>
                <a:latin typeface="Calibri" pitchFamily="34" charset="0"/>
                <a:ea typeface="Calibri" pitchFamily="34" charset="-122"/>
                <a:cs typeface="Calibri" pitchFamily="34" charset="-120"/>
              </a:rPr>
              <a:t>Kriterien</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bei</a:t>
            </a:r>
            <a:r>
              <a:rPr lang="en-US" sz="2000" dirty="0">
                <a:solidFill>
                  <a:srgbClr val="1F2933"/>
                </a:solidFill>
                <a:latin typeface="Calibri" pitchFamily="34" charset="0"/>
                <a:ea typeface="Calibri" pitchFamily="34" charset="-122"/>
                <a:cs typeface="Calibri" pitchFamily="34" charset="-120"/>
              </a:rPr>
              <a:t> der Aufgabe 111 </a:t>
            </a:r>
            <a:r>
              <a:rPr lang="en-US" sz="2000" dirty="0" err="1">
                <a:solidFill>
                  <a:srgbClr val="1F2933"/>
                </a:solidFill>
                <a:latin typeface="Calibri" pitchFamily="34" charset="0"/>
                <a:ea typeface="Calibri" pitchFamily="34" charset="-122"/>
                <a:cs typeface="Calibri" pitchFamily="34" charset="-120"/>
              </a:rPr>
              <a:t>im</a:t>
            </a:r>
            <a:r>
              <a:rPr lang="en-US" sz="2000" dirty="0">
                <a:solidFill>
                  <a:srgbClr val="1F2933"/>
                </a:solidFill>
                <a:latin typeface="Calibri" pitchFamily="34" charset="0"/>
                <a:ea typeface="Calibri" pitchFamily="34" charset="-122"/>
                <a:cs typeface="Calibri" pitchFamily="34" charset="-120"/>
              </a:rPr>
              <a:t> Connected</a:t>
            </a:r>
            <a:endParaRPr lang="en-US" sz="2000" dirty="0"/>
          </a:p>
          <a:p>
            <a:pPr marL="342900" indent="-342900">
              <a:spcAft>
                <a:spcPts val="1200"/>
              </a:spcAft>
              <a:buSzPct val="100000"/>
              <a:buFont typeface="+mj-lt"/>
              <a:buAutoNum type="arabicPeriod"/>
            </a:pPr>
            <a:r>
              <a:rPr lang="en-US" sz="2000" dirty="0">
                <a:solidFill>
                  <a:srgbClr val="1F2933"/>
                </a:solidFill>
                <a:latin typeface="Calibri" pitchFamily="34" charset="0"/>
                <a:ea typeface="Calibri" pitchFamily="34" charset="-122"/>
                <a:cs typeface="Calibri" pitchFamily="34" charset="-120"/>
              </a:rPr>
              <a:t>Kreuzt die </a:t>
            </a:r>
            <a:r>
              <a:rPr lang="en-US" sz="2000" dirty="0" err="1">
                <a:solidFill>
                  <a:srgbClr val="1F2933"/>
                </a:solidFill>
                <a:latin typeface="Calibri" pitchFamily="34" charset="0"/>
                <a:ea typeface="Calibri" pitchFamily="34" charset="-122"/>
                <a:cs typeface="Calibri" pitchFamily="34" charset="-120"/>
              </a:rPr>
              <a:t>drei</a:t>
            </a:r>
            <a:r>
              <a:rPr lang="en-US" sz="2000" dirty="0">
                <a:solidFill>
                  <a:srgbClr val="1F2933"/>
                </a:solidFill>
                <a:latin typeface="Calibri" pitchFamily="34" charset="0"/>
                <a:ea typeface="Calibri" pitchFamily="34" charset="-122"/>
                <a:cs typeface="Calibri" pitchFamily="34" charset="-120"/>
              </a:rPr>
              <a:t> an, die euch am wichtigsten sind.</a:t>
            </a:r>
            <a:endParaRPr lang="en-US" sz="2000" dirty="0"/>
          </a:p>
          <a:p>
            <a:pPr marL="342900" indent="-342900">
              <a:spcAft>
                <a:spcPts val="1200"/>
              </a:spcAft>
              <a:buSzPct val="100000"/>
              <a:buFont typeface="+mj-lt"/>
              <a:buAutoNum type="arabicPeriod"/>
            </a:pPr>
            <a:r>
              <a:rPr lang="en-US" sz="2000" dirty="0" err="1">
                <a:solidFill>
                  <a:srgbClr val="1F2933"/>
                </a:solidFill>
                <a:latin typeface="Calibri" pitchFamily="34" charset="0"/>
                <a:ea typeface="Calibri" pitchFamily="34" charset="-122"/>
                <a:cs typeface="Calibri" pitchFamily="34" charset="-120"/>
              </a:rPr>
              <a:t>Vergleicht</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mit</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eurem</a:t>
            </a:r>
            <a:r>
              <a:rPr lang="en-US" sz="2000" dirty="0">
                <a:solidFill>
                  <a:srgbClr val="1F2933"/>
                </a:solidFill>
                <a:latin typeface="Calibri" pitchFamily="34" charset="0"/>
                <a:ea typeface="Calibri" pitchFamily="34" charset="-122"/>
                <a:cs typeface="Calibri" pitchFamily="34" charset="-120"/>
              </a:rPr>
              <a:t> </a:t>
            </a:r>
            <a:r>
              <a:rPr lang="en-US" sz="2000" dirty="0" err="1">
                <a:solidFill>
                  <a:srgbClr val="1F2933"/>
                </a:solidFill>
                <a:latin typeface="Calibri" pitchFamily="34" charset="0"/>
                <a:ea typeface="Calibri" pitchFamily="34" charset="-122"/>
                <a:cs typeface="Calibri" pitchFamily="34" charset="-120"/>
              </a:rPr>
              <a:t>Banknachbar:In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1672" cy="822960"/>
          </a:xfrm>
          <a:prstGeom prst="rect">
            <a:avLst/>
          </a:prstGeom>
          <a:noFill/>
          <a:ln/>
        </p:spPr>
        <p:txBody>
          <a:bodyPr wrap="square" lIns="0" tIns="0" rIns="0" bIns="0" rtlCol="0" anchor="ctr"/>
          <a:lstStyle/>
          <a:p>
            <a:pPr marL="0" indent="0" algn="l">
              <a:buNone/>
            </a:pPr>
            <a:r>
              <a:rPr lang="en-US" sz="3200" b="1" dirty="0">
                <a:solidFill>
                  <a:srgbClr val="065A82"/>
                </a:solidFill>
                <a:latin typeface="Calibri" pitchFamily="34" charset="0"/>
                <a:ea typeface="Calibri" pitchFamily="34" charset="-122"/>
                <a:cs typeface="Calibri" pitchFamily="34" charset="-120"/>
              </a:rPr>
              <a:t>Lösung: So klingt eine gute Begründung</a:t>
            </a:r>
            <a:endParaRPr lang="en-US" sz="3200" dirty="0"/>
          </a:p>
        </p:txBody>
      </p:sp>
      <p:sp>
        <p:nvSpPr>
          <p:cNvPr id="3" name="Text 1"/>
          <p:cNvSpPr txBox="1"/>
          <p:nvPr/>
        </p:nvSpPr>
        <p:spPr>
          <a:xfrm>
            <a:off x="731520" y="1463040"/>
            <a:ext cx="10543032" cy="3840480"/>
          </a:xfrm>
          <a:prstGeom prst="rect">
            <a:avLst/>
          </a:prstGeom>
          <a:noFill/>
          <a:ln/>
        </p:spPr>
        <p:txBody>
          <a:bodyPr wrap="square" lIns="0" tIns="0" rIns="0" bIns="0" rtlCol="0" anchor="t"/>
          <a:lstStyle/>
          <a:p>
            <a:pPr marL="342900" indent="-342900">
              <a:lnSpc>
                <a:spcPct val="200000"/>
              </a:lnSpc>
              <a:spcAft>
                <a:spcPts val="1000"/>
              </a:spcAft>
              <a:buSzPct val="100000"/>
              <a:buChar char="•"/>
            </a:pPr>
            <a:r>
              <a:rPr lang="en-US" sz="1800" b="1" dirty="0">
                <a:solidFill>
                  <a:srgbClr val="1F2933"/>
                </a:solidFill>
                <a:latin typeface="Calibri" pitchFamily="34" charset="0"/>
                <a:ea typeface="Calibri" pitchFamily="34" charset="-122"/>
                <a:cs typeface="Calibri" pitchFamily="34" charset="-120"/>
              </a:rPr>
              <a:t>Viele Bewertungen: </a:t>
            </a:r>
            <a:r>
              <a:rPr lang="en-US" sz="1800" dirty="0">
                <a:solidFill>
                  <a:srgbClr val="1F2933"/>
                </a:solidFill>
                <a:latin typeface="Calibri" pitchFamily="34" charset="0"/>
                <a:ea typeface="Calibri" pitchFamily="34" charset="-122"/>
                <a:cs typeface="Calibri" pitchFamily="34" charset="-120"/>
              </a:rPr>
              <a:t>Mir ist das wichtig, weil ein paar falsche Bewertungen dann kaum auffallen.</a:t>
            </a:r>
            <a:endParaRPr lang="en-US" sz="1800" dirty="0"/>
          </a:p>
          <a:p>
            <a:pPr marL="342900" indent="-342900">
              <a:lnSpc>
                <a:spcPct val="200000"/>
              </a:lnSpc>
              <a:spcAft>
                <a:spcPts val="1000"/>
              </a:spcAft>
              <a:buSzPct val="100000"/>
              <a:buChar char="•"/>
            </a:pPr>
            <a:r>
              <a:rPr lang="en-US" sz="1800" b="1" dirty="0">
                <a:solidFill>
                  <a:srgbClr val="1F2933"/>
                </a:solidFill>
                <a:latin typeface="Calibri" pitchFamily="34" charset="0"/>
                <a:ea typeface="Calibri" pitchFamily="34" charset="-122"/>
                <a:cs typeface="Calibri" pitchFamily="34" charset="-120"/>
              </a:rPr>
              <a:t>Textkommentar: </a:t>
            </a:r>
            <a:r>
              <a:rPr lang="en-US" sz="1800" dirty="0">
                <a:solidFill>
                  <a:srgbClr val="1F2933"/>
                </a:solidFill>
                <a:latin typeface="Calibri" pitchFamily="34" charset="0"/>
                <a:ea typeface="Calibri" pitchFamily="34" charset="-122"/>
                <a:cs typeface="Calibri" pitchFamily="34" charset="-120"/>
              </a:rPr>
              <a:t>Mir ist das wichtig, weil ich dann lese, was genau gut oder schlecht war.</a:t>
            </a:r>
            <a:endParaRPr lang="en-US" sz="1800" dirty="0"/>
          </a:p>
          <a:p>
            <a:pPr marL="342900" indent="-342900">
              <a:lnSpc>
                <a:spcPct val="200000"/>
              </a:lnSpc>
              <a:spcAft>
                <a:spcPts val="1000"/>
              </a:spcAft>
              <a:buSzPct val="100000"/>
              <a:buChar char="•"/>
            </a:pPr>
            <a:r>
              <a:rPr lang="en-US" sz="1800" b="1" dirty="0">
                <a:solidFill>
                  <a:srgbClr val="1F2933"/>
                </a:solidFill>
                <a:latin typeface="Calibri" pitchFamily="34" charset="0"/>
                <a:ea typeface="Calibri" pitchFamily="34" charset="-122"/>
                <a:cs typeface="Calibri" pitchFamily="34" charset="-120"/>
              </a:rPr>
              <a:t>Persönliche Erfahrung: </a:t>
            </a:r>
            <a:r>
              <a:rPr lang="en-US" sz="1800" dirty="0">
                <a:solidFill>
                  <a:srgbClr val="1F2933"/>
                </a:solidFill>
                <a:latin typeface="Calibri" pitchFamily="34" charset="0"/>
                <a:ea typeface="Calibri" pitchFamily="34" charset="-122"/>
                <a:cs typeface="Calibri" pitchFamily="34" charset="-120"/>
              </a:rPr>
              <a:t>Mir ist das wichtig, weil die Person das Produkt wirklich benutzt hat.</a:t>
            </a:r>
            <a:endParaRPr lang="en-US" sz="1800" dirty="0"/>
          </a:p>
          <a:p>
            <a:pPr marL="342900" indent="-342900">
              <a:lnSpc>
                <a:spcPct val="200000"/>
              </a:lnSpc>
              <a:spcAft>
                <a:spcPts val="1000"/>
              </a:spcAft>
              <a:buSzPct val="100000"/>
              <a:buChar char="•"/>
            </a:pPr>
            <a:r>
              <a:rPr lang="en-US" sz="1800" b="1" dirty="0">
                <a:solidFill>
                  <a:srgbClr val="1F2933"/>
                </a:solidFill>
                <a:latin typeface="Calibri" pitchFamily="34" charset="0"/>
                <a:ea typeface="Calibri" pitchFamily="34" charset="-122"/>
                <a:cs typeface="Calibri" pitchFamily="34" charset="-120"/>
              </a:rPr>
              <a:t>Aktuelle Bewertungen: </a:t>
            </a:r>
            <a:r>
              <a:rPr lang="en-US" sz="1800" dirty="0">
                <a:solidFill>
                  <a:srgbClr val="1F2933"/>
                </a:solidFill>
                <a:latin typeface="Calibri" pitchFamily="34" charset="0"/>
                <a:ea typeface="Calibri" pitchFamily="34" charset="-122"/>
                <a:cs typeface="Calibri" pitchFamily="34" charset="-120"/>
              </a:rPr>
              <a:t>Mir ist das wichtig, weil sich ein Laden mit der Zeit verändern kann.</a:t>
            </a:r>
            <a:endParaRPr lang="en-US" sz="1800" dirty="0"/>
          </a:p>
        </p:txBody>
      </p:sp>
      <p:sp>
        <p:nvSpPr>
          <p:cNvPr id="4" name="Shape 2"/>
          <p:cNvSpPr/>
          <p:nvPr/>
        </p:nvSpPr>
        <p:spPr>
          <a:xfrm>
            <a:off x="548640" y="5440680"/>
            <a:ext cx="11091672" cy="868680"/>
          </a:xfrm>
          <a:prstGeom prst="roundRect">
            <a:avLst>
              <a:gd name="adj" fmla="val 8421"/>
            </a:avLst>
          </a:prstGeom>
          <a:solidFill>
            <a:srgbClr val="EAF2F6"/>
          </a:solidFill>
          <a:ln/>
        </p:spPr>
        <p:txBody>
          <a:bodyPr/>
          <a:lstStyle/>
          <a:p>
            <a:endParaRPr lang="de-CH"/>
          </a:p>
        </p:txBody>
      </p:sp>
      <p:sp>
        <p:nvSpPr>
          <p:cNvPr id="5" name="Text 3"/>
          <p:cNvSpPr txBox="1"/>
          <p:nvPr/>
        </p:nvSpPr>
        <p:spPr>
          <a:xfrm>
            <a:off x="868680" y="5440680"/>
            <a:ext cx="10451592" cy="868680"/>
          </a:xfrm>
          <a:prstGeom prst="rect">
            <a:avLst/>
          </a:prstGeom>
          <a:noFill/>
          <a:ln/>
        </p:spPr>
        <p:txBody>
          <a:bodyPr wrap="square" lIns="0" tIns="0" rIns="0" bIns="0" rtlCol="0" anchor="ctr"/>
          <a:lstStyle/>
          <a:p>
            <a:pPr marL="0" indent="0">
              <a:buNone/>
            </a:pPr>
            <a:r>
              <a:rPr lang="en-US" sz="1700" b="1" dirty="0">
                <a:solidFill>
                  <a:srgbClr val="065A82"/>
                </a:solidFill>
                <a:latin typeface="Calibri" pitchFamily="34" charset="0"/>
                <a:ea typeface="Calibri" pitchFamily="34" charset="-122"/>
                <a:cs typeface="Calibri" pitchFamily="34" charset="-120"/>
              </a:rPr>
              <a:t>Es gibt kein Richtig oder Falsch. Wichtig ist, was nach dem «weil» kommt.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822960" y="1143000"/>
            <a:ext cx="5486400" cy="457200"/>
          </a:xfrm>
          <a:prstGeom prst="rect">
            <a:avLst/>
          </a:prstGeom>
          <a:noFill/>
          <a:ln/>
        </p:spPr>
        <p:txBody>
          <a:bodyPr wrap="square" lIns="0" tIns="0" rIns="0" bIns="0" rtlCol="0" anchor="ctr"/>
          <a:lstStyle/>
          <a:p>
            <a:pPr marL="0" indent="0">
              <a:buNone/>
            </a:pPr>
            <a:r>
              <a:rPr lang="en-US" sz="1800" b="1" dirty="0">
                <a:solidFill>
                  <a:srgbClr val="E4572E"/>
                </a:solidFill>
                <a:latin typeface="Calibri" pitchFamily="34" charset="0"/>
                <a:ea typeface="Calibri" pitchFamily="34" charset="-122"/>
                <a:cs typeface="Calibri" pitchFamily="34" charset="-120"/>
              </a:rPr>
              <a:t>Merke</a:t>
            </a:r>
            <a:endParaRPr lang="en-US" sz="1800" dirty="0"/>
          </a:p>
        </p:txBody>
      </p:sp>
      <p:sp>
        <p:nvSpPr>
          <p:cNvPr id="3" name="Text 1"/>
          <p:cNvSpPr txBox="1"/>
          <p:nvPr/>
        </p:nvSpPr>
        <p:spPr>
          <a:xfrm>
            <a:off x="822960" y="1737360"/>
            <a:ext cx="10543032" cy="2377440"/>
          </a:xfrm>
          <a:prstGeom prst="rect">
            <a:avLst/>
          </a:prstGeom>
          <a:noFill/>
          <a:ln/>
        </p:spPr>
        <p:txBody>
          <a:bodyPr wrap="square" lIns="0" tIns="0" rIns="0" bIns="0" rtlCol="0" anchor="t"/>
          <a:lstStyle/>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Viele Bewertungen sind verlässlicher als wenige.</a:t>
            </a:r>
            <a:endParaRPr lang="en-US" sz="3400" dirty="0"/>
          </a:p>
        </p:txBody>
      </p:sp>
      <p:sp>
        <p:nvSpPr>
          <p:cNvPr id="4" name="Text 2"/>
          <p:cNvSpPr txBox="1"/>
          <p:nvPr/>
        </p:nvSpPr>
        <p:spPr>
          <a:xfrm>
            <a:off x="822960" y="4297680"/>
            <a:ext cx="10543032" cy="1463040"/>
          </a:xfrm>
          <a:prstGeom prst="rect">
            <a:avLst/>
          </a:prstGeom>
          <a:noFill/>
          <a:ln/>
        </p:spPr>
        <p:txBody>
          <a:bodyPr wrap="square" lIns="0" tIns="0" rIns="0" bIns="0" rtlCol="0" anchor="ctr"/>
          <a:lstStyle/>
          <a:p>
            <a:pPr marL="0" indent="0">
              <a:lnSpc>
                <a:spcPct val="110000"/>
              </a:lnSpc>
              <a:buNone/>
            </a:pPr>
            <a:r>
              <a:rPr lang="en-US" sz="2000" dirty="0">
                <a:solidFill>
                  <a:srgbClr val="BFD6E4"/>
                </a:solidFill>
                <a:latin typeface="Calibri" pitchFamily="34" charset="0"/>
                <a:ea typeface="Calibri" pitchFamily="34" charset="-122"/>
                <a:cs typeface="Calibri" pitchFamily="34" charset="-120"/>
              </a:rPr>
              <a:t>Bei 300 Bewertungen fallen ein paar falsche kaum auf. Bei 3 Bewertungen können alle falsch sein.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F76647348B379D4C8C69607D0161AF8A" ma:contentTypeVersion="3" ma:contentTypeDescription="Ein neues Dokument erstellen." ma:contentTypeScope="" ma:versionID="6a697bffcbd78b9fda0eba220daf1e9d">
  <xsd:schema xmlns:xsd="http://www.w3.org/2001/XMLSchema" xmlns:xs="http://www.w3.org/2001/XMLSchema" xmlns:p="http://schemas.microsoft.com/office/2006/metadata/properties" xmlns:ns2="bf2f3489-6e2b-4b6a-b220-b450f76d35fe" targetNamespace="http://schemas.microsoft.com/office/2006/metadata/properties" ma:root="true" ma:fieldsID="cc1d1b7c1632f7bb78749768a1a3d501" ns2:_="">
    <xsd:import namespace="bf2f3489-6e2b-4b6a-b220-b450f76d35f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2f3489-6e2b-4b6a-b220-b450f76d35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149569-BAEC-4927-A106-75CF502CB537}">
  <ds:schemaRefs>
    <ds:schemaRef ds:uri="http://schemas.microsoft.com/sharepoint/v3/contenttype/forms"/>
  </ds:schemaRefs>
</ds:datastoreItem>
</file>

<file path=customXml/itemProps2.xml><?xml version="1.0" encoding="utf-8"?>
<ds:datastoreItem xmlns:ds="http://schemas.openxmlformats.org/officeDocument/2006/customXml" ds:itemID="{96B42D2D-5D2D-4C6A-9FAA-342B440D0EAE}">
  <ds:schemaRefs>
    <ds:schemaRef ds:uri="http://schemas.microsoft.com/office/2006/metadata/properties"/>
    <ds:schemaRef ds:uri="http://schemas.openxmlformats.org/package/2006/metadata/core-properties"/>
    <ds:schemaRef ds:uri="http://schemas.microsoft.com/office/2006/documentManagement/types"/>
    <ds:schemaRef ds:uri="bf2f3489-6e2b-4b6a-b220-b450f76d35fe"/>
    <ds:schemaRef ds:uri="http://www.w3.org/XML/1998/namespace"/>
    <ds:schemaRef ds:uri="http://schemas.microsoft.com/office/infopath/2007/PartnerControls"/>
    <ds:schemaRef ds:uri="http://purl.org/dc/dcmitype/"/>
    <ds:schemaRef ds:uri="http://purl.org/dc/elements/1.1/"/>
    <ds:schemaRef ds:uri="http://purl.org/dc/terms/"/>
  </ds:schemaRefs>
</ds:datastoreItem>
</file>

<file path=customXml/itemProps3.xml><?xml version="1.0" encoding="utf-8"?>
<ds:datastoreItem xmlns:ds="http://schemas.openxmlformats.org/officeDocument/2006/customXml" ds:itemID="{64A4ABBE-6892-46F3-AC82-2531057CF3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2f3489-6e2b-4b6a-b220-b450f76d35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2703</Words>
  <Application>Microsoft Macintosh PowerPoint</Application>
  <PresentationFormat>Breitbild</PresentationFormat>
  <Paragraphs>182</Paragraphs>
  <Slides>13</Slides>
  <Notes>13</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Medien und Informatik, 1. Sek</dc:creator>
  <cp:lastModifiedBy>Schmid Jan PH Luzern Student/in</cp:lastModifiedBy>
  <cp:revision>5</cp:revision>
  <dcterms:created xsi:type="dcterms:W3CDTF">2026-09-14T12:19:38Z</dcterms:created>
  <dcterms:modified xsi:type="dcterms:W3CDTF">2026-10-19T18:12:05Z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0x010100F76647348B379D4C8C69607D0161AF8A</vt:lpwstr>
  </property>
</Properties>
</file>