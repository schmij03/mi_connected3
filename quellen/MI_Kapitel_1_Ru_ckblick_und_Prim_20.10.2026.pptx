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Ankommen, ca. 2 Minuten. Begrüssen, kurz sagen, was heute läuft: ein Blick zurück auf die Reise nach den Herbstferien, danach wird Prim abgeschlossen. Hinweis für dich: Bis zur Prüfung am 10.11. bleiben nur noch drei Dienstage (20.10., 27.10., 03.11.). Darum ist der Stoff von 1F bis 1I auf zwei Lektionen verdichtet.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Zeitangaben sind Richtwerte und ergeben 45 Minuten. Nur kurz zeigen (ca. 1 Minute). Die Auftragsphase ist mit 17 Minuten der grösste Block, damit alle Prim selbst anwenden können.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Minuten. Station für Station mündlich durchgehen: Was war jeweils das Wichtigste? Pro Station nennt jemand ein Stichwort (zum Beispiel 1A: Router, Provider, Server; 1B: IP-Adresse verrät den ungefähren Standort; 1C: Kriterien für Bewertungen; 1D: letzte Meile und Datenstau). Zum Schluss auf die gestrichelten Stationen zeigen: Diese kommen in den nächsten zwei Lektionen. Danach folgt die Prüfung am 10.11.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Vorgehen: Fragen zeigen, 3 Minuten Partnergespräch, dann Plenum (ca. 4 Minuten). Ohne Hilfsmittel, damit sichtbar wird, was sitzt. Die Lösungen stehen auf der nächsten Folie. Die Fragen decken Prüfungsaufgabe 1 (Begriffe), 4 (Standort), 6 (Bewertungen) und 5 (Prim) 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Mehrere Antworten sind möglich, jede sinnvolle Antwort gilt. Zu Frage 2: In der Prüfung (Aufgabe 4) sollen auch zwei weitere Ortungsarten genannt werden. Mögliche Ergänzung im Plenum: Satelliten (GPS), Mobilfunk, WLAN-Basisstationen. Zu Frage 4: Das Nadelöhr ist die letzte Meile (Router zu den Haushalten), nicht die Länge der Glasfaserkabel. Bei Unsicherheit die Frage kurz nochmals an der Karte (Folie «Unsere Reise») verorten.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vier Schritte sind hier in eigenen Worten formuliert. Vergleiche sie kurz mit der Beschreibung im Arbeitsbuch (Aufgabe 118) und passe die Wörter an, falls dort andere Begriffe stehen (zum Beispiel «Knoten» statt «Dorf»). Fachwörter wie Graph oder Kante werden im Arbeitsbuch bewusst vermieden. Wichtig: Der Algorithmus findet immer das günstigste Netz, egal bei welchem Dorf man startet (das zeigen die Aufgaben 119 und 120). Frage ins Plenum: Warum ist n minus 1 eine gute Kontrolle? Antwort: Mit weniger Verbindungen sind nicht alle Dörfer verbunden, mit mehr entsteht ein überflüssiger Umweg.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Eigenes Beispielnetz, damit es nicht mit den Netzen im Arbeitsbuch übereinstimmt. Das günstigste Netz hat die Kosten 13 und ist eindeutig. Gib den Klassen 30 Sekunden, um selbst zu raten (Ausprobieren), und sammle zwei, drei Vorschläge. Das zeigt, warum ein systematisches Verfahren hilft. Danach geht es mit den nächsten Folien Schritt für Schritt weiter.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Zustand nach Schritt 1: Von M aus ist M-O (2) die günstigste Verbindung und wurde gewählt (dicke Linie). Jetzt Schritt 2: Welche Verbindungen führen vom Netz {M, O} zu einem neuen Dorf? Das sind die orangen Linien. Lass die Klasse zuerst selbst wählen. Zwei Verbindungen sind gleich günstig (M-N und O-Q, je 4). Wichtig: Bei Gleichstand ist beides richtig, am Ende kommt dasselbe Netz heraus. Das gleiche Phänomen gibt es in der Prüfung. Typischer Fehler: N-P (3) wählen, weil es die kleinste Zahl im Bild ist. Sie ist keine Verbindung vom Netz aus.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Zustand nach M-N: Das Netz umfasst M, N und O. Die Klasse wählt selbst den nächsten Schritt (N-P mit 3). Danach bleibt nur Q: O-Q (4) schlägt P-Q (7). Die gestrichelte Verbindung N-O verbindet zwei Dörfer, die bereits im Netz sind. Wer sie einzeichnet, bekommt eine zweite Route zwischen denselben Dörfern, also unnötige Kosten. Das ist ein häufiger Fehler und bei der Prüfungsaufgabe zu Prim gut zu erkennen (zu viele Verbindungen).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Ergebnis: vier Verbindungen, Kosten 13. Nachgerechnet: Das ist das einzige günstigste Netz für dieses Beispiel, und es kommt bei jedem Startdorf (M, N, O, P oder Q) heraus. Nur die Reihenfolge der gewählten Verbindungen ändert sich, wodurch auch die Summanden in einer anderen Reihenfolge stehen. Kontrollfragen: Stimmt die Anzahl der Verbindungen (n minus 1)? Sind alle Dörfer verbunden? Sind die Kosten korrekt addiert? Genau diese drei Punkte werden in der Prüfung bewertet.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Minuten Arbeitszeit, du gehst herum. Wenn die Klasse in Aufgabe 117 schon selbst probiert hat, genügt der Einstieg bei Aufgabe 118. Der Arbeitsauftrag nimmt die Aufgaben 118 bis 120 aus dem Arbeitsbuch (Netz mit sechs Knoten, die günstigste Lösung kostet 15; Aufgabe 119 und 120 zeigen, dass der Startpunkt keine Rolle spielt). Die Zusatzaufgaben «Prim für Profis» und «Algorithmus notieren» sind wegen der knappen Zeit gestrichen. Wer fertig ist, erklärt dem Nachbarn die vier Schritte von Prim mündlich, den Rest der Aufgaben gibst du als Hausaufgabe. Prüfe vor der Lektion, ob die Aufgabennummern in der aktuellen Ausgabe des Arbeitsbuchs stimmen.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Lass zwei, drei Lernende den Satz mit eigenen Worten wiederholen. Typische Verbesserung: «günstigste Verbindung» heisst immer vom Netz aus, nicht einfach die kleinste Zahl im ganzen Bild. Die Angabe zur Prüfung (Aufgabe 5, 6 Punkte) stammt aus dem kombinierten Leistungsnachweis vom 14.09.2026. Das Netz der Prüfung wird nicht verraten.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Zuordnung der Prüfungsaufgaben nach dem kombinierten Leistungsnachweis: Aufgabe 2 und 3 (Infrastruktur oder Dienst, Spedition) gehören zu 1F, Aufgabe 7 (Fotos) zu 1G und 1H. Zur Prüfung: Dienstag, 10.11.2026, 40 Minuten, keine Hilfsmittel. Lernzielblatt erinnert die Klasse an die Themen. Kurz auf die Lektion am 27.10. einstimmen: Dann geht es um Dienste des Internets und um Ferienfotos.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769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4304D"/>
                </a:solidFill>
                <a:latin typeface="Domine" pitchFamily="34" charset="0"/>
                <a:ea typeface="Domine" pitchFamily="34" charset="-122"/>
                <a:cs typeface="Domine"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49041"/>
            <a:ext cx="10566400" cy="4196159"/>
          </a:xfrm>
          <a:prstGeom prst="rect">
            <a:avLst/>
          </a:prstGeom>
          <a:noFill/>
          <a:ln/>
        </p:spPr>
        <p:txBody>
          <a:bodyPr wrap="square" lIns="0" tIns="0" rIns="0" bIns="0" rtlCol="0" anchor="t"/>
          <a:lstStyle>
            <a:lvl1pPr algn="l" indent="0" marL="0">
              <a:lnSpc>
                <a:spcPct val="140000"/>
              </a:lnSpc>
              <a:buNone/>
              <a:defRPr lang="en-US" sz="1600" dirty="0">
                <a:solidFill>
                  <a:srgbClr val="14304D"/>
                </a:solidFill>
                <a:latin typeface="Nunito Sans" pitchFamily="34" charset="0"/>
                <a:ea typeface="Nunito Sans" pitchFamily="34" charset="-122"/>
                <a:cs typeface="Nunito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769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4304D"/>
                </a:solidFill>
                <a:latin typeface="Domine" pitchFamily="34" charset="0"/>
                <a:ea typeface="Domine" pitchFamily="34" charset="-122"/>
                <a:cs typeface="Domine"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49041"/>
            <a:ext cx="10566400" cy="4196159"/>
          </a:xfrm>
          <a:prstGeom prst="rect">
            <a:avLst/>
          </a:prstGeom>
          <a:noFill/>
          <a:ln/>
        </p:spPr>
        <p:txBody>
          <a:bodyPr wrap="square" lIns="0" tIns="0" rIns="0" bIns="0" rtlCol="0" anchor="t"/>
          <a:lstStyle>
            <a:lvl1pPr algn="l" indent="0" marL="0">
              <a:lnSpc>
                <a:spcPct val="140000"/>
              </a:lnSpc>
              <a:buNone/>
              <a:defRPr lang="en-US" sz="1600" dirty="0">
                <a:solidFill>
                  <a:srgbClr val="14304D"/>
                </a:solidFill>
                <a:latin typeface="Nunito Sans" pitchFamily="34" charset="0"/>
                <a:ea typeface="Nunito Sans" pitchFamily="34" charset="-122"/>
                <a:cs typeface="Nunito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2.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2.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2.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2.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04D"/>
        </a:solidFill>
      </p:bgPr>
    </p:bg>
    <p:spTree>
      <p:nvGrpSpPr>
        <p:cNvPr id="1" name=""/>
        <p:cNvGrpSpPr/>
        <p:nvPr/>
      </p:nvGrpSpPr>
      <p:grpSpPr>
        <a:xfrm>
          <a:off x="0" y="0"/>
          <a:ext cx="0" cy="0"/>
          <a:chOff x="0" y="0"/>
          <a:chExt cx="0" cy="0"/>
        </a:xfrm>
      </p:grpSpPr>
      <p:pic>
        <p:nvPicPr>
          <p:cNvPr id="2" name="Image 0" descr="Globe">    </p:cNvPr>
          <p:cNvPicPr>
            <a:picLocks noChangeAspect="1"/>
          </p:cNvPicPr>
          <p:nvPr/>
        </p:nvPicPr>
        <p:blipFill>
          <a:blip r:embed="rId1"/>
          <a:srcRect l="0" r="0" t="0" b="0"/>
          <a:stretch/>
        </p:blipFill>
        <p:spPr>
          <a:xfrm>
            <a:off x="10109200" y="812800"/>
            <a:ext cx="1270000" cy="1270000"/>
          </a:xfrm>
          <a:prstGeom prst="rect">
            <a:avLst/>
          </a:prstGeom>
        </p:spPr>
      </p:pic>
      <p:sp>
        <p:nvSpPr>
          <p:cNvPr id="3" name="Text 0"/>
          <p:cNvSpPr/>
          <p:nvPr/>
        </p:nvSpPr>
        <p:spPr>
          <a:xfrm>
            <a:off x="812800" y="215145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FD0C8"/>
                </a:solidFill>
                <a:latin typeface="Nunito Sans" pitchFamily="34" charset="0"/>
                <a:ea typeface="Nunito Sans" pitchFamily="34" charset="-122"/>
                <a:cs typeface="Nunito Sans" pitchFamily="34" charset="-120"/>
              </a:rPr>
              <a:t>MEDIEN UND INFORMATIK · 1. SEK · DI 20.10.2026</a:t>
            </a:r>
            <a:endParaRPr lang="en-US" sz="1200" dirty="0"/>
          </a:p>
        </p:txBody>
      </p:sp>
      <p:sp>
        <p:nvSpPr>
          <p:cNvPr id="4" name="Text 1"/>
          <p:cNvSpPr/>
          <p:nvPr>
            <p:ph type="title"/>
          </p:nvPr>
        </p:nvSpPr>
        <p:spPr>
          <a:xfrm>
            <a:off x="812800" y="2567980"/>
            <a:ext cx="10883392" cy="1366441"/>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6F4EE"/>
                </a:solidFill>
                <a:latin typeface="Domine" pitchFamily="18" charset="0"/>
                <a:ea typeface="Domine" pitchFamily="18" charset="-122"/>
                <a:cs typeface="Domine" pitchFamily="18" charset="-120"/>
              </a:rPr>
              <a:t>Eine Entdeckungsreise durch das Internet</a:t>
            </a:r>
            <a:endParaRPr lang="en-US" sz="4800" dirty="0"/>
          </a:p>
        </p:txBody>
      </p:sp>
      <p:sp>
        <p:nvSpPr>
          <p:cNvPr id="5" name="Text 2"/>
          <p:cNvSpPr/>
          <p:nvPr/>
        </p:nvSpPr>
        <p:spPr>
          <a:xfrm>
            <a:off x="812800" y="4112220"/>
            <a:ext cx="1088339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C3D5E0"/>
                </a:solidFill>
                <a:latin typeface="Nunito Sans" pitchFamily="34" charset="0"/>
                <a:ea typeface="Nunito Sans" pitchFamily="34" charset="-122"/>
                <a:cs typeface="Nunito Sans" pitchFamily="34" charset="-120"/>
              </a:rPr>
              <a:t>Zwischenrückblick und Algorithmus von Prim</a:t>
            </a:r>
            <a:endParaRPr lang="en-US" sz="2200" dirty="0"/>
          </a:p>
        </p:txBody>
      </p:sp>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D5E0"/>
                </a:solidFill>
                <a:latin typeface="Nunito Sans" pitchFamily="34" charset="0"/>
                <a:ea typeface="Nunito Sans" pitchFamily="34" charset="-122"/>
                <a:cs typeface="Nunito Sans" pitchFamily="34" charset="-120"/>
              </a:rPr>
              <a:t>Prüfung 1 am Dienstag, 10.11.2026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Nunito Sans" pitchFamily="34" charset="0"/>
                <a:ea typeface="Nunito Sans" pitchFamily="34" charset="-122"/>
                <a:cs typeface="Nunito Sans" pitchFamily="34" charset="-120"/>
              </a:rPr>
              <a:t>HEUTE</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304D"/>
                </a:solidFill>
                <a:latin typeface="Domine" pitchFamily="18" charset="0"/>
                <a:ea typeface="Domine" pitchFamily="18" charset="-122"/>
                <a:cs typeface="Domine" pitchFamily="18" charset="-120"/>
              </a:rPr>
              <a:t>Ablauf der Lektion</a:t>
            </a:r>
            <a:endParaRPr lang="en-US" sz="3200" dirty="0"/>
          </a:p>
        </p:txBody>
      </p:sp>
      <p:sp>
        <p:nvSpPr>
          <p:cNvPr id="4" name="Shape 2"/>
          <p:cNvSpPr/>
          <p:nvPr/>
        </p:nvSpPr>
        <p:spPr>
          <a:xfrm>
            <a:off x="815975" y="1750616"/>
            <a:ext cx="10560050" cy="544810"/>
          </a:xfrm>
          <a:prstGeom prst="roundRect">
            <a:avLst>
              <a:gd name="adj" fmla="val 18066"/>
            </a:avLst>
          </a:prstGeom>
          <a:solidFill>
            <a:srgbClr val="FCFBF7"/>
          </a:solidFill>
          <a:ln w="6350">
            <a:solidFill>
              <a:srgbClr val="D9DEDF"/>
            </a:solidFill>
            <a:prstDash val="solid"/>
          </a:ln>
        </p:spPr>
      </p:sp>
      <p:sp>
        <p:nvSpPr>
          <p:cNvPr id="5" name="Text 3"/>
          <p:cNvSpPr/>
          <p:nvPr/>
        </p:nvSpPr>
        <p:spPr>
          <a:xfrm>
            <a:off x="1022350" y="1880791"/>
            <a:ext cx="8763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E6E"/>
                </a:solidFill>
                <a:latin typeface="Nunito Sans" pitchFamily="34" charset="0"/>
                <a:ea typeface="Nunito Sans" pitchFamily="34" charset="-122"/>
                <a:cs typeface="Nunito Sans" pitchFamily="34" charset="-120"/>
              </a:rPr>
              <a:t>5 Min</a:t>
            </a:r>
            <a:endParaRPr lang="en-US" sz="1600" dirty="0"/>
          </a:p>
        </p:txBody>
      </p:sp>
      <p:sp>
        <p:nvSpPr>
          <p:cNvPr id="6" name="Text 4"/>
          <p:cNvSpPr/>
          <p:nvPr/>
        </p:nvSpPr>
        <p:spPr>
          <a:xfrm>
            <a:off x="2051050" y="1880791"/>
            <a:ext cx="31394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Rückblick</a:t>
            </a:r>
            <a:endParaRPr lang="en-US" sz="1600" dirty="0"/>
          </a:p>
        </p:txBody>
      </p:sp>
      <p:sp>
        <p:nvSpPr>
          <p:cNvPr id="7" name="Text 5"/>
          <p:cNvSpPr/>
          <p:nvPr/>
        </p:nvSpPr>
        <p:spPr>
          <a:xfrm>
            <a:off x="5302250" y="1880791"/>
            <a:ext cx="575564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B6B"/>
                </a:solidFill>
                <a:latin typeface="Nunito Sans" pitchFamily="34" charset="0"/>
                <a:ea typeface="Nunito Sans" pitchFamily="34" charset="-122"/>
                <a:cs typeface="Nunito Sans" pitchFamily="34" charset="-120"/>
              </a:rPr>
              <a:t>Unsere Reise durch Kapitel 1 bis jetzt</a:t>
            </a:r>
            <a:endParaRPr lang="en-US" sz="1600" dirty="0"/>
          </a:p>
        </p:txBody>
      </p:sp>
      <p:sp>
        <p:nvSpPr>
          <p:cNvPr id="8" name="Shape 6"/>
          <p:cNvSpPr/>
          <p:nvPr/>
        </p:nvSpPr>
        <p:spPr>
          <a:xfrm>
            <a:off x="815975" y="2403376"/>
            <a:ext cx="10560050" cy="544810"/>
          </a:xfrm>
          <a:prstGeom prst="roundRect">
            <a:avLst>
              <a:gd name="adj" fmla="val 18066"/>
            </a:avLst>
          </a:prstGeom>
          <a:solidFill>
            <a:srgbClr val="FCFBF7"/>
          </a:solidFill>
          <a:ln w="6350">
            <a:solidFill>
              <a:srgbClr val="D9DEDF"/>
            </a:solidFill>
            <a:prstDash val="solid"/>
          </a:ln>
        </p:spPr>
      </p:sp>
      <p:sp>
        <p:nvSpPr>
          <p:cNvPr id="9" name="Text 7"/>
          <p:cNvSpPr/>
          <p:nvPr/>
        </p:nvSpPr>
        <p:spPr>
          <a:xfrm>
            <a:off x="1022350" y="2533551"/>
            <a:ext cx="8763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E6E"/>
                </a:solidFill>
                <a:latin typeface="Nunito Sans" pitchFamily="34" charset="0"/>
                <a:ea typeface="Nunito Sans" pitchFamily="34" charset="-122"/>
                <a:cs typeface="Nunito Sans" pitchFamily="34" charset="-120"/>
              </a:rPr>
              <a:t>8 Min</a:t>
            </a:r>
            <a:endParaRPr lang="en-US" sz="1600" dirty="0"/>
          </a:p>
        </p:txBody>
      </p:sp>
      <p:sp>
        <p:nvSpPr>
          <p:cNvPr id="10" name="Text 8"/>
          <p:cNvSpPr/>
          <p:nvPr/>
        </p:nvSpPr>
        <p:spPr>
          <a:xfrm>
            <a:off x="2051050" y="2533551"/>
            <a:ext cx="31394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Weisst du’s noch?</a:t>
            </a:r>
            <a:endParaRPr lang="en-US" sz="1600" dirty="0"/>
          </a:p>
        </p:txBody>
      </p:sp>
      <p:sp>
        <p:nvSpPr>
          <p:cNvPr id="11" name="Text 9"/>
          <p:cNvSpPr/>
          <p:nvPr/>
        </p:nvSpPr>
        <p:spPr>
          <a:xfrm>
            <a:off x="5302250" y="2533551"/>
            <a:ext cx="575564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B6B"/>
                </a:solidFill>
                <a:latin typeface="Nunito Sans" pitchFamily="34" charset="0"/>
                <a:ea typeface="Nunito Sans" pitchFamily="34" charset="-122"/>
                <a:cs typeface="Nunito Sans" pitchFamily="34" charset="-120"/>
              </a:rPr>
              <a:t>Fünf Fragen zu den Stationen 1A bis 1E</a:t>
            </a:r>
            <a:endParaRPr lang="en-US" sz="1600" dirty="0"/>
          </a:p>
        </p:txBody>
      </p:sp>
      <p:sp>
        <p:nvSpPr>
          <p:cNvPr id="12" name="Shape 10"/>
          <p:cNvSpPr/>
          <p:nvPr/>
        </p:nvSpPr>
        <p:spPr>
          <a:xfrm>
            <a:off x="815975" y="3056136"/>
            <a:ext cx="10560050" cy="544810"/>
          </a:xfrm>
          <a:prstGeom prst="roundRect">
            <a:avLst>
              <a:gd name="adj" fmla="val 18066"/>
            </a:avLst>
          </a:prstGeom>
          <a:solidFill>
            <a:srgbClr val="FCFBF7"/>
          </a:solidFill>
          <a:ln w="6350">
            <a:solidFill>
              <a:srgbClr val="D9DEDF"/>
            </a:solidFill>
            <a:prstDash val="solid"/>
          </a:ln>
        </p:spPr>
      </p:sp>
      <p:sp>
        <p:nvSpPr>
          <p:cNvPr id="13" name="Text 11"/>
          <p:cNvSpPr/>
          <p:nvPr/>
        </p:nvSpPr>
        <p:spPr>
          <a:xfrm>
            <a:off x="1022350" y="3186311"/>
            <a:ext cx="8763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E6E"/>
                </a:solidFill>
                <a:latin typeface="Nunito Sans" pitchFamily="34" charset="0"/>
                <a:ea typeface="Nunito Sans" pitchFamily="34" charset="-122"/>
                <a:cs typeface="Nunito Sans" pitchFamily="34" charset="-120"/>
              </a:rPr>
              <a:t>10 Min</a:t>
            </a:r>
            <a:endParaRPr lang="en-US" sz="1600" dirty="0"/>
          </a:p>
        </p:txBody>
      </p:sp>
      <p:sp>
        <p:nvSpPr>
          <p:cNvPr id="14" name="Text 12"/>
          <p:cNvSpPr/>
          <p:nvPr/>
        </p:nvSpPr>
        <p:spPr>
          <a:xfrm>
            <a:off x="2051050" y="3186311"/>
            <a:ext cx="31394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Prim wiederholen</a:t>
            </a:r>
            <a:endParaRPr lang="en-US" sz="1600" dirty="0"/>
          </a:p>
        </p:txBody>
      </p:sp>
      <p:sp>
        <p:nvSpPr>
          <p:cNvPr id="15" name="Text 13"/>
          <p:cNvSpPr/>
          <p:nvPr/>
        </p:nvSpPr>
        <p:spPr>
          <a:xfrm>
            <a:off x="5302250" y="3186311"/>
            <a:ext cx="575564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B6B"/>
                </a:solidFill>
                <a:latin typeface="Nunito Sans" pitchFamily="34" charset="0"/>
                <a:ea typeface="Nunito Sans" pitchFamily="34" charset="-122"/>
                <a:cs typeface="Nunito Sans" pitchFamily="34" charset="-120"/>
              </a:rPr>
              <a:t>Die vier Schritte an einem neuen Beispiel</a:t>
            </a:r>
            <a:endParaRPr lang="en-US" sz="1600" dirty="0"/>
          </a:p>
        </p:txBody>
      </p:sp>
      <p:sp>
        <p:nvSpPr>
          <p:cNvPr id="16" name="Shape 14"/>
          <p:cNvSpPr/>
          <p:nvPr/>
        </p:nvSpPr>
        <p:spPr>
          <a:xfrm>
            <a:off x="815975" y="3708896"/>
            <a:ext cx="10560050" cy="544810"/>
          </a:xfrm>
          <a:prstGeom prst="roundRect">
            <a:avLst>
              <a:gd name="adj" fmla="val 18066"/>
            </a:avLst>
          </a:prstGeom>
          <a:solidFill>
            <a:srgbClr val="FCFBF7"/>
          </a:solidFill>
          <a:ln w="6350">
            <a:solidFill>
              <a:srgbClr val="D9DEDF"/>
            </a:solidFill>
            <a:prstDash val="solid"/>
          </a:ln>
        </p:spPr>
      </p:sp>
      <p:sp>
        <p:nvSpPr>
          <p:cNvPr id="17" name="Text 15"/>
          <p:cNvSpPr/>
          <p:nvPr/>
        </p:nvSpPr>
        <p:spPr>
          <a:xfrm>
            <a:off x="1022350" y="3839071"/>
            <a:ext cx="8763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E6E"/>
                </a:solidFill>
                <a:latin typeface="Nunito Sans" pitchFamily="34" charset="0"/>
                <a:ea typeface="Nunito Sans" pitchFamily="34" charset="-122"/>
                <a:cs typeface="Nunito Sans" pitchFamily="34" charset="-120"/>
              </a:rPr>
              <a:t>17 Min</a:t>
            </a:r>
            <a:endParaRPr lang="en-US" sz="1600" dirty="0"/>
          </a:p>
        </p:txBody>
      </p:sp>
      <p:sp>
        <p:nvSpPr>
          <p:cNvPr id="18" name="Text 16"/>
          <p:cNvSpPr/>
          <p:nvPr/>
        </p:nvSpPr>
        <p:spPr>
          <a:xfrm>
            <a:off x="2051050" y="3839071"/>
            <a:ext cx="31394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Auftrag</a:t>
            </a:r>
            <a:endParaRPr lang="en-US" sz="1600" dirty="0"/>
          </a:p>
        </p:txBody>
      </p:sp>
      <p:sp>
        <p:nvSpPr>
          <p:cNvPr id="19" name="Text 17"/>
          <p:cNvSpPr/>
          <p:nvPr/>
        </p:nvSpPr>
        <p:spPr>
          <a:xfrm>
            <a:off x="5302250" y="3839071"/>
            <a:ext cx="575564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B6B"/>
                </a:solidFill>
                <a:latin typeface="Nunito Sans" pitchFamily="34" charset="0"/>
                <a:ea typeface="Nunito Sans" pitchFamily="34" charset="-122"/>
                <a:cs typeface="Nunito Sans" pitchFamily="34" charset="-120"/>
              </a:rPr>
              <a:t>Arbeitsbuch Aufgaben 118 bis 120, zu zweit</a:t>
            </a:r>
            <a:endParaRPr lang="en-US" sz="1600" dirty="0"/>
          </a:p>
        </p:txBody>
      </p:sp>
      <p:sp>
        <p:nvSpPr>
          <p:cNvPr id="20" name="Shape 18"/>
          <p:cNvSpPr/>
          <p:nvPr/>
        </p:nvSpPr>
        <p:spPr>
          <a:xfrm>
            <a:off x="815975" y="4361656"/>
            <a:ext cx="10560050" cy="544810"/>
          </a:xfrm>
          <a:prstGeom prst="roundRect">
            <a:avLst>
              <a:gd name="adj" fmla="val 18066"/>
            </a:avLst>
          </a:prstGeom>
          <a:solidFill>
            <a:srgbClr val="FCFBF7"/>
          </a:solidFill>
          <a:ln w="6350">
            <a:solidFill>
              <a:srgbClr val="D9DEDF"/>
            </a:solidFill>
            <a:prstDash val="solid"/>
          </a:ln>
        </p:spPr>
      </p:sp>
      <p:sp>
        <p:nvSpPr>
          <p:cNvPr id="21" name="Text 19"/>
          <p:cNvSpPr/>
          <p:nvPr/>
        </p:nvSpPr>
        <p:spPr>
          <a:xfrm>
            <a:off x="1022350" y="4491831"/>
            <a:ext cx="8763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E6E"/>
                </a:solidFill>
                <a:latin typeface="Nunito Sans" pitchFamily="34" charset="0"/>
                <a:ea typeface="Nunito Sans" pitchFamily="34" charset="-122"/>
                <a:cs typeface="Nunito Sans" pitchFamily="34" charset="-120"/>
              </a:rPr>
              <a:t>5 Min</a:t>
            </a:r>
            <a:endParaRPr lang="en-US" sz="1600" dirty="0"/>
          </a:p>
        </p:txBody>
      </p:sp>
      <p:sp>
        <p:nvSpPr>
          <p:cNvPr id="22" name="Text 20"/>
          <p:cNvSpPr/>
          <p:nvPr/>
        </p:nvSpPr>
        <p:spPr>
          <a:xfrm>
            <a:off x="2051050" y="4491831"/>
            <a:ext cx="31394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Sicherung</a:t>
            </a:r>
            <a:endParaRPr lang="en-US" sz="1600" dirty="0"/>
          </a:p>
        </p:txBody>
      </p:sp>
      <p:sp>
        <p:nvSpPr>
          <p:cNvPr id="23" name="Text 21"/>
          <p:cNvSpPr/>
          <p:nvPr/>
        </p:nvSpPr>
        <p:spPr>
          <a:xfrm>
            <a:off x="5302250" y="4491831"/>
            <a:ext cx="575564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B6B"/>
                </a:solidFill>
                <a:latin typeface="Nunito Sans" pitchFamily="34" charset="0"/>
                <a:ea typeface="Nunito Sans" pitchFamily="34" charset="-122"/>
                <a:cs typeface="Nunito Sans" pitchFamily="34" charset="-120"/>
              </a:rPr>
              <a:t>Was merken wir uns? Ausblick auf die Prüfung</a:t>
            </a:r>
            <a:endParaRPr lang="en-US" sz="1600" dirty="0"/>
          </a:p>
        </p:txBody>
      </p:sp>
      <p:sp>
        <p:nvSpPr>
          <p:cNvPr id="24" name="Text 2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25" name="Text 23"/>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E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Nunito Sans" pitchFamily="34" charset="0"/>
                <a:ea typeface="Nunito Sans" pitchFamily="34" charset="-122"/>
                <a:cs typeface="Nunito Sans" pitchFamily="34" charset="-120"/>
              </a:rPr>
              <a:t>RÜCKBLICK</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304D"/>
                </a:solidFill>
                <a:latin typeface="Domine" pitchFamily="18" charset="0"/>
                <a:ea typeface="Domine" pitchFamily="18" charset="-122"/>
                <a:cs typeface="Domine" pitchFamily="18" charset="-120"/>
              </a:rPr>
              <a:t>Unsere Reise durch Kapitel 1</a:t>
            </a:r>
            <a:endParaRPr lang="en-US" sz="3200" dirty="0"/>
          </a:p>
        </p:txBody>
      </p:sp>
      <p:sp>
        <p:nvSpPr>
          <p:cNvPr id="4" name="Shape 2"/>
          <p:cNvSpPr/>
          <p:nvPr/>
        </p:nvSpPr>
        <p:spPr>
          <a:xfrm>
            <a:off x="815975" y="1750616"/>
            <a:ext cx="3414117" cy="829270"/>
          </a:xfrm>
          <a:prstGeom prst="roundRect">
            <a:avLst>
              <a:gd name="adj" fmla="val 11869"/>
            </a:avLst>
          </a:prstGeom>
          <a:solidFill>
            <a:srgbClr val="D6EAE7"/>
          </a:solidFill>
          <a:ln w="6350">
            <a:solidFill>
              <a:srgbClr val="9CC9C3"/>
            </a:solidFill>
            <a:prstDash val="solid"/>
          </a:ln>
        </p:spPr>
      </p:sp>
      <p:sp>
        <p:nvSpPr>
          <p:cNvPr id="5" name="Text 3"/>
          <p:cNvSpPr/>
          <p:nvPr/>
        </p:nvSpPr>
        <p:spPr>
          <a:xfrm>
            <a:off x="996950" y="1906191"/>
            <a:ext cx="314373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1A · erledigt</a:t>
            </a:r>
            <a:endParaRPr lang="en-US" sz="1200" dirty="0"/>
          </a:p>
        </p:txBody>
      </p:sp>
      <p:sp>
        <p:nvSpPr>
          <p:cNvPr id="6" name="Text 4"/>
          <p:cNvSpPr/>
          <p:nvPr/>
        </p:nvSpPr>
        <p:spPr>
          <a:xfrm>
            <a:off x="996950" y="2170311"/>
            <a:ext cx="314373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304D"/>
                </a:solidFill>
                <a:latin typeface="Nunito Sans" pitchFamily="34" charset="0"/>
                <a:ea typeface="Nunito Sans" pitchFamily="34" charset="-122"/>
                <a:cs typeface="Nunito Sans" pitchFamily="34" charset="-120"/>
              </a:rPr>
              <a:t>Ferien ohne Internet</a:t>
            </a:r>
            <a:endParaRPr lang="en-US" sz="1600" dirty="0"/>
          </a:p>
        </p:txBody>
      </p:sp>
      <p:sp>
        <p:nvSpPr>
          <p:cNvPr id="7" name="Shape 5"/>
          <p:cNvSpPr/>
          <p:nvPr/>
        </p:nvSpPr>
        <p:spPr>
          <a:xfrm>
            <a:off x="4388842" y="1750616"/>
            <a:ext cx="3414216" cy="829270"/>
          </a:xfrm>
          <a:prstGeom prst="roundRect">
            <a:avLst>
              <a:gd name="adj" fmla="val 11869"/>
            </a:avLst>
          </a:prstGeom>
          <a:solidFill>
            <a:srgbClr val="D6EAE7"/>
          </a:solidFill>
          <a:ln w="6350">
            <a:solidFill>
              <a:srgbClr val="9CC9C3"/>
            </a:solidFill>
            <a:prstDash val="solid"/>
          </a:ln>
        </p:spPr>
      </p:sp>
      <p:sp>
        <p:nvSpPr>
          <p:cNvPr id="8" name="Text 6"/>
          <p:cNvSpPr/>
          <p:nvPr/>
        </p:nvSpPr>
        <p:spPr>
          <a:xfrm>
            <a:off x="4569817" y="1906191"/>
            <a:ext cx="314383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1B · erledigt</a:t>
            </a:r>
            <a:endParaRPr lang="en-US" sz="1200" dirty="0"/>
          </a:p>
        </p:txBody>
      </p:sp>
      <p:sp>
        <p:nvSpPr>
          <p:cNvPr id="9" name="Text 7"/>
          <p:cNvSpPr/>
          <p:nvPr/>
        </p:nvSpPr>
        <p:spPr>
          <a:xfrm>
            <a:off x="4569817" y="2170311"/>
            <a:ext cx="3143834"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304D"/>
                </a:solidFill>
                <a:latin typeface="Nunito Sans" pitchFamily="34" charset="0"/>
                <a:ea typeface="Nunito Sans" pitchFamily="34" charset="-122"/>
                <a:cs typeface="Nunito Sans" pitchFamily="34" charset="-120"/>
              </a:rPr>
              <a:t>Wo gibt es die beste Glace?</a:t>
            </a:r>
            <a:endParaRPr lang="en-US" sz="1600" dirty="0"/>
          </a:p>
        </p:txBody>
      </p:sp>
      <p:sp>
        <p:nvSpPr>
          <p:cNvPr id="10" name="Shape 8"/>
          <p:cNvSpPr/>
          <p:nvPr/>
        </p:nvSpPr>
        <p:spPr>
          <a:xfrm>
            <a:off x="7961809" y="1750616"/>
            <a:ext cx="3414216" cy="829270"/>
          </a:xfrm>
          <a:prstGeom prst="roundRect">
            <a:avLst>
              <a:gd name="adj" fmla="val 11869"/>
            </a:avLst>
          </a:prstGeom>
          <a:solidFill>
            <a:srgbClr val="D6EAE7"/>
          </a:solidFill>
          <a:ln w="6350">
            <a:solidFill>
              <a:srgbClr val="9CC9C3"/>
            </a:solidFill>
            <a:prstDash val="solid"/>
          </a:ln>
        </p:spPr>
      </p:sp>
      <p:sp>
        <p:nvSpPr>
          <p:cNvPr id="11" name="Text 9"/>
          <p:cNvSpPr/>
          <p:nvPr/>
        </p:nvSpPr>
        <p:spPr>
          <a:xfrm>
            <a:off x="8142784" y="1906191"/>
            <a:ext cx="314383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1C · erledigt</a:t>
            </a:r>
            <a:endParaRPr lang="en-US" sz="1200" dirty="0"/>
          </a:p>
        </p:txBody>
      </p:sp>
      <p:sp>
        <p:nvSpPr>
          <p:cNvPr id="12" name="Text 10"/>
          <p:cNvSpPr/>
          <p:nvPr/>
        </p:nvSpPr>
        <p:spPr>
          <a:xfrm>
            <a:off x="8142784" y="2170311"/>
            <a:ext cx="3230066"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304D"/>
                </a:solidFill>
                <a:latin typeface="Nunito Sans" pitchFamily="34" charset="0"/>
                <a:ea typeface="Nunito Sans" pitchFamily="34" charset="-122"/>
                <a:cs typeface="Nunito Sans" pitchFamily="34" charset="-120"/>
              </a:rPr>
              <a:t>Traust du Online-Bewertungen?</a:t>
            </a:r>
            <a:endParaRPr lang="en-US" sz="1600" dirty="0"/>
          </a:p>
        </p:txBody>
      </p:sp>
      <p:sp>
        <p:nvSpPr>
          <p:cNvPr id="13" name="Shape 11"/>
          <p:cNvSpPr/>
          <p:nvPr/>
        </p:nvSpPr>
        <p:spPr>
          <a:xfrm>
            <a:off x="815975" y="2738636"/>
            <a:ext cx="3414117" cy="841970"/>
          </a:xfrm>
          <a:prstGeom prst="roundRect">
            <a:avLst>
              <a:gd name="adj" fmla="val 11690"/>
            </a:avLst>
          </a:prstGeom>
          <a:solidFill>
            <a:srgbClr val="D6EAE7"/>
          </a:solidFill>
          <a:ln w="6350">
            <a:solidFill>
              <a:srgbClr val="9CC9C3"/>
            </a:solidFill>
            <a:prstDash val="solid"/>
          </a:ln>
        </p:spPr>
      </p:sp>
      <p:sp>
        <p:nvSpPr>
          <p:cNvPr id="14" name="Text 12"/>
          <p:cNvSpPr/>
          <p:nvPr/>
        </p:nvSpPr>
        <p:spPr>
          <a:xfrm>
            <a:off x="996950" y="2894211"/>
            <a:ext cx="314373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1D · erledigt</a:t>
            </a:r>
            <a:endParaRPr lang="en-US" sz="1200" dirty="0"/>
          </a:p>
        </p:txBody>
      </p:sp>
      <p:sp>
        <p:nvSpPr>
          <p:cNvPr id="15" name="Text 13"/>
          <p:cNvSpPr/>
          <p:nvPr/>
        </p:nvSpPr>
        <p:spPr>
          <a:xfrm>
            <a:off x="996950" y="3158331"/>
            <a:ext cx="314373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304D"/>
                </a:solidFill>
                <a:latin typeface="Nunito Sans" pitchFamily="34" charset="0"/>
                <a:ea typeface="Nunito Sans" pitchFamily="34" charset="-122"/>
                <a:cs typeface="Nunito Sans" pitchFamily="34" charset="-120"/>
              </a:rPr>
              <a:t>Datenstau im Netz</a:t>
            </a:r>
            <a:endParaRPr lang="en-US" sz="1600" dirty="0"/>
          </a:p>
        </p:txBody>
      </p:sp>
      <p:sp>
        <p:nvSpPr>
          <p:cNvPr id="16" name="Shape 14"/>
          <p:cNvSpPr/>
          <p:nvPr/>
        </p:nvSpPr>
        <p:spPr>
          <a:xfrm>
            <a:off x="4388842" y="2738636"/>
            <a:ext cx="3414216" cy="841970"/>
          </a:xfrm>
          <a:prstGeom prst="roundRect">
            <a:avLst>
              <a:gd name="adj" fmla="val 11690"/>
            </a:avLst>
          </a:prstGeom>
          <a:solidFill>
            <a:srgbClr val="E39A3B"/>
          </a:solidFill>
          <a:ln w="6350">
            <a:solidFill>
              <a:srgbClr val="E39A3B"/>
            </a:solidFill>
            <a:prstDash val="solid"/>
          </a:ln>
        </p:spPr>
      </p:sp>
      <p:sp>
        <p:nvSpPr>
          <p:cNvPr id="17" name="Text 15"/>
          <p:cNvSpPr/>
          <p:nvPr/>
        </p:nvSpPr>
        <p:spPr>
          <a:xfrm>
            <a:off x="4569817" y="2894211"/>
            <a:ext cx="314383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304D"/>
                </a:solidFill>
                <a:latin typeface="Nunito Sans" pitchFamily="34" charset="0"/>
                <a:ea typeface="Nunito Sans" pitchFamily="34" charset="-122"/>
                <a:cs typeface="Nunito Sans" pitchFamily="34" charset="-120"/>
              </a:rPr>
              <a:t>1E · wir sind hier</a:t>
            </a:r>
            <a:endParaRPr lang="en-US" sz="1200" dirty="0"/>
          </a:p>
        </p:txBody>
      </p:sp>
      <p:sp>
        <p:nvSpPr>
          <p:cNvPr id="18" name="Text 16"/>
          <p:cNvSpPr/>
          <p:nvPr/>
        </p:nvSpPr>
        <p:spPr>
          <a:xfrm>
            <a:off x="4569817" y="3158331"/>
            <a:ext cx="3143834"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304D"/>
                </a:solidFill>
                <a:latin typeface="Nunito Sans" pitchFamily="34" charset="0"/>
                <a:ea typeface="Nunito Sans" pitchFamily="34" charset="-122"/>
                <a:cs typeface="Nunito Sans" pitchFamily="34" charset="-120"/>
              </a:rPr>
              <a:t>Netzwerke planen</a:t>
            </a:r>
            <a:endParaRPr lang="en-US" sz="1600" dirty="0"/>
          </a:p>
        </p:txBody>
      </p:sp>
      <p:sp>
        <p:nvSpPr>
          <p:cNvPr id="19" name="Shape 17"/>
          <p:cNvSpPr/>
          <p:nvPr/>
        </p:nvSpPr>
        <p:spPr>
          <a:xfrm>
            <a:off x="7964984" y="2741811"/>
            <a:ext cx="3407866" cy="835620"/>
          </a:xfrm>
          <a:prstGeom prst="roundRect">
            <a:avLst>
              <a:gd name="adj" fmla="val 11399"/>
            </a:avLst>
          </a:prstGeom>
          <a:noFill/>
          <a:ln w="12700">
            <a:solidFill>
              <a:srgbClr val="6F8599"/>
            </a:solidFill>
            <a:prstDash val="dash"/>
          </a:ln>
        </p:spPr>
      </p:sp>
      <p:sp>
        <p:nvSpPr>
          <p:cNvPr id="20" name="Text 18"/>
          <p:cNvSpPr/>
          <p:nvPr/>
        </p:nvSpPr>
        <p:spPr>
          <a:xfrm>
            <a:off x="8149134" y="2900561"/>
            <a:ext cx="313075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B6B"/>
                </a:solidFill>
                <a:latin typeface="Nunito Sans" pitchFamily="34" charset="0"/>
                <a:ea typeface="Nunito Sans" pitchFamily="34" charset="-122"/>
                <a:cs typeface="Nunito Sans" pitchFamily="34" charset="-120"/>
              </a:rPr>
              <a:t>1F · Di 27.10.</a:t>
            </a:r>
            <a:endParaRPr lang="en-US" sz="1200" dirty="0"/>
          </a:p>
        </p:txBody>
      </p:sp>
      <p:sp>
        <p:nvSpPr>
          <p:cNvPr id="21" name="Text 19"/>
          <p:cNvSpPr/>
          <p:nvPr/>
        </p:nvSpPr>
        <p:spPr>
          <a:xfrm>
            <a:off x="8149134" y="3164681"/>
            <a:ext cx="3130753"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304D"/>
                </a:solidFill>
                <a:latin typeface="Nunito Sans" pitchFamily="34" charset="0"/>
                <a:ea typeface="Nunito Sans" pitchFamily="34" charset="-122"/>
                <a:cs typeface="Nunito Sans" pitchFamily="34" charset="-120"/>
              </a:rPr>
              <a:t>Der Post ist da</a:t>
            </a:r>
            <a:endParaRPr lang="en-US" sz="1600" dirty="0"/>
          </a:p>
        </p:txBody>
      </p:sp>
      <p:sp>
        <p:nvSpPr>
          <p:cNvPr id="22" name="Shape 20"/>
          <p:cNvSpPr/>
          <p:nvPr/>
        </p:nvSpPr>
        <p:spPr>
          <a:xfrm>
            <a:off x="819150" y="3742531"/>
            <a:ext cx="3407767" cy="835620"/>
          </a:xfrm>
          <a:prstGeom prst="roundRect">
            <a:avLst>
              <a:gd name="adj" fmla="val 11399"/>
            </a:avLst>
          </a:prstGeom>
          <a:noFill/>
          <a:ln w="12700">
            <a:solidFill>
              <a:srgbClr val="6F8599"/>
            </a:solidFill>
            <a:prstDash val="dash"/>
          </a:ln>
        </p:spPr>
      </p:sp>
      <p:sp>
        <p:nvSpPr>
          <p:cNvPr id="23" name="Text 21"/>
          <p:cNvSpPr/>
          <p:nvPr/>
        </p:nvSpPr>
        <p:spPr>
          <a:xfrm>
            <a:off x="1003300" y="3901281"/>
            <a:ext cx="313065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B6B"/>
                </a:solidFill>
                <a:latin typeface="Nunito Sans" pitchFamily="34" charset="0"/>
                <a:ea typeface="Nunito Sans" pitchFamily="34" charset="-122"/>
                <a:cs typeface="Nunito Sans" pitchFamily="34" charset="-120"/>
              </a:rPr>
              <a:t>1G · Di 27.10.</a:t>
            </a:r>
            <a:endParaRPr lang="en-US" sz="1200" dirty="0"/>
          </a:p>
        </p:txBody>
      </p:sp>
      <p:sp>
        <p:nvSpPr>
          <p:cNvPr id="24" name="Text 22"/>
          <p:cNvSpPr/>
          <p:nvPr/>
        </p:nvSpPr>
        <p:spPr>
          <a:xfrm>
            <a:off x="1003300" y="4165402"/>
            <a:ext cx="3130651"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304D"/>
                </a:solidFill>
                <a:latin typeface="Nunito Sans" pitchFamily="34" charset="0"/>
                <a:ea typeface="Nunito Sans" pitchFamily="34" charset="-122"/>
                <a:cs typeface="Nunito Sans" pitchFamily="34" charset="-120"/>
              </a:rPr>
              <a:t>Tolle Fotos, tolle Ferien?</a:t>
            </a:r>
            <a:endParaRPr lang="en-US" sz="1600" dirty="0"/>
          </a:p>
        </p:txBody>
      </p:sp>
      <p:sp>
        <p:nvSpPr>
          <p:cNvPr id="25" name="Shape 23"/>
          <p:cNvSpPr/>
          <p:nvPr/>
        </p:nvSpPr>
        <p:spPr>
          <a:xfrm>
            <a:off x="4392017" y="3742531"/>
            <a:ext cx="3407866" cy="835620"/>
          </a:xfrm>
          <a:prstGeom prst="roundRect">
            <a:avLst>
              <a:gd name="adj" fmla="val 11399"/>
            </a:avLst>
          </a:prstGeom>
          <a:noFill/>
          <a:ln w="12700">
            <a:solidFill>
              <a:srgbClr val="6F8599"/>
            </a:solidFill>
            <a:prstDash val="dash"/>
          </a:ln>
        </p:spPr>
      </p:sp>
      <p:sp>
        <p:nvSpPr>
          <p:cNvPr id="26" name="Text 24"/>
          <p:cNvSpPr/>
          <p:nvPr/>
        </p:nvSpPr>
        <p:spPr>
          <a:xfrm>
            <a:off x="4576167" y="3901281"/>
            <a:ext cx="313075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B6B"/>
                </a:solidFill>
                <a:latin typeface="Nunito Sans" pitchFamily="34" charset="0"/>
                <a:ea typeface="Nunito Sans" pitchFamily="34" charset="-122"/>
                <a:cs typeface="Nunito Sans" pitchFamily="34" charset="-120"/>
              </a:rPr>
              <a:t>1H · Di 03.11.</a:t>
            </a:r>
            <a:endParaRPr lang="en-US" sz="1200" dirty="0"/>
          </a:p>
        </p:txBody>
      </p:sp>
      <p:sp>
        <p:nvSpPr>
          <p:cNvPr id="27" name="Text 25"/>
          <p:cNvSpPr/>
          <p:nvPr/>
        </p:nvSpPr>
        <p:spPr>
          <a:xfrm>
            <a:off x="4576167" y="4165402"/>
            <a:ext cx="3130753"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304D"/>
                </a:solidFill>
                <a:latin typeface="Nunito Sans" pitchFamily="34" charset="0"/>
                <a:ea typeface="Nunito Sans" pitchFamily="34" charset="-122"/>
                <a:cs typeface="Nunito Sans" pitchFamily="34" charset="-120"/>
              </a:rPr>
              <a:t>Aufmerksamkeit um jeden Preis</a:t>
            </a:r>
            <a:endParaRPr lang="en-US" sz="1600" dirty="0"/>
          </a:p>
        </p:txBody>
      </p:sp>
      <p:sp>
        <p:nvSpPr>
          <p:cNvPr id="28" name="Shape 26"/>
          <p:cNvSpPr/>
          <p:nvPr/>
        </p:nvSpPr>
        <p:spPr>
          <a:xfrm>
            <a:off x="7964984" y="3742531"/>
            <a:ext cx="3407866" cy="835620"/>
          </a:xfrm>
          <a:prstGeom prst="roundRect">
            <a:avLst>
              <a:gd name="adj" fmla="val 11399"/>
            </a:avLst>
          </a:prstGeom>
          <a:noFill/>
          <a:ln w="12700">
            <a:solidFill>
              <a:srgbClr val="6F8599"/>
            </a:solidFill>
            <a:prstDash val="dash"/>
          </a:ln>
        </p:spPr>
      </p:sp>
      <p:sp>
        <p:nvSpPr>
          <p:cNvPr id="29" name="Text 27"/>
          <p:cNvSpPr/>
          <p:nvPr/>
        </p:nvSpPr>
        <p:spPr>
          <a:xfrm>
            <a:off x="8149134" y="3901281"/>
            <a:ext cx="313075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B6B"/>
                </a:solidFill>
                <a:latin typeface="Nunito Sans" pitchFamily="34" charset="0"/>
                <a:ea typeface="Nunito Sans" pitchFamily="34" charset="-122"/>
                <a:cs typeface="Nunito Sans" pitchFamily="34" charset="-120"/>
              </a:rPr>
              <a:t>1I · Di 03.11.</a:t>
            </a:r>
            <a:endParaRPr lang="en-US" sz="1200" dirty="0"/>
          </a:p>
        </p:txBody>
      </p:sp>
      <p:sp>
        <p:nvSpPr>
          <p:cNvPr id="30" name="Text 28"/>
          <p:cNvSpPr/>
          <p:nvPr/>
        </p:nvSpPr>
        <p:spPr>
          <a:xfrm>
            <a:off x="8149134" y="4165402"/>
            <a:ext cx="3130753"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304D"/>
                </a:solidFill>
                <a:latin typeface="Nunito Sans" pitchFamily="34" charset="0"/>
                <a:ea typeface="Nunito Sans" pitchFamily="34" charset="-122"/>
                <a:cs typeface="Nunito Sans" pitchFamily="34" charset="-120"/>
              </a:rPr>
              <a:t>Reisetagebuch</a:t>
            </a:r>
            <a:endParaRPr lang="en-US" sz="1600" dirty="0"/>
          </a:p>
        </p:txBody>
      </p:sp>
      <p:sp>
        <p:nvSpPr>
          <p:cNvPr id="31" name="Text 2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32" name="Text 30"/>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Nunito Sans" pitchFamily="34" charset="0"/>
                <a:ea typeface="Nunito Sans" pitchFamily="34" charset="-122"/>
                <a:cs typeface="Nunito Sans" pitchFamily="34" charset="-120"/>
              </a:rPr>
              <a:t>WEISST DU’S NOCH? · 8 MIN</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304D"/>
                </a:solidFill>
                <a:latin typeface="Domine" pitchFamily="18" charset="0"/>
                <a:ea typeface="Domine" pitchFamily="18" charset="-122"/>
                <a:cs typeface="Domine" pitchFamily="18" charset="-120"/>
              </a:rPr>
              <a:t>Fünf Fragen zu 1A bis 1E</a:t>
            </a:r>
            <a:endParaRPr lang="en-US" sz="3200" dirty="0"/>
          </a:p>
        </p:txBody>
      </p:sp>
      <p:sp>
        <p:nvSpPr>
          <p:cNvPr id="4" name="Text 2"/>
          <p:cNvSpPr/>
          <p:nvPr/>
        </p:nvSpPr>
        <p:spPr>
          <a:xfrm>
            <a:off x="812800" y="174744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1</a:t>
            </a:r>
            <a:endParaRPr lang="en-US" sz="1600" dirty="0"/>
          </a:p>
        </p:txBody>
      </p:sp>
      <p:sp>
        <p:nvSpPr>
          <p:cNvPr id="5" name="Text 3"/>
          <p:cNvSpPr/>
          <p:nvPr/>
        </p:nvSpPr>
        <p:spPr>
          <a:xfrm>
            <a:off x="1447800" y="1833761"/>
            <a:ext cx="98107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Was macht ein Router?</a:t>
            </a:r>
            <a:endParaRPr lang="en-US" sz="1600" dirty="0"/>
          </a:p>
        </p:txBody>
      </p:sp>
      <p:sp>
        <p:nvSpPr>
          <p:cNvPr id="6" name="Text 4"/>
          <p:cNvSpPr/>
          <p:nvPr/>
        </p:nvSpPr>
        <p:spPr>
          <a:xfrm>
            <a:off x="812800" y="235704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2</a:t>
            </a:r>
            <a:endParaRPr lang="en-US" sz="1600" dirty="0"/>
          </a:p>
        </p:txBody>
      </p:sp>
      <p:sp>
        <p:nvSpPr>
          <p:cNvPr id="7" name="Text 5"/>
          <p:cNvSpPr/>
          <p:nvPr/>
        </p:nvSpPr>
        <p:spPr>
          <a:xfrm>
            <a:off x="1447800" y="2443361"/>
            <a:ext cx="98107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Was verrät deine IP-Adresse über dich?</a:t>
            </a:r>
            <a:endParaRPr lang="en-US" sz="1600" dirty="0"/>
          </a:p>
        </p:txBody>
      </p:sp>
      <p:sp>
        <p:nvSpPr>
          <p:cNvPr id="8" name="Text 6"/>
          <p:cNvSpPr/>
          <p:nvPr/>
        </p:nvSpPr>
        <p:spPr>
          <a:xfrm>
            <a:off x="812800" y="296664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3</a:t>
            </a:r>
            <a:endParaRPr lang="en-US" sz="1600" dirty="0"/>
          </a:p>
        </p:txBody>
      </p:sp>
      <p:sp>
        <p:nvSpPr>
          <p:cNvPr id="9" name="Text 7"/>
          <p:cNvSpPr/>
          <p:nvPr/>
        </p:nvSpPr>
        <p:spPr>
          <a:xfrm>
            <a:off x="1447800" y="3052961"/>
            <a:ext cx="98107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Nenne ein Kriterium für eine glaubwürdige Online-Bewertung.</a:t>
            </a:r>
            <a:endParaRPr lang="en-US" sz="1600" dirty="0"/>
          </a:p>
        </p:txBody>
      </p:sp>
      <p:sp>
        <p:nvSpPr>
          <p:cNvPr id="10" name="Text 8"/>
          <p:cNvSpPr/>
          <p:nvPr/>
        </p:nvSpPr>
        <p:spPr>
          <a:xfrm>
            <a:off x="812800" y="357624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4</a:t>
            </a:r>
            <a:endParaRPr lang="en-US" sz="1600" dirty="0"/>
          </a:p>
        </p:txBody>
      </p:sp>
      <p:sp>
        <p:nvSpPr>
          <p:cNvPr id="11" name="Text 9"/>
          <p:cNvSpPr/>
          <p:nvPr/>
        </p:nvSpPr>
        <p:spPr>
          <a:xfrm>
            <a:off x="1447800" y="3662561"/>
            <a:ext cx="98107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Nenne einen Grund für Datenstau im Netz.</a:t>
            </a:r>
            <a:endParaRPr lang="en-US" sz="1600" dirty="0"/>
          </a:p>
        </p:txBody>
      </p:sp>
      <p:sp>
        <p:nvSpPr>
          <p:cNvPr id="12" name="Text 10"/>
          <p:cNvSpPr/>
          <p:nvPr/>
        </p:nvSpPr>
        <p:spPr>
          <a:xfrm>
            <a:off x="812800" y="418584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5</a:t>
            </a:r>
            <a:endParaRPr lang="en-US" sz="1600" dirty="0"/>
          </a:p>
        </p:txBody>
      </p:sp>
      <p:sp>
        <p:nvSpPr>
          <p:cNvPr id="13" name="Text 11"/>
          <p:cNvSpPr/>
          <p:nvPr/>
        </p:nvSpPr>
        <p:spPr>
          <a:xfrm>
            <a:off x="1447800" y="4272161"/>
            <a:ext cx="98107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Was will der Algorithmus von Prim erreichen?</a:t>
            </a:r>
            <a:endParaRPr lang="en-US" sz="1600" dirty="0"/>
          </a:p>
        </p:txBody>
      </p:sp>
      <p:sp>
        <p:nvSpPr>
          <p:cNvPr id="14" name="Text 12"/>
          <p:cNvSpPr/>
          <p:nvPr/>
        </p:nvSpPr>
        <p:spPr>
          <a:xfrm>
            <a:off x="812800" y="484624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E6E"/>
                </a:solidFill>
                <a:latin typeface="Nunito Sans" pitchFamily="34" charset="0"/>
                <a:ea typeface="Nunito Sans" pitchFamily="34" charset="-122"/>
                <a:cs typeface="Nunito Sans" pitchFamily="34" charset="-120"/>
              </a:rPr>
              <a:t>Zu zweit besprechen (3 Min), danach melden wir uns im Plenum.</a:t>
            </a:r>
            <a:endParaRPr lang="en-US" sz="1600" dirty="0"/>
          </a:p>
        </p:txBody>
      </p:sp>
      <p:sp>
        <p:nvSpPr>
          <p:cNvPr id="15" name="Text 1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16" name="Text 14"/>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Nunito Sans" pitchFamily="34" charset="0"/>
                <a:ea typeface="Nunito Sans" pitchFamily="34" charset="-122"/>
                <a:cs typeface="Nunito Sans" pitchFamily="34" charset="-120"/>
              </a:rPr>
              <a:t>WEISST DU’S NOCH? · LÖSUNGEN</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304D"/>
                </a:solidFill>
                <a:latin typeface="Domine" pitchFamily="18" charset="0"/>
                <a:ea typeface="Domine" pitchFamily="18" charset="-122"/>
                <a:cs typeface="Domine" pitchFamily="18" charset="-120"/>
              </a:rPr>
              <a:t>Das haben wir gelernt</a:t>
            </a:r>
            <a:endParaRPr lang="en-US" sz="3200" dirty="0"/>
          </a:p>
        </p:txBody>
      </p:sp>
      <p:sp>
        <p:nvSpPr>
          <p:cNvPr id="4" name="Text 2"/>
          <p:cNvSpPr/>
          <p:nvPr/>
        </p:nvSpPr>
        <p:spPr>
          <a:xfrm>
            <a:off x="812800" y="174744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1</a:t>
            </a:r>
            <a:endParaRPr lang="en-US" sz="1600" dirty="0"/>
          </a:p>
        </p:txBody>
      </p:sp>
      <p:sp>
        <p:nvSpPr>
          <p:cNvPr id="5" name="Text 3"/>
          <p:cNvSpPr/>
          <p:nvPr/>
        </p:nvSpPr>
        <p:spPr>
          <a:xfrm>
            <a:off x="1447800" y="1833761"/>
            <a:ext cx="981075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Router:</a:t>
            </a:r>
            <a:r>
              <a:rPr lang="en-US" sz="1600" dirty="0">
                <a:solidFill>
                  <a:srgbClr val="14304D"/>
                </a:solidFill>
                <a:latin typeface="Nunito Sans" pitchFamily="34" charset="0"/>
                <a:ea typeface="Nunito Sans" pitchFamily="34" charset="-122"/>
                <a:cs typeface="Nunito Sans" pitchFamily="34" charset="-120"/>
              </a:rPr>
              <a:t> leitet Datenpakete von einem Netzwerk ins nächste weiter.</a:t>
            </a:r>
            <a:endParaRPr lang="en-US" sz="1600" dirty="0"/>
          </a:p>
        </p:txBody>
      </p:sp>
      <p:sp>
        <p:nvSpPr>
          <p:cNvPr id="6" name="Text 4"/>
          <p:cNvSpPr/>
          <p:nvPr/>
        </p:nvSpPr>
        <p:spPr>
          <a:xfrm>
            <a:off x="812800" y="235704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2</a:t>
            </a:r>
            <a:endParaRPr lang="en-US" sz="1600" dirty="0"/>
          </a:p>
        </p:txBody>
      </p:sp>
      <p:sp>
        <p:nvSpPr>
          <p:cNvPr id="7" name="Text 5"/>
          <p:cNvSpPr/>
          <p:nvPr/>
        </p:nvSpPr>
        <p:spPr>
          <a:xfrm>
            <a:off x="1447800" y="2443361"/>
            <a:ext cx="981075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IP-Adresse:</a:t>
            </a:r>
            <a:r>
              <a:rPr lang="en-US" sz="1600" dirty="0">
                <a:solidFill>
                  <a:srgbClr val="14304D"/>
                </a:solidFill>
                <a:latin typeface="Nunito Sans" pitchFamily="34" charset="0"/>
                <a:ea typeface="Nunito Sans" pitchFamily="34" charset="-122"/>
                <a:cs typeface="Nunito Sans" pitchFamily="34" charset="-120"/>
              </a:rPr>
              <a:t> den ungefähren Standort des Geräts, nicht die genaue Adresse.</a:t>
            </a:r>
            <a:endParaRPr lang="en-US" sz="1600" dirty="0"/>
          </a:p>
        </p:txBody>
      </p:sp>
      <p:sp>
        <p:nvSpPr>
          <p:cNvPr id="8" name="Text 6"/>
          <p:cNvSpPr/>
          <p:nvPr/>
        </p:nvSpPr>
        <p:spPr>
          <a:xfrm>
            <a:off x="812800" y="302250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3</a:t>
            </a:r>
            <a:endParaRPr lang="en-US" sz="1600" dirty="0"/>
          </a:p>
        </p:txBody>
      </p:sp>
      <p:sp>
        <p:nvSpPr>
          <p:cNvPr id="9" name="Text 7"/>
          <p:cNvSpPr/>
          <p:nvPr/>
        </p:nvSpPr>
        <p:spPr>
          <a:xfrm>
            <a:off x="1447800" y="2966641"/>
            <a:ext cx="9810750"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Bewertungen:</a:t>
            </a:r>
            <a:r>
              <a:rPr lang="en-US" sz="1600" dirty="0">
                <a:solidFill>
                  <a:srgbClr val="14304D"/>
                </a:solidFill>
                <a:latin typeface="Nunito Sans" pitchFamily="34" charset="0"/>
                <a:ea typeface="Nunito Sans" pitchFamily="34" charset="-122"/>
                <a:cs typeface="Nunito Sans" pitchFamily="34" charset="-120"/>
              </a:rPr>
              <a:t> zum Beispiel mindestens 20 Bewertungen, Textkommentar, persönliche Erfahrung, über längere Zeit verteilt, aktuell.</a:t>
            </a:r>
            <a:endParaRPr lang="en-US" sz="1600" dirty="0"/>
          </a:p>
        </p:txBody>
      </p:sp>
      <p:sp>
        <p:nvSpPr>
          <p:cNvPr id="10" name="Text 8"/>
          <p:cNvSpPr/>
          <p:nvPr/>
        </p:nvSpPr>
        <p:spPr>
          <a:xfrm>
            <a:off x="812800" y="374382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4</a:t>
            </a:r>
            <a:endParaRPr lang="en-US" sz="1600" dirty="0"/>
          </a:p>
        </p:txBody>
      </p:sp>
      <p:sp>
        <p:nvSpPr>
          <p:cNvPr id="11" name="Text 9"/>
          <p:cNvSpPr/>
          <p:nvPr/>
        </p:nvSpPr>
        <p:spPr>
          <a:xfrm>
            <a:off x="1447800" y="3687961"/>
            <a:ext cx="9810750"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Datenstau:</a:t>
            </a:r>
            <a:r>
              <a:rPr lang="en-US" sz="1600" dirty="0">
                <a:solidFill>
                  <a:srgbClr val="14304D"/>
                </a:solidFill>
                <a:latin typeface="Nunito Sans" pitchFamily="34" charset="0"/>
                <a:ea typeface="Nunito Sans" pitchFamily="34" charset="-122"/>
                <a:cs typeface="Nunito Sans" pitchFamily="34" charset="-120"/>
              </a:rPr>
              <a:t> zum Beispiel zu viele Personen im gleichen WLAN (letzte Meile), grosse Videodaten, viele Router auf dem Weg.</a:t>
            </a:r>
            <a:endParaRPr lang="en-US" sz="1600" dirty="0"/>
          </a:p>
        </p:txBody>
      </p:sp>
      <p:sp>
        <p:nvSpPr>
          <p:cNvPr id="12" name="Text 10"/>
          <p:cNvSpPr/>
          <p:nvPr/>
        </p:nvSpPr>
        <p:spPr>
          <a:xfrm>
            <a:off x="812800" y="440928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5</a:t>
            </a:r>
            <a:endParaRPr lang="en-US" sz="1600" dirty="0"/>
          </a:p>
        </p:txBody>
      </p:sp>
      <p:sp>
        <p:nvSpPr>
          <p:cNvPr id="13" name="Text 11"/>
          <p:cNvSpPr/>
          <p:nvPr/>
        </p:nvSpPr>
        <p:spPr>
          <a:xfrm>
            <a:off x="1447800" y="4495602"/>
            <a:ext cx="981075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Prim:</a:t>
            </a:r>
            <a:r>
              <a:rPr lang="en-US" sz="1600" dirty="0">
                <a:solidFill>
                  <a:srgbClr val="14304D"/>
                </a:solidFill>
                <a:latin typeface="Nunito Sans" pitchFamily="34" charset="0"/>
                <a:ea typeface="Nunito Sans" pitchFamily="34" charset="-122"/>
                <a:cs typeface="Nunito Sans" pitchFamily="34" charset="-120"/>
              </a:rPr>
              <a:t> alle Dörfer verbinden, und zwar mit möglichst geringen Gesamtkosten.</a:t>
            </a:r>
            <a:endParaRPr lang="en-US" sz="1600" dirty="0"/>
          </a:p>
        </p:txBody>
      </p:sp>
      <p:sp>
        <p:nvSpPr>
          <p:cNvPr id="14" name="Text 1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15" name="Text 13"/>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Nunito Sans" pitchFamily="34" charset="0"/>
                <a:ea typeface="Nunito Sans" pitchFamily="34" charset="-122"/>
                <a:cs typeface="Nunito Sans" pitchFamily="34" charset="-120"/>
              </a:rPr>
              <a:t>1E · ALGORITHMUS VON PRIM · 10 MIN</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304D"/>
                </a:solidFill>
                <a:latin typeface="Domine" pitchFamily="18" charset="0"/>
                <a:ea typeface="Domine" pitchFamily="18" charset="-122"/>
                <a:cs typeface="Domine" pitchFamily="18" charset="-120"/>
              </a:rPr>
              <a:t>So findet man das günstigste Netz</a:t>
            </a:r>
            <a:endParaRPr lang="en-US" sz="3200" dirty="0"/>
          </a:p>
        </p:txBody>
      </p:sp>
      <p:sp>
        <p:nvSpPr>
          <p:cNvPr id="4" name="Shape 2"/>
          <p:cNvSpPr/>
          <p:nvPr/>
        </p:nvSpPr>
        <p:spPr>
          <a:xfrm>
            <a:off x="815975" y="1750616"/>
            <a:ext cx="2520950" cy="2058491"/>
          </a:xfrm>
          <a:prstGeom prst="roundRect">
            <a:avLst>
              <a:gd name="adj" fmla="val 4781"/>
            </a:avLst>
          </a:prstGeom>
          <a:solidFill>
            <a:srgbClr val="FCFBF7"/>
          </a:solidFill>
          <a:ln w="6350">
            <a:solidFill>
              <a:srgbClr val="D9DEDF"/>
            </a:solidFill>
            <a:prstDash val="solid"/>
          </a:ln>
        </p:spPr>
      </p:sp>
      <p:sp>
        <p:nvSpPr>
          <p:cNvPr id="5" name="Text 3"/>
          <p:cNvSpPr/>
          <p:nvPr/>
        </p:nvSpPr>
        <p:spPr>
          <a:xfrm>
            <a:off x="996950" y="1931591"/>
            <a:ext cx="406400" cy="406400"/>
          </a:xfrm>
          <a:custGeom>
            <a:avLst/>
            <a:gdLst/>
            <a:ahLst/>
            <a:cxnLst/>
            <a:rect l="l" t="t" r="r" b="b"/>
            <a:pathLst>
              <a:path w="406400" h="406400">
                <a:moveTo>
                  <a:pt x="203200" y="0"/>
                </a:moveTo>
                <a:lnTo>
                  <a:pt x="203200" y="0"/>
                </a:lnTo>
                <a:arcTo hR="203200" wR="203200" stAng="16200000" swAng="5400000"/>
                <a:lnTo>
                  <a:pt x="406400" y="203200"/>
                </a:lnTo>
                <a:arcTo hR="203200" wR="203200" stAng="0" swAng="5400000"/>
                <a:lnTo>
                  <a:pt x="203200" y="406400"/>
                </a:lnTo>
                <a:arcTo hR="203200" wR="203200" stAng="5400000" swAng="5400000"/>
                <a:lnTo>
                  <a:pt x="0" y="203200"/>
                </a:lnTo>
                <a:arcTo hR="203200" wR="203200" stAng="10800000" swAng="5400000"/>
                <a:close/>
              </a:path>
            </a:pathLst>
          </a:custGeom>
          <a:solidFill>
            <a:srgbClr val="0B6E6E"/>
          </a:solidFill>
          <a:ln/>
        </p:spPr>
        <p:txBody>
          <a:bodyPr wrap="square" lIns="0" tIns="0" rIns="0" bIns="0" rtlCol="0" anchor="t">
            <a:normAutofit/>
          </a:bodyPr>
          <a:lstStyle/>
          <a:p>
            <a:pPr algn="ctr" indent="0" marL="0">
              <a:lnSpc>
                <a:spcPts val="3200"/>
              </a:lnSpc>
              <a:buNone/>
            </a:pPr>
            <a:r>
              <a:rPr lang="en-US" sz="1600" b="1" dirty="0">
                <a:solidFill>
                  <a:srgbClr val="F6F4EE"/>
                </a:solidFill>
                <a:latin typeface="Nunito Sans" pitchFamily="34" charset="0"/>
                <a:ea typeface="Nunito Sans" pitchFamily="34" charset="-122"/>
                <a:cs typeface="Nunito Sans" pitchFamily="34" charset="-120"/>
              </a:rPr>
              <a:t>1</a:t>
            </a:r>
            <a:endParaRPr lang="en-US" sz="1600" dirty="0"/>
          </a:p>
        </p:txBody>
      </p:sp>
      <p:sp>
        <p:nvSpPr>
          <p:cNvPr id="6" name="Text 4"/>
          <p:cNvSpPr/>
          <p:nvPr/>
        </p:nvSpPr>
        <p:spPr>
          <a:xfrm>
            <a:off x="996950" y="2414191"/>
            <a:ext cx="222377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Start</a:t>
            </a:r>
            <a:endParaRPr lang="en-US" sz="1600" dirty="0"/>
          </a:p>
        </p:txBody>
      </p:sp>
      <p:sp>
        <p:nvSpPr>
          <p:cNvPr id="7" name="Text 5"/>
          <p:cNvSpPr/>
          <p:nvPr/>
        </p:nvSpPr>
        <p:spPr>
          <a:xfrm>
            <a:off x="996950" y="2774851"/>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Wähle ein beliebiges Dorf als Start.</a:t>
            </a:r>
            <a:endParaRPr lang="en-US" sz="1200" dirty="0"/>
          </a:p>
        </p:txBody>
      </p:sp>
      <p:sp>
        <p:nvSpPr>
          <p:cNvPr id="8" name="Shape 6"/>
          <p:cNvSpPr/>
          <p:nvPr/>
        </p:nvSpPr>
        <p:spPr>
          <a:xfrm>
            <a:off x="3495675" y="1750616"/>
            <a:ext cx="2520950" cy="2058491"/>
          </a:xfrm>
          <a:prstGeom prst="roundRect">
            <a:avLst>
              <a:gd name="adj" fmla="val 4781"/>
            </a:avLst>
          </a:prstGeom>
          <a:solidFill>
            <a:srgbClr val="FCFBF7"/>
          </a:solidFill>
          <a:ln w="6350">
            <a:solidFill>
              <a:srgbClr val="D9DEDF"/>
            </a:solidFill>
            <a:prstDash val="solid"/>
          </a:ln>
        </p:spPr>
      </p:sp>
      <p:sp>
        <p:nvSpPr>
          <p:cNvPr id="9" name="Text 7"/>
          <p:cNvSpPr/>
          <p:nvPr/>
        </p:nvSpPr>
        <p:spPr>
          <a:xfrm>
            <a:off x="3676650" y="1931591"/>
            <a:ext cx="406400" cy="406400"/>
          </a:xfrm>
          <a:custGeom>
            <a:avLst/>
            <a:gdLst/>
            <a:ahLst/>
            <a:cxnLst/>
            <a:rect l="l" t="t" r="r" b="b"/>
            <a:pathLst>
              <a:path w="406400" h="406400">
                <a:moveTo>
                  <a:pt x="203200" y="0"/>
                </a:moveTo>
                <a:lnTo>
                  <a:pt x="203200" y="0"/>
                </a:lnTo>
                <a:arcTo hR="203200" wR="203200" stAng="16200000" swAng="5400000"/>
                <a:lnTo>
                  <a:pt x="406400" y="203200"/>
                </a:lnTo>
                <a:arcTo hR="203200" wR="203200" stAng="0" swAng="5400000"/>
                <a:lnTo>
                  <a:pt x="203200" y="406400"/>
                </a:lnTo>
                <a:arcTo hR="203200" wR="203200" stAng="5400000" swAng="5400000"/>
                <a:lnTo>
                  <a:pt x="0" y="203200"/>
                </a:lnTo>
                <a:arcTo hR="203200" wR="203200" stAng="10800000" swAng="5400000"/>
                <a:close/>
              </a:path>
            </a:pathLst>
          </a:custGeom>
          <a:solidFill>
            <a:srgbClr val="0B6E6E"/>
          </a:solidFill>
          <a:ln/>
        </p:spPr>
        <p:txBody>
          <a:bodyPr wrap="square" lIns="0" tIns="0" rIns="0" bIns="0" rtlCol="0" anchor="t">
            <a:normAutofit/>
          </a:bodyPr>
          <a:lstStyle/>
          <a:p>
            <a:pPr algn="ctr" indent="0" marL="0">
              <a:lnSpc>
                <a:spcPts val="3200"/>
              </a:lnSpc>
              <a:buNone/>
            </a:pPr>
            <a:r>
              <a:rPr lang="en-US" sz="1600" b="1" dirty="0">
                <a:solidFill>
                  <a:srgbClr val="F6F4EE"/>
                </a:solidFill>
                <a:latin typeface="Nunito Sans" pitchFamily="34" charset="0"/>
                <a:ea typeface="Nunito Sans" pitchFamily="34" charset="-122"/>
                <a:cs typeface="Nunito Sans" pitchFamily="34" charset="-120"/>
              </a:rPr>
              <a:t>2</a:t>
            </a:r>
            <a:endParaRPr lang="en-US" sz="1600" dirty="0"/>
          </a:p>
        </p:txBody>
      </p:sp>
      <p:sp>
        <p:nvSpPr>
          <p:cNvPr id="10" name="Text 8"/>
          <p:cNvSpPr/>
          <p:nvPr/>
        </p:nvSpPr>
        <p:spPr>
          <a:xfrm>
            <a:off x="3676650" y="2414191"/>
            <a:ext cx="222377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Prüfen</a:t>
            </a:r>
            <a:endParaRPr lang="en-US" sz="1600" dirty="0"/>
          </a:p>
        </p:txBody>
      </p:sp>
      <p:sp>
        <p:nvSpPr>
          <p:cNvPr id="11" name="Text 9"/>
          <p:cNvSpPr/>
          <p:nvPr/>
        </p:nvSpPr>
        <p:spPr>
          <a:xfrm>
            <a:off x="3676650" y="2774851"/>
            <a:ext cx="222377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Schau alle Verbindungen an, die vom Netz zu einem noch nicht angeschlossenen Dorf führen.</a:t>
            </a:r>
            <a:endParaRPr lang="en-US" sz="1200" dirty="0"/>
          </a:p>
        </p:txBody>
      </p:sp>
      <p:sp>
        <p:nvSpPr>
          <p:cNvPr id="12" name="Shape 10"/>
          <p:cNvSpPr/>
          <p:nvPr/>
        </p:nvSpPr>
        <p:spPr>
          <a:xfrm>
            <a:off x="6175375" y="1750616"/>
            <a:ext cx="2520950" cy="2058491"/>
          </a:xfrm>
          <a:prstGeom prst="roundRect">
            <a:avLst>
              <a:gd name="adj" fmla="val 4781"/>
            </a:avLst>
          </a:prstGeom>
          <a:solidFill>
            <a:srgbClr val="FCFBF7"/>
          </a:solidFill>
          <a:ln w="6350">
            <a:solidFill>
              <a:srgbClr val="D9DEDF"/>
            </a:solidFill>
            <a:prstDash val="solid"/>
          </a:ln>
        </p:spPr>
      </p:sp>
      <p:sp>
        <p:nvSpPr>
          <p:cNvPr id="13" name="Text 11"/>
          <p:cNvSpPr/>
          <p:nvPr/>
        </p:nvSpPr>
        <p:spPr>
          <a:xfrm>
            <a:off x="6356350" y="1931591"/>
            <a:ext cx="406400" cy="406400"/>
          </a:xfrm>
          <a:custGeom>
            <a:avLst/>
            <a:gdLst/>
            <a:ahLst/>
            <a:cxnLst/>
            <a:rect l="l" t="t" r="r" b="b"/>
            <a:pathLst>
              <a:path w="406400" h="406400">
                <a:moveTo>
                  <a:pt x="203200" y="0"/>
                </a:moveTo>
                <a:lnTo>
                  <a:pt x="203200" y="0"/>
                </a:lnTo>
                <a:arcTo hR="203200" wR="203200" stAng="16200000" swAng="5400000"/>
                <a:lnTo>
                  <a:pt x="406400" y="203200"/>
                </a:lnTo>
                <a:arcTo hR="203200" wR="203200" stAng="0" swAng="5400000"/>
                <a:lnTo>
                  <a:pt x="203200" y="406400"/>
                </a:lnTo>
                <a:arcTo hR="203200" wR="203200" stAng="5400000" swAng="5400000"/>
                <a:lnTo>
                  <a:pt x="0" y="203200"/>
                </a:lnTo>
                <a:arcTo hR="203200" wR="203200" stAng="10800000" swAng="5400000"/>
                <a:close/>
              </a:path>
            </a:pathLst>
          </a:custGeom>
          <a:solidFill>
            <a:srgbClr val="0B6E6E"/>
          </a:solidFill>
          <a:ln/>
        </p:spPr>
        <p:txBody>
          <a:bodyPr wrap="square" lIns="0" tIns="0" rIns="0" bIns="0" rtlCol="0" anchor="t">
            <a:normAutofit/>
          </a:bodyPr>
          <a:lstStyle/>
          <a:p>
            <a:pPr algn="ctr" indent="0" marL="0">
              <a:lnSpc>
                <a:spcPts val="3200"/>
              </a:lnSpc>
              <a:buNone/>
            </a:pPr>
            <a:r>
              <a:rPr lang="en-US" sz="1600" b="1" dirty="0">
                <a:solidFill>
                  <a:srgbClr val="F6F4EE"/>
                </a:solidFill>
                <a:latin typeface="Nunito Sans" pitchFamily="34" charset="0"/>
                <a:ea typeface="Nunito Sans" pitchFamily="34" charset="-122"/>
                <a:cs typeface="Nunito Sans" pitchFamily="34" charset="-120"/>
              </a:rPr>
              <a:t>3</a:t>
            </a:r>
            <a:endParaRPr lang="en-US" sz="1600" dirty="0"/>
          </a:p>
        </p:txBody>
      </p:sp>
      <p:sp>
        <p:nvSpPr>
          <p:cNvPr id="14" name="Text 12"/>
          <p:cNvSpPr/>
          <p:nvPr/>
        </p:nvSpPr>
        <p:spPr>
          <a:xfrm>
            <a:off x="6356350" y="2414191"/>
            <a:ext cx="222377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Wählen</a:t>
            </a:r>
            <a:endParaRPr lang="en-US" sz="1600" dirty="0"/>
          </a:p>
        </p:txBody>
      </p:sp>
      <p:sp>
        <p:nvSpPr>
          <p:cNvPr id="15" name="Text 13"/>
          <p:cNvSpPr/>
          <p:nvPr/>
        </p:nvSpPr>
        <p:spPr>
          <a:xfrm>
            <a:off x="6356350" y="2774851"/>
            <a:ext cx="222377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Nimm die günstigste davon. Bei Gleichstand ist beides richtig.</a:t>
            </a:r>
            <a:endParaRPr lang="en-US" sz="1200" dirty="0"/>
          </a:p>
        </p:txBody>
      </p:sp>
      <p:sp>
        <p:nvSpPr>
          <p:cNvPr id="16" name="Shape 14"/>
          <p:cNvSpPr/>
          <p:nvPr/>
        </p:nvSpPr>
        <p:spPr>
          <a:xfrm>
            <a:off x="8855075" y="1750616"/>
            <a:ext cx="2520950" cy="2058491"/>
          </a:xfrm>
          <a:prstGeom prst="roundRect">
            <a:avLst>
              <a:gd name="adj" fmla="val 4781"/>
            </a:avLst>
          </a:prstGeom>
          <a:solidFill>
            <a:srgbClr val="FCFBF7"/>
          </a:solidFill>
          <a:ln w="6350">
            <a:solidFill>
              <a:srgbClr val="D9DEDF"/>
            </a:solidFill>
            <a:prstDash val="solid"/>
          </a:ln>
        </p:spPr>
      </p:sp>
      <p:sp>
        <p:nvSpPr>
          <p:cNvPr id="17" name="Text 15"/>
          <p:cNvSpPr/>
          <p:nvPr/>
        </p:nvSpPr>
        <p:spPr>
          <a:xfrm>
            <a:off x="9036050" y="1931591"/>
            <a:ext cx="406400" cy="406400"/>
          </a:xfrm>
          <a:custGeom>
            <a:avLst/>
            <a:gdLst/>
            <a:ahLst/>
            <a:cxnLst/>
            <a:rect l="l" t="t" r="r" b="b"/>
            <a:pathLst>
              <a:path w="406400" h="406400">
                <a:moveTo>
                  <a:pt x="203200" y="0"/>
                </a:moveTo>
                <a:lnTo>
                  <a:pt x="203200" y="0"/>
                </a:lnTo>
                <a:arcTo hR="203200" wR="203200" stAng="16200000" swAng="5400000"/>
                <a:lnTo>
                  <a:pt x="406400" y="203200"/>
                </a:lnTo>
                <a:arcTo hR="203200" wR="203200" stAng="0" swAng="5400000"/>
                <a:lnTo>
                  <a:pt x="203200" y="406400"/>
                </a:lnTo>
                <a:arcTo hR="203200" wR="203200" stAng="5400000" swAng="5400000"/>
                <a:lnTo>
                  <a:pt x="0" y="203200"/>
                </a:lnTo>
                <a:arcTo hR="203200" wR="203200" stAng="10800000" swAng="5400000"/>
                <a:close/>
              </a:path>
            </a:pathLst>
          </a:custGeom>
          <a:solidFill>
            <a:srgbClr val="0B6E6E"/>
          </a:solidFill>
          <a:ln/>
        </p:spPr>
        <p:txBody>
          <a:bodyPr wrap="square" lIns="0" tIns="0" rIns="0" bIns="0" rtlCol="0" anchor="t">
            <a:normAutofit/>
          </a:bodyPr>
          <a:lstStyle/>
          <a:p>
            <a:pPr algn="ctr" indent="0" marL="0">
              <a:lnSpc>
                <a:spcPts val="3200"/>
              </a:lnSpc>
              <a:buNone/>
            </a:pPr>
            <a:r>
              <a:rPr lang="en-US" sz="1600" b="1" dirty="0">
                <a:solidFill>
                  <a:srgbClr val="F6F4EE"/>
                </a:solidFill>
                <a:latin typeface="Nunito Sans" pitchFamily="34" charset="0"/>
                <a:ea typeface="Nunito Sans" pitchFamily="34" charset="-122"/>
                <a:cs typeface="Nunito Sans" pitchFamily="34" charset="-120"/>
              </a:rPr>
              <a:t>4</a:t>
            </a:r>
            <a:endParaRPr lang="en-US" sz="1600" dirty="0"/>
          </a:p>
        </p:txBody>
      </p:sp>
      <p:sp>
        <p:nvSpPr>
          <p:cNvPr id="18" name="Text 16"/>
          <p:cNvSpPr/>
          <p:nvPr/>
        </p:nvSpPr>
        <p:spPr>
          <a:xfrm>
            <a:off x="9036050" y="2414191"/>
            <a:ext cx="222377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Wiederholen</a:t>
            </a:r>
            <a:endParaRPr lang="en-US" sz="1600" dirty="0"/>
          </a:p>
        </p:txBody>
      </p:sp>
      <p:sp>
        <p:nvSpPr>
          <p:cNvPr id="19" name="Text 17"/>
          <p:cNvSpPr/>
          <p:nvPr/>
        </p:nvSpPr>
        <p:spPr>
          <a:xfrm>
            <a:off x="9036050" y="2774851"/>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Mache weiter bei Schritt 2, bis alle Dörfer verbunden sind.</a:t>
            </a:r>
            <a:endParaRPr lang="en-US" sz="1200" dirty="0"/>
          </a:p>
        </p:txBody>
      </p:sp>
      <p:sp>
        <p:nvSpPr>
          <p:cNvPr id="20" name="Text 18"/>
          <p:cNvSpPr/>
          <p:nvPr/>
        </p:nvSpPr>
        <p:spPr>
          <a:xfrm>
            <a:off x="812800" y="4015482"/>
            <a:ext cx="10566400" cy="538460"/>
          </a:xfrm>
          <a:prstGeom prst="roundRect">
            <a:avLst>
              <a:gd name="adj" fmla="val 18869"/>
            </a:avLst>
          </a:prstGeom>
          <a:solidFill>
            <a:srgbClr val="E39A3B"/>
          </a:solidFill>
          <a:ln/>
        </p:spPr>
        <p:txBody>
          <a:bodyPr wrap="square" lIns="173442" tIns="97242" rIns="0" bIns="71842"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Kontrolle: Bei n Dörfern braucht das Netz genau n minus 1 Verbindungen.</a:t>
            </a:r>
            <a:endParaRPr lang="en-US" sz="1600" dirty="0"/>
          </a:p>
        </p:txBody>
      </p:sp>
      <p:sp>
        <p:nvSpPr>
          <p:cNvPr id="21" name="Text 1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22" name="Text 20"/>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Nunito Sans" pitchFamily="34" charset="0"/>
                <a:ea typeface="Nunito Sans" pitchFamily="34" charset="-122"/>
                <a:cs typeface="Nunito Sans" pitchFamily="34" charset="-120"/>
              </a:rPr>
              <a:t>PRIM AM BEISPIEL · AUSGANGSLAGE</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304D"/>
                </a:solidFill>
                <a:latin typeface="Domine" pitchFamily="18" charset="0"/>
                <a:ea typeface="Domine" pitchFamily="18" charset="-122"/>
                <a:cs typeface="Domine" pitchFamily="18" charset="-120"/>
              </a:rPr>
              <a:t>Ein Netz mit fünf Dörfern</a:t>
            </a:r>
            <a:endParaRPr lang="en-US" sz="3200" dirty="0"/>
          </a:p>
        </p:txBody>
      </p:sp>
      <p:pic>
        <p:nvPicPr>
          <p:cNvPr id="4" name="Image 0" descr="connector">    </p:cNvPr>
          <p:cNvPicPr>
            <a:picLocks noChangeAspect="1"/>
          </p:cNvPicPr>
          <p:nvPr/>
        </p:nvPicPr>
        <p:blipFill>
          <a:blip r:embed="rId1"/>
          <a:srcRect l="0" r="0" t="0" b="0"/>
          <a:stretch/>
        </p:blipFill>
        <p:spPr>
          <a:xfrm>
            <a:off x="1555750" y="2444750"/>
            <a:ext cx="2349500" cy="1714500"/>
          </a:xfrm>
          <a:prstGeom prst="rect">
            <a:avLst/>
          </a:prstGeom>
        </p:spPr>
      </p:pic>
      <p:pic>
        <p:nvPicPr>
          <p:cNvPr id="5" name="Image 1" descr="connector">    </p:cNvPr>
          <p:cNvPicPr>
            <a:picLocks noChangeAspect="1"/>
          </p:cNvPicPr>
          <p:nvPr/>
        </p:nvPicPr>
        <p:blipFill>
          <a:blip r:embed="rId2"/>
          <a:srcRect l="0" r="0" t="0" b="0"/>
          <a:stretch/>
        </p:blipFill>
        <p:spPr>
          <a:xfrm>
            <a:off x="1555750" y="3968750"/>
            <a:ext cx="2603500" cy="1333500"/>
          </a:xfrm>
          <a:prstGeom prst="rect">
            <a:avLst/>
          </a:prstGeom>
        </p:spPr>
      </p:pic>
      <p:pic>
        <p:nvPicPr>
          <p:cNvPr id="6" name="Image 2" descr="connector">    </p:cNvPr>
          <p:cNvPicPr>
            <a:picLocks noChangeAspect="1"/>
          </p:cNvPicPr>
          <p:nvPr/>
        </p:nvPicPr>
        <p:blipFill>
          <a:blip r:embed="rId3"/>
          <a:srcRect l="0" r="0" t="0" b="0"/>
          <a:stretch/>
        </p:blipFill>
        <p:spPr>
          <a:xfrm>
            <a:off x="3714750" y="2444750"/>
            <a:ext cx="444500" cy="2857500"/>
          </a:xfrm>
          <a:prstGeom prst="rect">
            <a:avLst/>
          </a:prstGeom>
        </p:spPr>
      </p:pic>
      <p:pic>
        <p:nvPicPr>
          <p:cNvPr id="7" name="Image 3" descr="connector">    </p:cNvPr>
          <p:cNvPicPr>
            <a:picLocks noChangeAspect="1"/>
          </p:cNvPicPr>
          <p:nvPr/>
        </p:nvPicPr>
        <p:blipFill>
          <a:blip r:embed="rId4"/>
          <a:srcRect l="0" r="0" t="0" b="0"/>
          <a:stretch/>
        </p:blipFill>
        <p:spPr>
          <a:xfrm>
            <a:off x="3714750" y="2444750"/>
            <a:ext cx="2794000" cy="952500"/>
          </a:xfrm>
          <a:prstGeom prst="rect">
            <a:avLst/>
          </a:prstGeom>
        </p:spPr>
      </p:pic>
      <p:pic>
        <p:nvPicPr>
          <p:cNvPr id="8" name="Image 4" descr="connector">    </p:cNvPr>
          <p:cNvPicPr>
            <a:picLocks noChangeAspect="1"/>
          </p:cNvPicPr>
          <p:nvPr/>
        </p:nvPicPr>
        <p:blipFill>
          <a:blip r:embed="rId5"/>
          <a:srcRect l="0" r="0" t="0" b="0"/>
          <a:stretch/>
        </p:blipFill>
        <p:spPr>
          <a:xfrm>
            <a:off x="3968750" y="3206750"/>
            <a:ext cx="2540000" cy="2095500"/>
          </a:xfrm>
          <a:prstGeom prst="rect">
            <a:avLst/>
          </a:prstGeom>
        </p:spPr>
      </p:pic>
      <p:pic>
        <p:nvPicPr>
          <p:cNvPr id="9" name="Image 5" descr="connector">    </p:cNvPr>
          <p:cNvPicPr>
            <a:picLocks noChangeAspect="1"/>
          </p:cNvPicPr>
          <p:nvPr/>
        </p:nvPicPr>
        <p:blipFill>
          <a:blip r:embed="rId6"/>
          <a:srcRect l="0" r="0" t="0" b="0"/>
          <a:stretch/>
        </p:blipFill>
        <p:spPr>
          <a:xfrm>
            <a:off x="3968750" y="5111750"/>
            <a:ext cx="3048000" cy="317500"/>
          </a:xfrm>
          <a:prstGeom prst="rect">
            <a:avLst/>
          </a:prstGeom>
        </p:spPr>
      </p:pic>
      <p:pic>
        <p:nvPicPr>
          <p:cNvPr id="10" name="Image 6" descr="connector">    </p:cNvPr>
          <p:cNvPicPr>
            <a:picLocks noChangeAspect="1"/>
          </p:cNvPicPr>
          <p:nvPr/>
        </p:nvPicPr>
        <p:blipFill>
          <a:blip r:embed="rId7"/>
          <a:srcRect l="0" r="0" t="0" b="0"/>
          <a:stretch/>
        </p:blipFill>
        <p:spPr>
          <a:xfrm>
            <a:off x="6318250" y="3206750"/>
            <a:ext cx="698500" cy="2222500"/>
          </a:xfrm>
          <a:prstGeom prst="rect">
            <a:avLst/>
          </a:prstGeom>
        </p:spPr>
      </p:pic>
      <p:sp>
        <p:nvSpPr>
          <p:cNvPr id="11" name="Text 2"/>
          <p:cNvSpPr/>
          <p:nvPr/>
        </p:nvSpPr>
        <p:spPr>
          <a:xfrm>
            <a:off x="2540000" y="3136900"/>
            <a:ext cx="381000" cy="330200"/>
          </a:xfrm>
          <a:custGeom>
            <a:avLst/>
            <a:gdLst/>
            <a:ahLst/>
            <a:cxnLst/>
            <a:rect l="l" t="t" r="r" b="b"/>
            <a:pathLst>
              <a:path w="381000" h="330200">
                <a:moveTo>
                  <a:pt x="76200" y="0"/>
                </a:moveTo>
                <a:lnTo>
                  <a:pt x="304800" y="0"/>
                </a:lnTo>
                <a:arcTo hR="76200" wR="76200" stAng="16200000" swAng="5400000"/>
                <a:lnTo>
                  <a:pt x="381000" y="254000"/>
                </a:lnTo>
                <a:arcTo hR="76200" wR="76200" stAng="0" swAng="5400000"/>
                <a:lnTo>
                  <a:pt x="76200" y="330200"/>
                </a:lnTo>
                <a:arcTo hR="76200" wR="76200" stAng="5400000" swAng="5400000"/>
                <a:lnTo>
                  <a:pt x="0" y="76200"/>
                </a:lnTo>
                <a:arcTo hR="76200" wR="76200" stAng="10800000" swAng="5400000"/>
                <a:close/>
              </a:path>
            </a:pathLst>
          </a:custGeom>
          <a:solidFill>
            <a:srgbClr val="F6F4EE"/>
          </a:solidFill>
          <a:ln/>
        </p:spPr>
        <p:txBody>
          <a:bodyPr wrap="square" lIns="0" tIns="0" rIns="0" bIns="0" rtlCol="0" anchor="t">
            <a:normAutofit/>
          </a:bodyPr>
          <a:lstStyle/>
          <a:p>
            <a:pPr algn="ctr" indent="0" marL="0">
              <a:lnSpc>
                <a:spcPts val="2608"/>
              </a:lnSpc>
              <a:buNone/>
            </a:pPr>
            <a:r>
              <a:rPr lang="en-US" sz="1600" b="1" dirty="0">
                <a:solidFill>
                  <a:srgbClr val="14304D"/>
                </a:solidFill>
                <a:latin typeface="Nunito Sans" pitchFamily="34" charset="0"/>
                <a:ea typeface="Nunito Sans" pitchFamily="34" charset="-122"/>
                <a:cs typeface="Nunito Sans" pitchFamily="34" charset="-120"/>
              </a:rPr>
              <a:t>4</a:t>
            </a:r>
            <a:endParaRPr lang="en-US" sz="1600" dirty="0"/>
          </a:p>
        </p:txBody>
      </p:sp>
      <p:sp>
        <p:nvSpPr>
          <p:cNvPr id="12" name="Text 3"/>
          <p:cNvSpPr/>
          <p:nvPr/>
        </p:nvSpPr>
        <p:spPr>
          <a:xfrm>
            <a:off x="2667000" y="4470400"/>
            <a:ext cx="381000" cy="330200"/>
          </a:xfrm>
          <a:custGeom>
            <a:avLst/>
            <a:gdLst/>
            <a:ahLst/>
            <a:cxnLst/>
            <a:rect l="l" t="t" r="r" b="b"/>
            <a:pathLst>
              <a:path w="381000" h="330200">
                <a:moveTo>
                  <a:pt x="76200" y="0"/>
                </a:moveTo>
                <a:lnTo>
                  <a:pt x="304800" y="0"/>
                </a:lnTo>
                <a:arcTo hR="76200" wR="76200" stAng="16200000" swAng="5400000"/>
                <a:lnTo>
                  <a:pt x="381000" y="254000"/>
                </a:lnTo>
                <a:arcTo hR="76200" wR="76200" stAng="0" swAng="5400000"/>
                <a:lnTo>
                  <a:pt x="76200" y="330200"/>
                </a:lnTo>
                <a:arcTo hR="76200" wR="76200" stAng="5400000" swAng="5400000"/>
                <a:lnTo>
                  <a:pt x="0" y="76200"/>
                </a:lnTo>
                <a:arcTo hR="76200" wR="76200" stAng="10800000" swAng="5400000"/>
                <a:close/>
              </a:path>
            </a:pathLst>
          </a:custGeom>
          <a:solidFill>
            <a:srgbClr val="F6F4EE"/>
          </a:solidFill>
          <a:ln/>
        </p:spPr>
        <p:txBody>
          <a:bodyPr wrap="square" lIns="0" tIns="0" rIns="0" bIns="0" rtlCol="0" anchor="t">
            <a:normAutofit/>
          </a:bodyPr>
          <a:lstStyle/>
          <a:p>
            <a:pPr algn="ctr" indent="0" marL="0">
              <a:lnSpc>
                <a:spcPts val="2608"/>
              </a:lnSpc>
              <a:buNone/>
            </a:pPr>
            <a:r>
              <a:rPr lang="en-US" sz="1600" b="1" dirty="0">
                <a:solidFill>
                  <a:srgbClr val="14304D"/>
                </a:solidFill>
                <a:latin typeface="Nunito Sans" pitchFamily="34" charset="0"/>
                <a:ea typeface="Nunito Sans" pitchFamily="34" charset="-122"/>
                <a:cs typeface="Nunito Sans" pitchFamily="34" charset="-120"/>
              </a:rPr>
              <a:t>2</a:t>
            </a:r>
            <a:endParaRPr lang="en-US" sz="1600" dirty="0"/>
          </a:p>
        </p:txBody>
      </p:sp>
      <p:sp>
        <p:nvSpPr>
          <p:cNvPr id="13" name="Text 4"/>
          <p:cNvSpPr/>
          <p:nvPr/>
        </p:nvSpPr>
        <p:spPr>
          <a:xfrm>
            <a:off x="3746500" y="3708400"/>
            <a:ext cx="381000" cy="330200"/>
          </a:xfrm>
          <a:custGeom>
            <a:avLst/>
            <a:gdLst/>
            <a:ahLst/>
            <a:cxnLst/>
            <a:rect l="l" t="t" r="r" b="b"/>
            <a:pathLst>
              <a:path w="381000" h="330200">
                <a:moveTo>
                  <a:pt x="76200" y="0"/>
                </a:moveTo>
                <a:lnTo>
                  <a:pt x="304800" y="0"/>
                </a:lnTo>
                <a:arcTo hR="76200" wR="76200" stAng="16200000" swAng="5400000"/>
                <a:lnTo>
                  <a:pt x="381000" y="254000"/>
                </a:lnTo>
                <a:arcTo hR="76200" wR="76200" stAng="0" swAng="5400000"/>
                <a:lnTo>
                  <a:pt x="76200" y="330200"/>
                </a:lnTo>
                <a:arcTo hR="76200" wR="76200" stAng="5400000" swAng="5400000"/>
                <a:lnTo>
                  <a:pt x="0" y="76200"/>
                </a:lnTo>
                <a:arcTo hR="76200" wR="76200" stAng="10800000" swAng="5400000"/>
                <a:close/>
              </a:path>
            </a:pathLst>
          </a:custGeom>
          <a:solidFill>
            <a:srgbClr val="F6F4EE"/>
          </a:solidFill>
          <a:ln/>
        </p:spPr>
        <p:txBody>
          <a:bodyPr wrap="square" lIns="0" tIns="0" rIns="0" bIns="0" rtlCol="0" anchor="t">
            <a:normAutofit/>
          </a:bodyPr>
          <a:lstStyle/>
          <a:p>
            <a:pPr algn="ctr" indent="0" marL="0">
              <a:lnSpc>
                <a:spcPts val="2608"/>
              </a:lnSpc>
              <a:buNone/>
            </a:pPr>
            <a:r>
              <a:rPr lang="en-US" sz="1600" b="1" dirty="0">
                <a:solidFill>
                  <a:srgbClr val="14304D"/>
                </a:solidFill>
                <a:latin typeface="Nunito Sans" pitchFamily="34" charset="0"/>
                <a:ea typeface="Nunito Sans" pitchFamily="34" charset="-122"/>
                <a:cs typeface="Nunito Sans" pitchFamily="34" charset="-120"/>
              </a:rPr>
              <a:t>5</a:t>
            </a:r>
            <a:endParaRPr lang="en-US" sz="1600" dirty="0"/>
          </a:p>
        </p:txBody>
      </p:sp>
      <p:sp>
        <p:nvSpPr>
          <p:cNvPr id="14" name="Text 5"/>
          <p:cNvSpPr/>
          <p:nvPr/>
        </p:nvSpPr>
        <p:spPr>
          <a:xfrm>
            <a:off x="4921250" y="2755900"/>
            <a:ext cx="381000" cy="330200"/>
          </a:xfrm>
          <a:custGeom>
            <a:avLst/>
            <a:gdLst/>
            <a:ahLst/>
            <a:cxnLst/>
            <a:rect l="l" t="t" r="r" b="b"/>
            <a:pathLst>
              <a:path w="381000" h="330200">
                <a:moveTo>
                  <a:pt x="76200" y="0"/>
                </a:moveTo>
                <a:lnTo>
                  <a:pt x="304800" y="0"/>
                </a:lnTo>
                <a:arcTo hR="76200" wR="76200" stAng="16200000" swAng="5400000"/>
                <a:lnTo>
                  <a:pt x="381000" y="254000"/>
                </a:lnTo>
                <a:arcTo hR="76200" wR="76200" stAng="0" swAng="5400000"/>
                <a:lnTo>
                  <a:pt x="76200" y="330200"/>
                </a:lnTo>
                <a:arcTo hR="76200" wR="76200" stAng="5400000" swAng="5400000"/>
                <a:lnTo>
                  <a:pt x="0" y="76200"/>
                </a:lnTo>
                <a:arcTo hR="76200" wR="76200" stAng="10800000" swAng="5400000"/>
                <a:close/>
              </a:path>
            </a:pathLst>
          </a:custGeom>
          <a:solidFill>
            <a:srgbClr val="F6F4EE"/>
          </a:solidFill>
          <a:ln/>
        </p:spPr>
        <p:txBody>
          <a:bodyPr wrap="square" lIns="0" tIns="0" rIns="0" bIns="0" rtlCol="0" anchor="t">
            <a:normAutofit/>
          </a:bodyPr>
          <a:lstStyle/>
          <a:p>
            <a:pPr algn="ctr" indent="0" marL="0">
              <a:lnSpc>
                <a:spcPts val="2608"/>
              </a:lnSpc>
              <a:buNone/>
            </a:pPr>
            <a:r>
              <a:rPr lang="en-US" sz="1600" b="1" dirty="0">
                <a:solidFill>
                  <a:srgbClr val="14304D"/>
                </a:solidFill>
                <a:latin typeface="Nunito Sans" pitchFamily="34" charset="0"/>
                <a:ea typeface="Nunito Sans" pitchFamily="34" charset="-122"/>
                <a:cs typeface="Nunito Sans" pitchFamily="34" charset="-120"/>
              </a:rPr>
              <a:t>3</a:t>
            </a:r>
            <a:endParaRPr lang="en-US" sz="1600" dirty="0"/>
          </a:p>
        </p:txBody>
      </p:sp>
      <p:sp>
        <p:nvSpPr>
          <p:cNvPr id="15" name="Text 6"/>
          <p:cNvSpPr/>
          <p:nvPr/>
        </p:nvSpPr>
        <p:spPr>
          <a:xfrm>
            <a:off x="5048250" y="4089400"/>
            <a:ext cx="381000" cy="330200"/>
          </a:xfrm>
          <a:custGeom>
            <a:avLst/>
            <a:gdLst/>
            <a:ahLst/>
            <a:cxnLst/>
            <a:rect l="l" t="t" r="r" b="b"/>
            <a:pathLst>
              <a:path w="381000" h="330200">
                <a:moveTo>
                  <a:pt x="76200" y="0"/>
                </a:moveTo>
                <a:lnTo>
                  <a:pt x="304800" y="0"/>
                </a:lnTo>
                <a:arcTo hR="76200" wR="76200" stAng="16200000" swAng="5400000"/>
                <a:lnTo>
                  <a:pt x="381000" y="254000"/>
                </a:lnTo>
                <a:arcTo hR="76200" wR="76200" stAng="0" swAng="5400000"/>
                <a:lnTo>
                  <a:pt x="76200" y="330200"/>
                </a:lnTo>
                <a:arcTo hR="76200" wR="76200" stAng="5400000" swAng="5400000"/>
                <a:lnTo>
                  <a:pt x="0" y="76200"/>
                </a:lnTo>
                <a:arcTo hR="76200" wR="76200" stAng="10800000" swAng="5400000"/>
                <a:close/>
              </a:path>
            </a:pathLst>
          </a:custGeom>
          <a:solidFill>
            <a:srgbClr val="F6F4EE"/>
          </a:solidFill>
          <a:ln/>
        </p:spPr>
        <p:txBody>
          <a:bodyPr wrap="square" lIns="0" tIns="0" rIns="0" bIns="0" rtlCol="0" anchor="t">
            <a:normAutofit/>
          </a:bodyPr>
          <a:lstStyle/>
          <a:p>
            <a:pPr algn="ctr" indent="0" marL="0">
              <a:lnSpc>
                <a:spcPts val="2608"/>
              </a:lnSpc>
              <a:buNone/>
            </a:pPr>
            <a:r>
              <a:rPr lang="en-US" sz="1600" b="1" dirty="0">
                <a:solidFill>
                  <a:srgbClr val="14304D"/>
                </a:solidFill>
                <a:latin typeface="Nunito Sans" pitchFamily="34" charset="0"/>
                <a:ea typeface="Nunito Sans" pitchFamily="34" charset="-122"/>
                <a:cs typeface="Nunito Sans" pitchFamily="34" charset="-120"/>
              </a:rPr>
              <a:t>6</a:t>
            </a:r>
            <a:endParaRPr lang="en-US" sz="1600" dirty="0"/>
          </a:p>
        </p:txBody>
      </p:sp>
      <p:sp>
        <p:nvSpPr>
          <p:cNvPr id="16" name="Text 7"/>
          <p:cNvSpPr/>
          <p:nvPr/>
        </p:nvSpPr>
        <p:spPr>
          <a:xfrm>
            <a:off x="5302250" y="5105400"/>
            <a:ext cx="381000" cy="330200"/>
          </a:xfrm>
          <a:custGeom>
            <a:avLst/>
            <a:gdLst/>
            <a:ahLst/>
            <a:cxnLst/>
            <a:rect l="l" t="t" r="r" b="b"/>
            <a:pathLst>
              <a:path w="381000" h="330200">
                <a:moveTo>
                  <a:pt x="76200" y="0"/>
                </a:moveTo>
                <a:lnTo>
                  <a:pt x="304800" y="0"/>
                </a:lnTo>
                <a:arcTo hR="76200" wR="76200" stAng="16200000" swAng="5400000"/>
                <a:lnTo>
                  <a:pt x="381000" y="254000"/>
                </a:lnTo>
                <a:arcTo hR="76200" wR="76200" stAng="0" swAng="5400000"/>
                <a:lnTo>
                  <a:pt x="76200" y="330200"/>
                </a:lnTo>
                <a:arcTo hR="76200" wR="76200" stAng="5400000" swAng="5400000"/>
                <a:lnTo>
                  <a:pt x="0" y="76200"/>
                </a:lnTo>
                <a:arcTo hR="76200" wR="76200" stAng="10800000" swAng="5400000"/>
                <a:close/>
              </a:path>
            </a:pathLst>
          </a:custGeom>
          <a:solidFill>
            <a:srgbClr val="F6F4EE"/>
          </a:solidFill>
          <a:ln/>
        </p:spPr>
        <p:txBody>
          <a:bodyPr wrap="square" lIns="0" tIns="0" rIns="0" bIns="0" rtlCol="0" anchor="t">
            <a:normAutofit/>
          </a:bodyPr>
          <a:lstStyle/>
          <a:p>
            <a:pPr algn="ctr" indent="0" marL="0">
              <a:lnSpc>
                <a:spcPts val="2608"/>
              </a:lnSpc>
              <a:buNone/>
            </a:pPr>
            <a:r>
              <a:rPr lang="en-US" sz="1600" b="1" dirty="0">
                <a:solidFill>
                  <a:srgbClr val="14304D"/>
                </a:solidFill>
                <a:latin typeface="Nunito Sans" pitchFamily="34" charset="0"/>
                <a:ea typeface="Nunito Sans" pitchFamily="34" charset="-122"/>
                <a:cs typeface="Nunito Sans" pitchFamily="34" charset="-120"/>
              </a:rPr>
              <a:t>4</a:t>
            </a:r>
            <a:endParaRPr lang="en-US" sz="1600" dirty="0"/>
          </a:p>
        </p:txBody>
      </p:sp>
      <p:sp>
        <p:nvSpPr>
          <p:cNvPr id="17" name="Text 8"/>
          <p:cNvSpPr/>
          <p:nvPr/>
        </p:nvSpPr>
        <p:spPr>
          <a:xfrm>
            <a:off x="6477000" y="4152900"/>
            <a:ext cx="381000" cy="330200"/>
          </a:xfrm>
          <a:custGeom>
            <a:avLst/>
            <a:gdLst/>
            <a:ahLst/>
            <a:cxnLst/>
            <a:rect l="l" t="t" r="r" b="b"/>
            <a:pathLst>
              <a:path w="381000" h="330200">
                <a:moveTo>
                  <a:pt x="76200" y="0"/>
                </a:moveTo>
                <a:lnTo>
                  <a:pt x="304800" y="0"/>
                </a:lnTo>
                <a:arcTo hR="76200" wR="76200" stAng="16200000" swAng="5400000"/>
                <a:lnTo>
                  <a:pt x="381000" y="254000"/>
                </a:lnTo>
                <a:arcTo hR="76200" wR="76200" stAng="0" swAng="5400000"/>
                <a:lnTo>
                  <a:pt x="76200" y="330200"/>
                </a:lnTo>
                <a:arcTo hR="76200" wR="76200" stAng="5400000" swAng="5400000"/>
                <a:lnTo>
                  <a:pt x="0" y="76200"/>
                </a:lnTo>
                <a:arcTo hR="76200" wR="76200" stAng="10800000" swAng="5400000"/>
                <a:close/>
              </a:path>
            </a:pathLst>
          </a:custGeom>
          <a:solidFill>
            <a:srgbClr val="F6F4EE"/>
          </a:solidFill>
          <a:ln/>
        </p:spPr>
        <p:txBody>
          <a:bodyPr wrap="square" lIns="0" tIns="0" rIns="0" bIns="0" rtlCol="0" anchor="t">
            <a:normAutofit/>
          </a:bodyPr>
          <a:lstStyle/>
          <a:p>
            <a:pPr algn="ctr" indent="0" marL="0">
              <a:lnSpc>
                <a:spcPts val="2608"/>
              </a:lnSpc>
              <a:buNone/>
            </a:pPr>
            <a:r>
              <a:rPr lang="en-US" sz="1600" b="1" dirty="0">
                <a:solidFill>
                  <a:srgbClr val="14304D"/>
                </a:solidFill>
                <a:latin typeface="Nunito Sans" pitchFamily="34" charset="0"/>
                <a:ea typeface="Nunito Sans" pitchFamily="34" charset="-122"/>
                <a:cs typeface="Nunito Sans" pitchFamily="34" charset="-120"/>
              </a:rPr>
              <a:t>7</a:t>
            </a:r>
            <a:endParaRPr lang="en-US" sz="1600" dirty="0"/>
          </a:p>
        </p:txBody>
      </p:sp>
      <p:sp>
        <p:nvSpPr>
          <p:cNvPr id="18" name="Text 9"/>
          <p:cNvSpPr/>
          <p:nvPr/>
        </p:nvSpPr>
        <p:spPr>
          <a:xfrm>
            <a:off x="1365250" y="3778250"/>
            <a:ext cx="571500" cy="571500"/>
          </a:xfrm>
          <a:custGeom>
            <a:avLst/>
            <a:gdLst/>
            <a:ahLst/>
            <a:cxnLst/>
            <a:rect l="l" t="t" r="r" b="b"/>
            <a:pathLst>
              <a:path w="571500" h="571500">
                <a:moveTo>
                  <a:pt x="285750" y="0"/>
                </a:moveTo>
                <a:lnTo>
                  <a:pt x="285750" y="0"/>
                </a:lnTo>
                <a:arcTo hR="285750" wR="285750" stAng="16200000" swAng="5400000"/>
                <a:lnTo>
                  <a:pt x="571500" y="285750"/>
                </a:lnTo>
                <a:arcTo hR="285750" wR="285750" stAng="0" swAng="5400000"/>
                <a:lnTo>
                  <a:pt x="285750" y="571500"/>
                </a:lnTo>
                <a:arcTo hR="285750" wR="285750" stAng="5400000" swAng="5400000"/>
                <a:lnTo>
                  <a:pt x="0" y="285750"/>
                </a:lnTo>
                <a:arcTo hR="285750" wR="285750" stAng="10800000" swAng="5400000"/>
                <a:close/>
              </a:path>
            </a:pathLst>
          </a:custGeom>
          <a:solidFill>
            <a:srgbClr val="0B6E6E"/>
          </a:solidFill>
          <a:ln w="38100">
            <a:solidFill>
              <a:srgbClr val="14304D"/>
            </a:solidFill>
            <a:prstDash val="solid"/>
          </a:ln>
        </p:spPr>
        <p:txBody>
          <a:bodyPr wrap="square" lIns="0" tIns="19050" rIns="0" bIns="0" rtlCol="0" anchor="t">
            <a:normAutofit/>
          </a:bodyPr>
          <a:lstStyle/>
          <a:p>
            <a:pPr algn="ctr" indent="0" marL="0">
              <a:lnSpc>
                <a:spcPts val="4202"/>
              </a:lnSpc>
              <a:buNone/>
            </a:pPr>
            <a:r>
              <a:rPr lang="en-US" sz="2200" b="1" dirty="0">
                <a:solidFill>
                  <a:srgbClr val="F6F4EE"/>
                </a:solidFill>
                <a:latin typeface="Nunito Sans" pitchFamily="34" charset="0"/>
                <a:ea typeface="Nunito Sans" pitchFamily="34" charset="-122"/>
                <a:cs typeface="Nunito Sans" pitchFamily="34" charset="-120"/>
              </a:rPr>
              <a:t>M</a:t>
            </a:r>
            <a:endParaRPr lang="en-US" sz="2200" dirty="0"/>
          </a:p>
        </p:txBody>
      </p:sp>
      <p:sp>
        <p:nvSpPr>
          <p:cNvPr id="19" name="Text 10"/>
          <p:cNvSpPr/>
          <p:nvPr/>
        </p:nvSpPr>
        <p:spPr>
          <a:xfrm>
            <a:off x="3524250" y="2254250"/>
            <a:ext cx="571500" cy="571500"/>
          </a:xfrm>
          <a:custGeom>
            <a:avLst/>
            <a:gdLst/>
            <a:ahLst/>
            <a:cxnLst/>
            <a:rect l="l" t="t" r="r" b="b"/>
            <a:pathLst>
              <a:path w="571500" h="571500">
                <a:moveTo>
                  <a:pt x="285750" y="0"/>
                </a:moveTo>
                <a:lnTo>
                  <a:pt x="285750" y="0"/>
                </a:lnTo>
                <a:arcTo hR="285750" wR="285750" stAng="16200000" swAng="5400000"/>
                <a:lnTo>
                  <a:pt x="571500" y="285750"/>
                </a:lnTo>
                <a:arcTo hR="285750" wR="285750" stAng="0" swAng="5400000"/>
                <a:lnTo>
                  <a:pt x="285750" y="571500"/>
                </a:lnTo>
                <a:arcTo hR="285750" wR="285750" stAng="5400000" swAng="5400000"/>
                <a:lnTo>
                  <a:pt x="0" y="285750"/>
                </a:lnTo>
                <a:arcTo hR="285750" wR="285750" stAng="10800000" swAng="5400000"/>
                <a:close/>
              </a:path>
            </a:pathLst>
          </a:custGeom>
          <a:solidFill>
            <a:srgbClr val="FCFBF7"/>
          </a:solidFill>
          <a:ln w="38100">
            <a:solidFill>
              <a:srgbClr val="14304D"/>
            </a:solidFill>
            <a:prstDash val="solid"/>
          </a:ln>
        </p:spPr>
        <p:txBody>
          <a:bodyPr wrap="square" lIns="0" tIns="19050" rIns="0" bIns="0" rtlCol="0" anchor="t">
            <a:normAutofit/>
          </a:bodyPr>
          <a:lstStyle/>
          <a:p>
            <a:pPr algn="ctr" indent="0" marL="0">
              <a:lnSpc>
                <a:spcPts val="4202"/>
              </a:lnSpc>
              <a:buNone/>
            </a:pPr>
            <a:r>
              <a:rPr lang="en-US" sz="2200" b="1" dirty="0">
                <a:solidFill>
                  <a:srgbClr val="14304D"/>
                </a:solidFill>
                <a:latin typeface="Nunito Sans" pitchFamily="34" charset="0"/>
                <a:ea typeface="Nunito Sans" pitchFamily="34" charset="-122"/>
                <a:cs typeface="Nunito Sans" pitchFamily="34" charset="-120"/>
              </a:rPr>
              <a:t>N</a:t>
            </a:r>
            <a:endParaRPr lang="en-US" sz="2200" dirty="0"/>
          </a:p>
        </p:txBody>
      </p:sp>
      <p:sp>
        <p:nvSpPr>
          <p:cNvPr id="20" name="Text 11"/>
          <p:cNvSpPr/>
          <p:nvPr/>
        </p:nvSpPr>
        <p:spPr>
          <a:xfrm>
            <a:off x="3778250" y="4921250"/>
            <a:ext cx="571500" cy="571500"/>
          </a:xfrm>
          <a:custGeom>
            <a:avLst/>
            <a:gdLst/>
            <a:ahLst/>
            <a:cxnLst/>
            <a:rect l="l" t="t" r="r" b="b"/>
            <a:pathLst>
              <a:path w="571500" h="571500">
                <a:moveTo>
                  <a:pt x="285750" y="0"/>
                </a:moveTo>
                <a:lnTo>
                  <a:pt x="285750" y="0"/>
                </a:lnTo>
                <a:arcTo hR="285750" wR="285750" stAng="16200000" swAng="5400000"/>
                <a:lnTo>
                  <a:pt x="571500" y="285750"/>
                </a:lnTo>
                <a:arcTo hR="285750" wR="285750" stAng="0" swAng="5400000"/>
                <a:lnTo>
                  <a:pt x="285750" y="571500"/>
                </a:lnTo>
                <a:arcTo hR="285750" wR="285750" stAng="5400000" swAng="5400000"/>
                <a:lnTo>
                  <a:pt x="0" y="285750"/>
                </a:lnTo>
                <a:arcTo hR="285750" wR="285750" stAng="10800000" swAng="5400000"/>
                <a:close/>
              </a:path>
            </a:pathLst>
          </a:custGeom>
          <a:solidFill>
            <a:srgbClr val="FCFBF7"/>
          </a:solidFill>
          <a:ln w="38100">
            <a:solidFill>
              <a:srgbClr val="14304D"/>
            </a:solidFill>
            <a:prstDash val="solid"/>
          </a:ln>
        </p:spPr>
        <p:txBody>
          <a:bodyPr wrap="square" lIns="0" tIns="19050" rIns="0" bIns="0" rtlCol="0" anchor="t">
            <a:normAutofit/>
          </a:bodyPr>
          <a:lstStyle/>
          <a:p>
            <a:pPr algn="ctr" indent="0" marL="0">
              <a:lnSpc>
                <a:spcPts val="4202"/>
              </a:lnSpc>
              <a:buNone/>
            </a:pPr>
            <a:r>
              <a:rPr lang="en-US" sz="2200" b="1" dirty="0">
                <a:solidFill>
                  <a:srgbClr val="14304D"/>
                </a:solidFill>
                <a:latin typeface="Nunito Sans" pitchFamily="34" charset="0"/>
                <a:ea typeface="Nunito Sans" pitchFamily="34" charset="-122"/>
                <a:cs typeface="Nunito Sans" pitchFamily="34" charset="-120"/>
              </a:rPr>
              <a:t>O</a:t>
            </a:r>
            <a:endParaRPr lang="en-US" sz="2200" dirty="0"/>
          </a:p>
        </p:txBody>
      </p:sp>
      <p:sp>
        <p:nvSpPr>
          <p:cNvPr id="21" name="Text 12"/>
          <p:cNvSpPr/>
          <p:nvPr/>
        </p:nvSpPr>
        <p:spPr>
          <a:xfrm>
            <a:off x="6127750" y="3016250"/>
            <a:ext cx="571500" cy="571500"/>
          </a:xfrm>
          <a:custGeom>
            <a:avLst/>
            <a:gdLst/>
            <a:ahLst/>
            <a:cxnLst/>
            <a:rect l="l" t="t" r="r" b="b"/>
            <a:pathLst>
              <a:path w="571500" h="571500">
                <a:moveTo>
                  <a:pt x="285750" y="0"/>
                </a:moveTo>
                <a:lnTo>
                  <a:pt x="285750" y="0"/>
                </a:lnTo>
                <a:arcTo hR="285750" wR="285750" stAng="16200000" swAng="5400000"/>
                <a:lnTo>
                  <a:pt x="571500" y="285750"/>
                </a:lnTo>
                <a:arcTo hR="285750" wR="285750" stAng="0" swAng="5400000"/>
                <a:lnTo>
                  <a:pt x="285750" y="571500"/>
                </a:lnTo>
                <a:arcTo hR="285750" wR="285750" stAng="5400000" swAng="5400000"/>
                <a:lnTo>
                  <a:pt x="0" y="285750"/>
                </a:lnTo>
                <a:arcTo hR="285750" wR="285750" stAng="10800000" swAng="5400000"/>
                <a:close/>
              </a:path>
            </a:pathLst>
          </a:custGeom>
          <a:solidFill>
            <a:srgbClr val="FCFBF7"/>
          </a:solidFill>
          <a:ln w="38100">
            <a:solidFill>
              <a:srgbClr val="14304D"/>
            </a:solidFill>
            <a:prstDash val="solid"/>
          </a:ln>
        </p:spPr>
        <p:txBody>
          <a:bodyPr wrap="square" lIns="0" tIns="19050" rIns="0" bIns="0" rtlCol="0" anchor="t">
            <a:normAutofit/>
          </a:bodyPr>
          <a:lstStyle/>
          <a:p>
            <a:pPr algn="ctr" indent="0" marL="0">
              <a:lnSpc>
                <a:spcPts val="4202"/>
              </a:lnSpc>
              <a:buNone/>
            </a:pPr>
            <a:r>
              <a:rPr lang="en-US" sz="2200" b="1" dirty="0">
                <a:solidFill>
                  <a:srgbClr val="14304D"/>
                </a:solidFill>
                <a:latin typeface="Nunito Sans" pitchFamily="34" charset="0"/>
                <a:ea typeface="Nunito Sans" pitchFamily="34" charset="-122"/>
                <a:cs typeface="Nunito Sans" pitchFamily="34" charset="-120"/>
              </a:rPr>
              <a:t>P</a:t>
            </a:r>
            <a:endParaRPr lang="en-US" sz="2200" dirty="0"/>
          </a:p>
        </p:txBody>
      </p:sp>
      <p:sp>
        <p:nvSpPr>
          <p:cNvPr id="22" name="Text 13"/>
          <p:cNvSpPr/>
          <p:nvPr/>
        </p:nvSpPr>
        <p:spPr>
          <a:xfrm>
            <a:off x="6635750" y="5048250"/>
            <a:ext cx="571500" cy="571500"/>
          </a:xfrm>
          <a:custGeom>
            <a:avLst/>
            <a:gdLst/>
            <a:ahLst/>
            <a:cxnLst/>
            <a:rect l="l" t="t" r="r" b="b"/>
            <a:pathLst>
              <a:path w="571500" h="571500">
                <a:moveTo>
                  <a:pt x="285750" y="0"/>
                </a:moveTo>
                <a:lnTo>
                  <a:pt x="285750" y="0"/>
                </a:lnTo>
                <a:arcTo hR="285750" wR="285750" stAng="16200000" swAng="5400000"/>
                <a:lnTo>
                  <a:pt x="571500" y="285750"/>
                </a:lnTo>
                <a:arcTo hR="285750" wR="285750" stAng="0" swAng="5400000"/>
                <a:lnTo>
                  <a:pt x="285750" y="571500"/>
                </a:lnTo>
                <a:arcTo hR="285750" wR="285750" stAng="5400000" swAng="5400000"/>
                <a:lnTo>
                  <a:pt x="0" y="285750"/>
                </a:lnTo>
                <a:arcTo hR="285750" wR="285750" stAng="10800000" swAng="5400000"/>
                <a:close/>
              </a:path>
            </a:pathLst>
          </a:custGeom>
          <a:solidFill>
            <a:srgbClr val="FCFBF7"/>
          </a:solidFill>
          <a:ln w="38100">
            <a:solidFill>
              <a:srgbClr val="14304D"/>
            </a:solidFill>
            <a:prstDash val="solid"/>
          </a:ln>
        </p:spPr>
        <p:txBody>
          <a:bodyPr wrap="square" lIns="0" tIns="19050" rIns="0" bIns="0" rtlCol="0" anchor="t">
            <a:normAutofit/>
          </a:bodyPr>
          <a:lstStyle/>
          <a:p>
            <a:pPr algn="ctr" indent="0" marL="0">
              <a:lnSpc>
                <a:spcPts val="4202"/>
              </a:lnSpc>
              <a:buNone/>
            </a:pPr>
            <a:r>
              <a:rPr lang="en-US" sz="2200" b="1" dirty="0">
                <a:solidFill>
                  <a:srgbClr val="14304D"/>
                </a:solidFill>
                <a:latin typeface="Nunito Sans" pitchFamily="34" charset="0"/>
                <a:ea typeface="Nunito Sans" pitchFamily="34" charset="-122"/>
                <a:cs typeface="Nunito Sans" pitchFamily="34" charset="-120"/>
              </a:rPr>
              <a:t>Q</a:t>
            </a:r>
            <a:endParaRPr lang="en-US" sz="2200" dirty="0"/>
          </a:p>
        </p:txBody>
      </p:sp>
      <p:sp>
        <p:nvSpPr>
          <p:cNvPr id="23" name="Text 14"/>
          <p:cNvSpPr/>
          <p:nvPr/>
        </p:nvSpPr>
        <p:spPr>
          <a:xfrm>
            <a:off x="1244600" y="4445000"/>
            <a:ext cx="812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Start</a:t>
            </a:r>
            <a:endParaRPr lang="en-US" sz="1200" dirty="0"/>
          </a:p>
        </p:txBody>
      </p:sp>
      <p:sp>
        <p:nvSpPr>
          <p:cNvPr id="24" name="Text 15"/>
          <p:cNvSpPr/>
          <p:nvPr/>
        </p:nvSpPr>
        <p:spPr>
          <a:xfrm>
            <a:off x="7937500" y="2032000"/>
            <a:ext cx="3544951"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304D"/>
                </a:solidFill>
                <a:latin typeface="Domine" pitchFamily="18" charset="0"/>
                <a:ea typeface="Domine" pitchFamily="18" charset="-122"/>
                <a:cs typeface="Domine" pitchFamily="18" charset="-120"/>
              </a:rPr>
              <a:t>Aufgabe</a:t>
            </a:r>
            <a:endParaRPr lang="en-US" sz="2200" dirty="0"/>
          </a:p>
        </p:txBody>
      </p:sp>
      <p:sp>
        <p:nvSpPr>
          <p:cNvPr id="25" name="Text 16"/>
          <p:cNvSpPr/>
          <p:nvPr/>
        </p:nvSpPr>
        <p:spPr>
          <a:xfrm>
            <a:off x="7937500" y="2494260"/>
            <a:ext cx="3544951"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Verbindet alle fünf Dörfer so günstig wie möglich.</a:t>
            </a:r>
            <a:endParaRPr lang="en-US" sz="1600" dirty="0"/>
          </a:p>
        </p:txBody>
      </p:sp>
      <p:sp>
        <p:nvSpPr>
          <p:cNvPr id="26" name="Text 17"/>
          <p:cNvSpPr/>
          <p:nvPr/>
        </p:nvSpPr>
        <p:spPr>
          <a:xfrm>
            <a:off x="7937500" y="3190180"/>
            <a:ext cx="3544951"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Die Zahlen geben die Kosten der Verbindungen an.</a:t>
            </a:r>
            <a:endParaRPr lang="en-US" sz="1600" dirty="0"/>
          </a:p>
        </p:txBody>
      </p:sp>
      <p:sp>
        <p:nvSpPr>
          <p:cNvPr id="27" name="Text 18"/>
          <p:cNvSpPr/>
          <p:nvPr/>
        </p:nvSpPr>
        <p:spPr>
          <a:xfrm>
            <a:off x="7937500" y="3886101"/>
            <a:ext cx="3544951"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E6E"/>
                </a:solidFill>
                <a:latin typeface="Nunito Sans" pitchFamily="34" charset="0"/>
                <a:ea typeface="Nunito Sans" pitchFamily="34" charset="-122"/>
                <a:cs typeface="Nunito Sans" pitchFamily="34" charset="-120"/>
              </a:rPr>
              <a:t>Wir starten bei Dorf M.</a:t>
            </a:r>
            <a:endParaRPr lang="en-US" sz="1600" dirty="0"/>
          </a:p>
        </p:txBody>
      </p:sp>
      <p:sp>
        <p:nvSpPr>
          <p:cNvPr id="28" name="Text 1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29" name="Text 20"/>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Nunito Sans" pitchFamily="34" charset="0"/>
                <a:ea typeface="Nunito Sans" pitchFamily="34" charset="-122"/>
                <a:cs typeface="Nunito Sans" pitchFamily="34" charset="-120"/>
              </a:rPr>
              <a:t>PRIM AM BEISPIEL · SCHRITT 2</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304D"/>
                </a:solidFill>
                <a:latin typeface="Domine" pitchFamily="18" charset="0"/>
                <a:ea typeface="Domine" pitchFamily="18" charset="-122"/>
                <a:cs typeface="Domine" pitchFamily="18" charset="-120"/>
              </a:rPr>
              <a:t>Das Netz wächst</a:t>
            </a:r>
            <a:endParaRPr lang="en-US" sz="3200" dirty="0"/>
          </a:p>
        </p:txBody>
      </p:sp>
      <p:pic>
        <p:nvPicPr>
          <p:cNvPr id="4" name="Image 0" descr="connector">    </p:cNvPr>
          <p:cNvPicPr>
            <a:picLocks noChangeAspect="1"/>
          </p:cNvPicPr>
          <p:nvPr/>
        </p:nvPicPr>
        <p:blipFill>
          <a:blip r:embed="rId1"/>
          <a:srcRect l="0" r="0" t="0" b="0"/>
          <a:stretch/>
        </p:blipFill>
        <p:spPr>
          <a:xfrm>
            <a:off x="3714750" y="2444750"/>
            <a:ext cx="2794000" cy="952500"/>
          </a:xfrm>
          <a:prstGeom prst="rect">
            <a:avLst/>
          </a:prstGeom>
        </p:spPr>
      </p:pic>
      <p:pic>
        <p:nvPicPr>
          <p:cNvPr id="5" name="Image 1" descr="connector">    </p:cNvPr>
          <p:cNvPicPr>
            <a:picLocks noChangeAspect="1"/>
          </p:cNvPicPr>
          <p:nvPr/>
        </p:nvPicPr>
        <p:blipFill>
          <a:blip r:embed="rId2"/>
          <a:srcRect l="0" r="0" t="0" b="0"/>
          <a:stretch/>
        </p:blipFill>
        <p:spPr>
          <a:xfrm>
            <a:off x="6318250" y="3206750"/>
            <a:ext cx="698500" cy="2222500"/>
          </a:xfrm>
          <a:prstGeom prst="rect">
            <a:avLst/>
          </a:prstGeom>
        </p:spPr>
      </p:pic>
      <p:pic>
        <p:nvPicPr>
          <p:cNvPr id="6" name="Image 2" descr="connector">    </p:cNvPr>
          <p:cNvPicPr>
            <a:picLocks noChangeAspect="1"/>
          </p:cNvPicPr>
          <p:nvPr/>
        </p:nvPicPr>
        <p:blipFill>
          <a:blip r:embed="rId3"/>
          <a:srcRect l="0" r="0" t="0" b="0"/>
          <a:stretch/>
        </p:blipFill>
        <p:spPr>
          <a:xfrm>
            <a:off x="1504950" y="2393950"/>
            <a:ext cx="2451100" cy="1816100"/>
          </a:xfrm>
          <a:prstGeom prst="rect">
            <a:avLst/>
          </a:prstGeom>
        </p:spPr>
      </p:pic>
      <p:pic>
        <p:nvPicPr>
          <p:cNvPr id="7" name="Image 3" descr="connector">    </p:cNvPr>
          <p:cNvPicPr>
            <a:picLocks noChangeAspect="1"/>
          </p:cNvPicPr>
          <p:nvPr/>
        </p:nvPicPr>
        <p:blipFill>
          <a:blip r:embed="rId4"/>
          <a:srcRect l="0" r="0" t="0" b="0"/>
          <a:stretch/>
        </p:blipFill>
        <p:spPr>
          <a:xfrm>
            <a:off x="3663950" y="2393950"/>
            <a:ext cx="546100" cy="2959100"/>
          </a:xfrm>
          <a:prstGeom prst="rect">
            <a:avLst/>
          </a:prstGeom>
        </p:spPr>
      </p:pic>
      <p:pic>
        <p:nvPicPr>
          <p:cNvPr id="8" name="Image 4" descr="connector">    </p:cNvPr>
          <p:cNvPicPr>
            <a:picLocks noChangeAspect="1"/>
          </p:cNvPicPr>
          <p:nvPr/>
        </p:nvPicPr>
        <p:blipFill>
          <a:blip r:embed="rId5"/>
          <a:srcRect l="0" r="0" t="0" b="0"/>
          <a:stretch/>
        </p:blipFill>
        <p:spPr>
          <a:xfrm>
            <a:off x="3917950" y="3155950"/>
            <a:ext cx="2641600" cy="2197100"/>
          </a:xfrm>
          <a:prstGeom prst="rect">
            <a:avLst/>
          </a:prstGeom>
        </p:spPr>
      </p:pic>
      <p:pic>
        <p:nvPicPr>
          <p:cNvPr id="9" name="Image 5" descr="connector">    </p:cNvPr>
          <p:cNvPicPr>
            <a:picLocks noChangeAspect="1"/>
          </p:cNvPicPr>
          <p:nvPr/>
        </p:nvPicPr>
        <p:blipFill>
          <a:blip r:embed="rId6"/>
          <a:srcRect l="0" r="0" t="0" b="0"/>
          <a:stretch/>
        </p:blipFill>
        <p:spPr>
          <a:xfrm>
            <a:off x="3917950" y="5060950"/>
            <a:ext cx="3149600" cy="419100"/>
          </a:xfrm>
          <a:prstGeom prst="rect">
            <a:avLst/>
          </a:prstGeom>
        </p:spPr>
      </p:pic>
      <p:pic>
        <p:nvPicPr>
          <p:cNvPr id="10" name="Image 6" descr="connector">    </p:cNvPr>
          <p:cNvPicPr>
            <a:picLocks noChangeAspect="1"/>
          </p:cNvPicPr>
          <p:nvPr/>
        </p:nvPicPr>
        <p:blipFill>
          <a:blip r:embed="rId7"/>
          <a:srcRect l="0" r="0" t="0" b="0"/>
          <a:stretch/>
        </p:blipFill>
        <p:spPr>
          <a:xfrm>
            <a:off x="1447800" y="3860800"/>
            <a:ext cx="2819400" cy="1549400"/>
          </a:xfrm>
          <a:prstGeom prst="rect">
            <a:avLst/>
          </a:prstGeom>
        </p:spPr>
      </p:pic>
      <p:sp>
        <p:nvSpPr>
          <p:cNvPr id="11" name="Text 2"/>
          <p:cNvSpPr/>
          <p:nvPr/>
        </p:nvSpPr>
        <p:spPr>
          <a:xfrm>
            <a:off x="2540000" y="3136900"/>
            <a:ext cx="381000" cy="330200"/>
          </a:xfrm>
          <a:custGeom>
            <a:avLst/>
            <a:gdLst/>
            <a:ahLst/>
            <a:cxnLst/>
            <a:rect l="l" t="t" r="r" b="b"/>
            <a:pathLst>
              <a:path w="381000" h="330200">
                <a:moveTo>
                  <a:pt x="76200" y="0"/>
                </a:moveTo>
                <a:lnTo>
                  <a:pt x="304800" y="0"/>
                </a:lnTo>
                <a:arcTo hR="76200" wR="76200" stAng="16200000" swAng="5400000"/>
                <a:lnTo>
                  <a:pt x="381000" y="254000"/>
                </a:lnTo>
                <a:arcTo hR="76200" wR="76200" stAng="0" swAng="5400000"/>
                <a:lnTo>
                  <a:pt x="76200" y="330200"/>
                </a:lnTo>
                <a:arcTo hR="76200" wR="76200" stAng="5400000" swAng="5400000"/>
                <a:lnTo>
                  <a:pt x="0" y="76200"/>
                </a:lnTo>
                <a:arcTo hR="76200" wR="76200" stAng="10800000" swAng="5400000"/>
                <a:close/>
              </a:path>
            </a:pathLst>
          </a:custGeom>
          <a:solidFill>
            <a:srgbClr val="F6F4EE"/>
          </a:solidFill>
          <a:ln/>
        </p:spPr>
        <p:txBody>
          <a:bodyPr wrap="square" lIns="0" tIns="0" rIns="0" bIns="0" rtlCol="0" anchor="t">
            <a:normAutofit/>
          </a:bodyPr>
          <a:lstStyle/>
          <a:p>
            <a:pPr algn="ctr" indent="0" marL="0">
              <a:lnSpc>
                <a:spcPts val="2608"/>
              </a:lnSpc>
              <a:buNone/>
            </a:pPr>
            <a:r>
              <a:rPr lang="en-US" sz="1600" b="1" dirty="0">
                <a:solidFill>
                  <a:srgbClr val="14304D"/>
                </a:solidFill>
                <a:latin typeface="Nunito Sans" pitchFamily="34" charset="0"/>
                <a:ea typeface="Nunito Sans" pitchFamily="34" charset="-122"/>
                <a:cs typeface="Nunito Sans" pitchFamily="34" charset="-120"/>
              </a:rPr>
              <a:t>4</a:t>
            </a:r>
            <a:endParaRPr lang="en-US" sz="1600" dirty="0"/>
          </a:p>
        </p:txBody>
      </p:sp>
      <p:sp>
        <p:nvSpPr>
          <p:cNvPr id="12" name="Text 3"/>
          <p:cNvSpPr/>
          <p:nvPr/>
        </p:nvSpPr>
        <p:spPr>
          <a:xfrm>
            <a:off x="2667000" y="4470400"/>
            <a:ext cx="381000" cy="330200"/>
          </a:xfrm>
          <a:custGeom>
            <a:avLst/>
            <a:gdLst/>
            <a:ahLst/>
            <a:cxnLst/>
            <a:rect l="l" t="t" r="r" b="b"/>
            <a:pathLst>
              <a:path w="381000" h="330200">
                <a:moveTo>
                  <a:pt x="76200" y="0"/>
                </a:moveTo>
                <a:lnTo>
                  <a:pt x="304800" y="0"/>
                </a:lnTo>
                <a:arcTo hR="76200" wR="76200" stAng="16200000" swAng="5400000"/>
                <a:lnTo>
                  <a:pt x="381000" y="254000"/>
                </a:lnTo>
                <a:arcTo hR="76200" wR="76200" stAng="0" swAng="5400000"/>
                <a:lnTo>
                  <a:pt x="76200" y="330200"/>
                </a:lnTo>
                <a:arcTo hR="76200" wR="76200" stAng="5400000" swAng="5400000"/>
                <a:lnTo>
                  <a:pt x="0" y="76200"/>
                </a:lnTo>
                <a:arcTo hR="76200" wR="76200" stAng="10800000" swAng="5400000"/>
                <a:close/>
              </a:path>
            </a:pathLst>
          </a:custGeom>
          <a:solidFill>
            <a:srgbClr val="F6F4EE"/>
          </a:solidFill>
          <a:ln/>
        </p:spPr>
        <p:txBody>
          <a:bodyPr wrap="square" lIns="0" tIns="0" rIns="0" bIns="0" rtlCol="0" anchor="t">
            <a:normAutofit/>
          </a:bodyPr>
          <a:lstStyle/>
          <a:p>
            <a:pPr algn="ctr" indent="0" marL="0">
              <a:lnSpc>
                <a:spcPts val="2608"/>
              </a:lnSpc>
              <a:buNone/>
            </a:pPr>
            <a:r>
              <a:rPr lang="en-US" sz="1600" b="1" dirty="0">
                <a:solidFill>
                  <a:srgbClr val="14304D"/>
                </a:solidFill>
                <a:latin typeface="Nunito Sans" pitchFamily="34" charset="0"/>
                <a:ea typeface="Nunito Sans" pitchFamily="34" charset="-122"/>
                <a:cs typeface="Nunito Sans" pitchFamily="34" charset="-120"/>
              </a:rPr>
              <a:t>2</a:t>
            </a:r>
            <a:endParaRPr lang="en-US" sz="1600" dirty="0"/>
          </a:p>
        </p:txBody>
      </p:sp>
      <p:sp>
        <p:nvSpPr>
          <p:cNvPr id="13" name="Text 4"/>
          <p:cNvSpPr/>
          <p:nvPr/>
        </p:nvSpPr>
        <p:spPr>
          <a:xfrm>
            <a:off x="3746500" y="3708400"/>
            <a:ext cx="381000" cy="330200"/>
          </a:xfrm>
          <a:custGeom>
            <a:avLst/>
            <a:gdLst/>
            <a:ahLst/>
            <a:cxnLst/>
            <a:rect l="l" t="t" r="r" b="b"/>
            <a:pathLst>
              <a:path w="381000" h="330200">
                <a:moveTo>
                  <a:pt x="76200" y="0"/>
                </a:moveTo>
                <a:lnTo>
                  <a:pt x="304800" y="0"/>
                </a:lnTo>
                <a:arcTo hR="76200" wR="76200" stAng="16200000" swAng="5400000"/>
                <a:lnTo>
                  <a:pt x="381000" y="254000"/>
                </a:lnTo>
                <a:arcTo hR="76200" wR="76200" stAng="0" swAng="5400000"/>
                <a:lnTo>
                  <a:pt x="76200" y="330200"/>
                </a:lnTo>
                <a:arcTo hR="76200" wR="76200" stAng="5400000" swAng="5400000"/>
                <a:lnTo>
                  <a:pt x="0" y="76200"/>
                </a:lnTo>
                <a:arcTo hR="76200" wR="76200" stAng="10800000" swAng="5400000"/>
                <a:close/>
              </a:path>
            </a:pathLst>
          </a:custGeom>
          <a:solidFill>
            <a:srgbClr val="F6F4EE"/>
          </a:solidFill>
          <a:ln/>
        </p:spPr>
        <p:txBody>
          <a:bodyPr wrap="square" lIns="0" tIns="0" rIns="0" bIns="0" rtlCol="0" anchor="t">
            <a:normAutofit/>
          </a:bodyPr>
          <a:lstStyle/>
          <a:p>
            <a:pPr algn="ctr" indent="0" marL="0">
              <a:lnSpc>
                <a:spcPts val="2608"/>
              </a:lnSpc>
              <a:buNone/>
            </a:pPr>
            <a:r>
              <a:rPr lang="en-US" sz="1600" b="1" dirty="0">
                <a:solidFill>
                  <a:srgbClr val="14304D"/>
                </a:solidFill>
                <a:latin typeface="Nunito Sans" pitchFamily="34" charset="0"/>
                <a:ea typeface="Nunito Sans" pitchFamily="34" charset="-122"/>
                <a:cs typeface="Nunito Sans" pitchFamily="34" charset="-120"/>
              </a:rPr>
              <a:t>5</a:t>
            </a:r>
            <a:endParaRPr lang="en-US" sz="1600" dirty="0"/>
          </a:p>
        </p:txBody>
      </p:sp>
      <p:sp>
        <p:nvSpPr>
          <p:cNvPr id="14" name="Text 5"/>
          <p:cNvSpPr/>
          <p:nvPr/>
        </p:nvSpPr>
        <p:spPr>
          <a:xfrm>
            <a:off x="4921250" y="2755900"/>
            <a:ext cx="381000" cy="330200"/>
          </a:xfrm>
          <a:custGeom>
            <a:avLst/>
            <a:gdLst/>
            <a:ahLst/>
            <a:cxnLst/>
            <a:rect l="l" t="t" r="r" b="b"/>
            <a:pathLst>
              <a:path w="381000" h="330200">
                <a:moveTo>
                  <a:pt x="76200" y="0"/>
                </a:moveTo>
                <a:lnTo>
                  <a:pt x="304800" y="0"/>
                </a:lnTo>
                <a:arcTo hR="76200" wR="76200" stAng="16200000" swAng="5400000"/>
                <a:lnTo>
                  <a:pt x="381000" y="254000"/>
                </a:lnTo>
                <a:arcTo hR="76200" wR="76200" stAng="0" swAng="5400000"/>
                <a:lnTo>
                  <a:pt x="76200" y="330200"/>
                </a:lnTo>
                <a:arcTo hR="76200" wR="76200" stAng="5400000" swAng="5400000"/>
                <a:lnTo>
                  <a:pt x="0" y="76200"/>
                </a:lnTo>
                <a:arcTo hR="76200" wR="76200" stAng="10800000" swAng="5400000"/>
                <a:close/>
              </a:path>
            </a:pathLst>
          </a:custGeom>
          <a:solidFill>
            <a:srgbClr val="F6F4EE"/>
          </a:solidFill>
          <a:ln/>
        </p:spPr>
        <p:txBody>
          <a:bodyPr wrap="square" lIns="0" tIns="0" rIns="0" bIns="0" rtlCol="0" anchor="t">
            <a:normAutofit/>
          </a:bodyPr>
          <a:lstStyle/>
          <a:p>
            <a:pPr algn="ctr" indent="0" marL="0">
              <a:lnSpc>
                <a:spcPts val="2608"/>
              </a:lnSpc>
              <a:buNone/>
            </a:pPr>
            <a:r>
              <a:rPr lang="en-US" sz="1600" b="1" dirty="0">
                <a:solidFill>
                  <a:srgbClr val="14304D"/>
                </a:solidFill>
                <a:latin typeface="Nunito Sans" pitchFamily="34" charset="0"/>
                <a:ea typeface="Nunito Sans" pitchFamily="34" charset="-122"/>
                <a:cs typeface="Nunito Sans" pitchFamily="34" charset="-120"/>
              </a:rPr>
              <a:t>3</a:t>
            </a:r>
            <a:endParaRPr lang="en-US" sz="1600" dirty="0"/>
          </a:p>
        </p:txBody>
      </p:sp>
      <p:sp>
        <p:nvSpPr>
          <p:cNvPr id="15" name="Text 6"/>
          <p:cNvSpPr/>
          <p:nvPr/>
        </p:nvSpPr>
        <p:spPr>
          <a:xfrm>
            <a:off x="5048250" y="4089400"/>
            <a:ext cx="381000" cy="330200"/>
          </a:xfrm>
          <a:custGeom>
            <a:avLst/>
            <a:gdLst/>
            <a:ahLst/>
            <a:cxnLst/>
            <a:rect l="l" t="t" r="r" b="b"/>
            <a:pathLst>
              <a:path w="381000" h="330200">
                <a:moveTo>
                  <a:pt x="76200" y="0"/>
                </a:moveTo>
                <a:lnTo>
                  <a:pt x="304800" y="0"/>
                </a:lnTo>
                <a:arcTo hR="76200" wR="76200" stAng="16200000" swAng="5400000"/>
                <a:lnTo>
                  <a:pt x="381000" y="254000"/>
                </a:lnTo>
                <a:arcTo hR="76200" wR="76200" stAng="0" swAng="5400000"/>
                <a:lnTo>
                  <a:pt x="76200" y="330200"/>
                </a:lnTo>
                <a:arcTo hR="76200" wR="76200" stAng="5400000" swAng="5400000"/>
                <a:lnTo>
                  <a:pt x="0" y="76200"/>
                </a:lnTo>
                <a:arcTo hR="76200" wR="76200" stAng="10800000" swAng="5400000"/>
                <a:close/>
              </a:path>
            </a:pathLst>
          </a:custGeom>
          <a:solidFill>
            <a:srgbClr val="F6F4EE"/>
          </a:solidFill>
          <a:ln/>
        </p:spPr>
        <p:txBody>
          <a:bodyPr wrap="square" lIns="0" tIns="0" rIns="0" bIns="0" rtlCol="0" anchor="t">
            <a:normAutofit/>
          </a:bodyPr>
          <a:lstStyle/>
          <a:p>
            <a:pPr algn="ctr" indent="0" marL="0">
              <a:lnSpc>
                <a:spcPts val="2608"/>
              </a:lnSpc>
              <a:buNone/>
            </a:pPr>
            <a:r>
              <a:rPr lang="en-US" sz="1600" b="1" dirty="0">
                <a:solidFill>
                  <a:srgbClr val="14304D"/>
                </a:solidFill>
                <a:latin typeface="Nunito Sans" pitchFamily="34" charset="0"/>
                <a:ea typeface="Nunito Sans" pitchFamily="34" charset="-122"/>
                <a:cs typeface="Nunito Sans" pitchFamily="34" charset="-120"/>
              </a:rPr>
              <a:t>6</a:t>
            </a:r>
            <a:endParaRPr lang="en-US" sz="1600" dirty="0"/>
          </a:p>
        </p:txBody>
      </p:sp>
      <p:sp>
        <p:nvSpPr>
          <p:cNvPr id="16" name="Text 7"/>
          <p:cNvSpPr/>
          <p:nvPr/>
        </p:nvSpPr>
        <p:spPr>
          <a:xfrm>
            <a:off x="5302250" y="5105400"/>
            <a:ext cx="381000" cy="330200"/>
          </a:xfrm>
          <a:custGeom>
            <a:avLst/>
            <a:gdLst/>
            <a:ahLst/>
            <a:cxnLst/>
            <a:rect l="l" t="t" r="r" b="b"/>
            <a:pathLst>
              <a:path w="381000" h="330200">
                <a:moveTo>
                  <a:pt x="76200" y="0"/>
                </a:moveTo>
                <a:lnTo>
                  <a:pt x="304800" y="0"/>
                </a:lnTo>
                <a:arcTo hR="76200" wR="76200" stAng="16200000" swAng="5400000"/>
                <a:lnTo>
                  <a:pt x="381000" y="254000"/>
                </a:lnTo>
                <a:arcTo hR="76200" wR="76200" stAng="0" swAng="5400000"/>
                <a:lnTo>
                  <a:pt x="76200" y="330200"/>
                </a:lnTo>
                <a:arcTo hR="76200" wR="76200" stAng="5400000" swAng="5400000"/>
                <a:lnTo>
                  <a:pt x="0" y="76200"/>
                </a:lnTo>
                <a:arcTo hR="76200" wR="76200" stAng="10800000" swAng="5400000"/>
                <a:close/>
              </a:path>
            </a:pathLst>
          </a:custGeom>
          <a:solidFill>
            <a:srgbClr val="F6F4EE"/>
          </a:solidFill>
          <a:ln/>
        </p:spPr>
        <p:txBody>
          <a:bodyPr wrap="square" lIns="0" tIns="0" rIns="0" bIns="0" rtlCol="0" anchor="t">
            <a:normAutofit/>
          </a:bodyPr>
          <a:lstStyle/>
          <a:p>
            <a:pPr algn="ctr" indent="0" marL="0">
              <a:lnSpc>
                <a:spcPts val="2608"/>
              </a:lnSpc>
              <a:buNone/>
            </a:pPr>
            <a:r>
              <a:rPr lang="en-US" sz="1600" b="1" dirty="0">
                <a:solidFill>
                  <a:srgbClr val="14304D"/>
                </a:solidFill>
                <a:latin typeface="Nunito Sans" pitchFamily="34" charset="0"/>
                <a:ea typeface="Nunito Sans" pitchFamily="34" charset="-122"/>
                <a:cs typeface="Nunito Sans" pitchFamily="34" charset="-120"/>
              </a:rPr>
              <a:t>4</a:t>
            </a:r>
            <a:endParaRPr lang="en-US" sz="1600" dirty="0"/>
          </a:p>
        </p:txBody>
      </p:sp>
      <p:sp>
        <p:nvSpPr>
          <p:cNvPr id="17" name="Text 8"/>
          <p:cNvSpPr/>
          <p:nvPr/>
        </p:nvSpPr>
        <p:spPr>
          <a:xfrm>
            <a:off x="6477000" y="4152900"/>
            <a:ext cx="381000" cy="330200"/>
          </a:xfrm>
          <a:custGeom>
            <a:avLst/>
            <a:gdLst/>
            <a:ahLst/>
            <a:cxnLst/>
            <a:rect l="l" t="t" r="r" b="b"/>
            <a:pathLst>
              <a:path w="381000" h="330200">
                <a:moveTo>
                  <a:pt x="76200" y="0"/>
                </a:moveTo>
                <a:lnTo>
                  <a:pt x="304800" y="0"/>
                </a:lnTo>
                <a:arcTo hR="76200" wR="76200" stAng="16200000" swAng="5400000"/>
                <a:lnTo>
                  <a:pt x="381000" y="254000"/>
                </a:lnTo>
                <a:arcTo hR="76200" wR="76200" stAng="0" swAng="5400000"/>
                <a:lnTo>
                  <a:pt x="76200" y="330200"/>
                </a:lnTo>
                <a:arcTo hR="76200" wR="76200" stAng="5400000" swAng="5400000"/>
                <a:lnTo>
                  <a:pt x="0" y="76200"/>
                </a:lnTo>
                <a:arcTo hR="76200" wR="76200" stAng="10800000" swAng="5400000"/>
                <a:close/>
              </a:path>
            </a:pathLst>
          </a:custGeom>
          <a:solidFill>
            <a:srgbClr val="F6F4EE"/>
          </a:solidFill>
          <a:ln/>
        </p:spPr>
        <p:txBody>
          <a:bodyPr wrap="square" lIns="0" tIns="0" rIns="0" bIns="0" rtlCol="0" anchor="t">
            <a:normAutofit/>
          </a:bodyPr>
          <a:lstStyle/>
          <a:p>
            <a:pPr algn="ctr" indent="0" marL="0">
              <a:lnSpc>
                <a:spcPts val="2608"/>
              </a:lnSpc>
              <a:buNone/>
            </a:pPr>
            <a:r>
              <a:rPr lang="en-US" sz="1600" b="1" dirty="0">
                <a:solidFill>
                  <a:srgbClr val="14304D"/>
                </a:solidFill>
                <a:latin typeface="Nunito Sans" pitchFamily="34" charset="0"/>
                <a:ea typeface="Nunito Sans" pitchFamily="34" charset="-122"/>
                <a:cs typeface="Nunito Sans" pitchFamily="34" charset="-120"/>
              </a:rPr>
              <a:t>7</a:t>
            </a:r>
            <a:endParaRPr lang="en-US" sz="1600" dirty="0"/>
          </a:p>
        </p:txBody>
      </p:sp>
      <p:sp>
        <p:nvSpPr>
          <p:cNvPr id="18" name="Text 9"/>
          <p:cNvSpPr/>
          <p:nvPr/>
        </p:nvSpPr>
        <p:spPr>
          <a:xfrm>
            <a:off x="1365250" y="3778250"/>
            <a:ext cx="571500" cy="571500"/>
          </a:xfrm>
          <a:custGeom>
            <a:avLst/>
            <a:gdLst/>
            <a:ahLst/>
            <a:cxnLst/>
            <a:rect l="l" t="t" r="r" b="b"/>
            <a:pathLst>
              <a:path w="571500" h="571500">
                <a:moveTo>
                  <a:pt x="285750" y="0"/>
                </a:moveTo>
                <a:lnTo>
                  <a:pt x="285750" y="0"/>
                </a:lnTo>
                <a:arcTo hR="285750" wR="285750" stAng="16200000" swAng="5400000"/>
                <a:lnTo>
                  <a:pt x="571500" y="285750"/>
                </a:lnTo>
                <a:arcTo hR="285750" wR="285750" stAng="0" swAng="5400000"/>
                <a:lnTo>
                  <a:pt x="285750" y="571500"/>
                </a:lnTo>
                <a:arcTo hR="285750" wR="285750" stAng="5400000" swAng="5400000"/>
                <a:lnTo>
                  <a:pt x="0" y="285750"/>
                </a:lnTo>
                <a:arcTo hR="285750" wR="285750" stAng="10800000" swAng="5400000"/>
                <a:close/>
              </a:path>
            </a:pathLst>
          </a:custGeom>
          <a:solidFill>
            <a:srgbClr val="0B6E6E"/>
          </a:solidFill>
          <a:ln w="38100">
            <a:solidFill>
              <a:srgbClr val="14304D"/>
            </a:solidFill>
            <a:prstDash val="solid"/>
          </a:ln>
        </p:spPr>
        <p:txBody>
          <a:bodyPr wrap="square" lIns="0" tIns="19050" rIns="0" bIns="0" rtlCol="0" anchor="t">
            <a:normAutofit/>
          </a:bodyPr>
          <a:lstStyle/>
          <a:p>
            <a:pPr algn="ctr" indent="0" marL="0">
              <a:lnSpc>
                <a:spcPts val="4202"/>
              </a:lnSpc>
              <a:buNone/>
            </a:pPr>
            <a:r>
              <a:rPr lang="en-US" sz="2200" b="1" dirty="0">
                <a:solidFill>
                  <a:srgbClr val="F6F4EE"/>
                </a:solidFill>
                <a:latin typeface="Nunito Sans" pitchFamily="34" charset="0"/>
                <a:ea typeface="Nunito Sans" pitchFamily="34" charset="-122"/>
                <a:cs typeface="Nunito Sans" pitchFamily="34" charset="-120"/>
              </a:rPr>
              <a:t>M</a:t>
            </a:r>
            <a:endParaRPr lang="en-US" sz="2200" dirty="0"/>
          </a:p>
        </p:txBody>
      </p:sp>
      <p:sp>
        <p:nvSpPr>
          <p:cNvPr id="19" name="Text 10"/>
          <p:cNvSpPr/>
          <p:nvPr/>
        </p:nvSpPr>
        <p:spPr>
          <a:xfrm>
            <a:off x="3524250" y="2254250"/>
            <a:ext cx="571500" cy="571500"/>
          </a:xfrm>
          <a:custGeom>
            <a:avLst/>
            <a:gdLst/>
            <a:ahLst/>
            <a:cxnLst/>
            <a:rect l="l" t="t" r="r" b="b"/>
            <a:pathLst>
              <a:path w="571500" h="571500">
                <a:moveTo>
                  <a:pt x="285750" y="0"/>
                </a:moveTo>
                <a:lnTo>
                  <a:pt x="285750" y="0"/>
                </a:lnTo>
                <a:arcTo hR="285750" wR="285750" stAng="16200000" swAng="5400000"/>
                <a:lnTo>
                  <a:pt x="571500" y="285750"/>
                </a:lnTo>
                <a:arcTo hR="285750" wR="285750" stAng="0" swAng="5400000"/>
                <a:lnTo>
                  <a:pt x="285750" y="571500"/>
                </a:lnTo>
                <a:arcTo hR="285750" wR="285750" stAng="5400000" swAng="5400000"/>
                <a:lnTo>
                  <a:pt x="0" y="285750"/>
                </a:lnTo>
                <a:arcTo hR="285750" wR="285750" stAng="10800000" swAng="5400000"/>
                <a:close/>
              </a:path>
            </a:pathLst>
          </a:custGeom>
          <a:solidFill>
            <a:srgbClr val="FCFBF7"/>
          </a:solidFill>
          <a:ln w="38100">
            <a:solidFill>
              <a:srgbClr val="14304D"/>
            </a:solidFill>
            <a:prstDash val="solid"/>
          </a:ln>
        </p:spPr>
        <p:txBody>
          <a:bodyPr wrap="square" lIns="0" tIns="19050" rIns="0" bIns="0" rtlCol="0" anchor="t">
            <a:normAutofit/>
          </a:bodyPr>
          <a:lstStyle/>
          <a:p>
            <a:pPr algn="ctr" indent="0" marL="0">
              <a:lnSpc>
                <a:spcPts val="4202"/>
              </a:lnSpc>
              <a:buNone/>
            </a:pPr>
            <a:r>
              <a:rPr lang="en-US" sz="2200" b="1" dirty="0">
                <a:solidFill>
                  <a:srgbClr val="14304D"/>
                </a:solidFill>
                <a:latin typeface="Nunito Sans" pitchFamily="34" charset="0"/>
                <a:ea typeface="Nunito Sans" pitchFamily="34" charset="-122"/>
                <a:cs typeface="Nunito Sans" pitchFamily="34" charset="-120"/>
              </a:rPr>
              <a:t>N</a:t>
            </a:r>
            <a:endParaRPr lang="en-US" sz="2200" dirty="0"/>
          </a:p>
        </p:txBody>
      </p:sp>
      <p:sp>
        <p:nvSpPr>
          <p:cNvPr id="20" name="Text 11"/>
          <p:cNvSpPr/>
          <p:nvPr/>
        </p:nvSpPr>
        <p:spPr>
          <a:xfrm>
            <a:off x="3778250" y="4921250"/>
            <a:ext cx="571500" cy="571500"/>
          </a:xfrm>
          <a:custGeom>
            <a:avLst/>
            <a:gdLst/>
            <a:ahLst/>
            <a:cxnLst/>
            <a:rect l="l" t="t" r="r" b="b"/>
            <a:pathLst>
              <a:path w="571500" h="571500">
                <a:moveTo>
                  <a:pt x="285750" y="0"/>
                </a:moveTo>
                <a:lnTo>
                  <a:pt x="285750" y="0"/>
                </a:lnTo>
                <a:arcTo hR="285750" wR="285750" stAng="16200000" swAng="5400000"/>
                <a:lnTo>
                  <a:pt x="571500" y="285750"/>
                </a:lnTo>
                <a:arcTo hR="285750" wR="285750" stAng="0" swAng="5400000"/>
                <a:lnTo>
                  <a:pt x="285750" y="571500"/>
                </a:lnTo>
                <a:arcTo hR="285750" wR="285750" stAng="5400000" swAng="5400000"/>
                <a:lnTo>
                  <a:pt x="0" y="285750"/>
                </a:lnTo>
                <a:arcTo hR="285750" wR="285750" stAng="10800000" swAng="5400000"/>
                <a:close/>
              </a:path>
            </a:pathLst>
          </a:custGeom>
          <a:solidFill>
            <a:srgbClr val="0B6E6E"/>
          </a:solidFill>
          <a:ln w="38100">
            <a:solidFill>
              <a:srgbClr val="14304D"/>
            </a:solidFill>
            <a:prstDash val="solid"/>
          </a:ln>
        </p:spPr>
        <p:txBody>
          <a:bodyPr wrap="square" lIns="0" tIns="19050" rIns="0" bIns="0" rtlCol="0" anchor="t">
            <a:normAutofit/>
          </a:bodyPr>
          <a:lstStyle/>
          <a:p>
            <a:pPr algn="ctr" indent="0" marL="0">
              <a:lnSpc>
                <a:spcPts val="4202"/>
              </a:lnSpc>
              <a:buNone/>
            </a:pPr>
            <a:r>
              <a:rPr lang="en-US" sz="2200" b="1" dirty="0">
                <a:solidFill>
                  <a:srgbClr val="F6F4EE"/>
                </a:solidFill>
                <a:latin typeface="Nunito Sans" pitchFamily="34" charset="0"/>
                <a:ea typeface="Nunito Sans" pitchFamily="34" charset="-122"/>
                <a:cs typeface="Nunito Sans" pitchFamily="34" charset="-120"/>
              </a:rPr>
              <a:t>O</a:t>
            </a:r>
            <a:endParaRPr lang="en-US" sz="2200" dirty="0"/>
          </a:p>
        </p:txBody>
      </p:sp>
      <p:sp>
        <p:nvSpPr>
          <p:cNvPr id="21" name="Text 12"/>
          <p:cNvSpPr/>
          <p:nvPr/>
        </p:nvSpPr>
        <p:spPr>
          <a:xfrm>
            <a:off x="6127750" y="3016250"/>
            <a:ext cx="571500" cy="571500"/>
          </a:xfrm>
          <a:custGeom>
            <a:avLst/>
            <a:gdLst/>
            <a:ahLst/>
            <a:cxnLst/>
            <a:rect l="l" t="t" r="r" b="b"/>
            <a:pathLst>
              <a:path w="571500" h="571500">
                <a:moveTo>
                  <a:pt x="285750" y="0"/>
                </a:moveTo>
                <a:lnTo>
                  <a:pt x="285750" y="0"/>
                </a:lnTo>
                <a:arcTo hR="285750" wR="285750" stAng="16200000" swAng="5400000"/>
                <a:lnTo>
                  <a:pt x="571500" y="285750"/>
                </a:lnTo>
                <a:arcTo hR="285750" wR="285750" stAng="0" swAng="5400000"/>
                <a:lnTo>
                  <a:pt x="285750" y="571500"/>
                </a:lnTo>
                <a:arcTo hR="285750" wR="285750" stAng="5400000" swAng="5400000"/>
                <a:lnTo>
                  <a:pt x="0" y="285750"/>
                </a:lnTo>
                <a:arcTo hR="285750" wR="285750" stAng="10800000" swAng="5400000"/>
                <a:close/>
              </a:path>
            </a:pathLst>
          </a:custGeom>
          <a:solidFill>
            <a:srgbClr val="FCFBF7"/>
          </a:solidFill>
          <a:ln w="38100">
            <a:solidFill>
              <a:srgbClr val="14304D"/>
            </a:solidFill>
            <a:prstDash val="solid"/>
          </a:ln>
        </p:spPr>
        <p:txBody>
          <a:bodyPr wrap="square" lIns="0" tIns="19050" rIns="0" bIns="0" rtlCol="0" anchor="t">
            <a:normAutofit/>
          </a:bodyPr>
          <a:lstStyle/>
          <a:p>
            <a:pPr algn="ctr" indent="0" marL="0">
              <a:lnSpc>
                <a:spcPts val="4202"/>
              </a:lnSpc>
              <a:buNone/>
            </a:pPr>
            <a:r>
              <a:rPr lang="en-US" sz="2200" b="1" dirty="0">
                <a:solidFill>
                  <a:srgbClr val="14304D"/>
                </a:solidFill>
                <a:latin typeface="Nunito Sans" pitchFamily="34" charset="0"/>
                <a:ea typeface="Nunito Sans" pitchFamily="34" charset="-122"/>
                <a:cs typeface="Nunito Sans" pitchFamily="34" charset="-120"/>
              </a:rPr>
              <a:t>P</a:t>
            </a:r>
            <a:endParaRPr lang="en-US" sz="2200" dirty="0"/>
          </a:p>
        </p:txBody>
      </p:sp>
      <p:sp>
        <p:nvSpPr>
          <p:cNvPr id="22" name="Text 13"/>
          <p:cNvSpPr/>
          <p:nvPr/>
        </p:nvSpPr>
        <p:spPr>
          <a:xfrm>
            <a:off x="6635750" y="5048250"/>
            <a:ext cx="571500" cy="571500"/>
          </a:xfrm>
          <a:custGeom>
            <a:avLst/>
            <a:gdLst/>
            <a:ahLst/>
            <a:cxnLst/>
            <a:rect l="l" t="t" r="r" b="b"/>
            <a:pathLst>
              <a:path w="571500" h="571500">
                <a:moveTo>
                  <a:pt x="285750" y="0"/>
                </a:moveTo>
                <a:lnTo>
                  <a:pt x="285750" y="0"/>
                </a:lnTo>
                <a:arcTo hR="285750" wR="285750" stAng="16200000" swAng="5400000"/>
                <a:lnTo>
                  <a:pt x="571500" y="285750"/>
                </a:lnTo>
                <a:arcTo hR="285750" wR="285750" stAng="0" swAng="5400000"/>
                <a:lnTo>
                  <a:pt x="285750" y="571500"/>
                </a:lnTo>
                <a:arcTo hR="285750" wR="285750" stAng="5400000" swAng="5400000"/>
                <a:lnTo>
                  <a:pt x="0" y="285750"/>
                </a:lnTo>
                <a:arcTo hR="285750" wR="285750" stAng="10800000" swAng="5400000"/>
                <a:close/>
              </a:path>
            </a:pathLst>
          </a:custGeom>
          <a:solidFill>
            <a:srgbClr val="FCFBF7"/>
          </a:solidFill>
          <a:ln w="38100">
            <a:solidFill>
              <a:srgbClr val="14304D"/>
            </a:solidFill>
            <a:prstDash val="solid"/>
          </a:ln>
        </p:spPr>
        <p:txBody>
          <a:bodyPr wrap="square" lIns="0" tIns="19050" rIns="0" bIns="0" rtlCol="0" anchor="t">
            <a:normAutofit/>
          </a:bodyPr>
          <a:lstStyle/>
          <a:p>
            <a:pPr algn="ctr" indent="0" marL="0">
              <a:lnSpc>
                <a:spcPts val="4202"/>
              </a:lnSpc>
              <a:buNone/>
            </a:pPr>
            <a:r>
              <a:rPr lang="en-US" sz="2200" b="1" dirty="0">
                <a:solidFill>
                  <a:srgbClr val="14304D"/>
                </a:solidFill>
                <a:latin typeface="Nunito Sans" pitchFamily="34" charset="0"/>
                <a:ea typeface="Nunito Sans" pitchFamily="34" charset="-122"/>
                <a:cs typeface="Nunito Sans" pitchFamily="34" charset="-120"/>
              </a:rPr>
              <a:t>Q</a:t>
            </a:r>
            <a:endParaRPr lang="en-US" sz="2200" dirty="0"/>
          </a:p>
        </p:txBody>
      </p:sp>
      <p:sp>
        <p:nvSpPr>
          <p:cNvPr id="23" name="Text 14"/>
          <p:cNvSpPr/>
          <p:nvPr/>
        </p:nvSpPr>
        <p:spPr>
          <a:xfrm>
            <a:off x="7937500" y="2032000"/>
            <a:ext cx="3544951"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E6E"/>
                </a:solidFill>
                <a:latin typeface="Nunito Sans" pitchFamily="34" charset="0"/>
                <a:ea typeface="Nunito Sans" pitchFamily="34" charset="-122"/>
                <a:cs typeface="Nunito Sans" pitchFamily="34" charset="-120"/>
              </a:rPr>
              <a:t>Netz: M und O (M-O kostet 2)</a:t>
            </a:r>
            <a:endParaRPr lang="en-US" sz="1600" dirty="0"/>
          </a:p>
        </p:txBody>
      </p:sp>
      <p:sp>
        <p:nvSpPr>
          <p:cNvPr id="24" name="Text 15"/>
          <p:cNvSpPr/>
          <p:nvPr/>
        </p:nvSpPr>
        <p:spPr>
          <a:xfrm>
            <a:off x="7937500" y="2443460"/>
            <a:ext cx="3544951"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Orange: mögliche Verbindungen nach aussen: M-N 4, N-O 5, O-P 6, O-Q 4.</a:t>
            </a:r>
            <a:endParaRPr lang="en-US" sz="1600" dirty="0"/>
          </a:p>
        </p:txBody>
      </p:sp>
      <p:sp>
        <p:nvSpPr>
          <p:cNvPr id="25" name="Text 16"/>
          <p:cNvSpPr/>
          <p:nvPr/>
        </p:nvSpPr>
        <p:spPr>
          <a:xfrm>
            <a:off x="7937500" y="3139380"/>
            <a:ext cx="3544951"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M-N und O-Q kosten je 4. Gleichstand: beides ist richtig.</a:t>
            </a:r>
            <a:endParaRPr lang="en-US" sz="1600" dirty="0"/>
          </a:p>
        </p:txBody>
      </p:sp>
      <p:sp>
        <p:nvSpPr>
          <p:cNvPr id="26" name="Text 17"/>
          <p:cNvSpPr/>
          <p:nvPr/>
        </p:nvSpPr>
        <p:spPr>
          <a:xfrm>
            <a:off x="7937500" y="3835301"/>
            <a:ext cx="3544951"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Wir wählen M-N.</a:t>
            </a:r>
            <a:endParaRPr lang="en-US" sz="1600" dirty="0"/>
          </a:p>
        </p:txBody>
      </p:sp>
      <p:sp>
        <p:nvSpPr>
          <p:cNvPr id="27" name="Text 18"/>
          <p:cNvSpPr/>
          <p:nvPr/>
        </p:nvSpPr>
        <p:spPr>
          <a:xfrm>
            <a:off x="7937500" y="4246761"/>
            <a:ext cx="354495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N-P (3) ist billiger, geht aber nicht vom Netz aus. Darum zählt sie jetzt noch nicht.</a:t>
            </a:r>
            <a:endParaRPr lang="en-US" sz="1200" dirty="0"/>
          </a:p>
        </p:txBody>
      </p:sp>
      <p:sp>
        <p:nvSpPr>
          <p:cNvPr id="28" name="Text 1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29" name="Text 20"/>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Nunito Sans" pitchFamily="34" charset="0"/>
                <a:ea typeface="Nunito Sans" pitchFamily="34" charset="-122"/>
                <a:cs typeface="Nunito Sans" pitchFamily="34" charset="-120"/>
              </a:rPr>
              <a:t>PRIM AM BEISPIEL · SCHRITT 3 UND 4</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304D"/>
                </a:solidFill>
                <a:latin typeface="Domine" pitchFamily="18" charset="0"/>
                <a:ea typeface="Domine" pitchFamily="18" charset="-122"/>
                <a:cs typeface="Domine" pitchFamily="18" charset="-120"/>
              </a:rPr>
              <a:t>Weiter, bis alle verbunden sind</a:t>
            </a:r>
            <a:endParaRPr lang="en-US" sz="3200" dirty="0"/>
          </a:p>
        </p:txBody>
      </p:sp>
      <p:pic>
        <p:nvPicPr>
          <p:cNvPr id="4" name="Image 0" descr="connector">    </p:cNvPr>
          <p:cNvPicPr>
            <a:picLocks noChangeAspect="1"/>
          </p:cNvPicPr>
          <p:nvPr/>
        </p:nvPicPr>
        <p:blipFill>
          <a:blip r:embed="rId1"/>
          <a:srcRect l="0" r="0" t="0" b="0"/>
          <a:stretch/>
        </p:blipFill>
        <p:spPr>
          <a:xfrm>
            <a:off x="6318250" y="3206750"/>
            <a:ext cx="698500" cy="2222500"/>
          </a:xfrm>
          <a:prstGeom prst="rect">
            <a:avLst/>
          </a:prstGeom>
        </p:spPr>
      </p:pic>
      <p:pic>
        <p:nvPicPr>
          <p:cNvPr id="5" name="Image 1" descr="connector">    </p:cNvPr>
          <p:cNvPicPr>
            <a:picLocks noChangeAspect="1"/>
          </p:cNvPicPr>
          <p:nvPr/>
        </p:nvPicPr>
        <p:blipFill>
          <a:blip r:embed="rId2"/>
          <a:srcRect l="0" r="0" t="0" b="0"/>
          <a:stretch/>
        </p:blipFill>
        <p:spPr>
          <a:xfrm>
            <a:off x="3746500" y="2476500"/>
            <a:ext cx="381000" cy="2794000"/>
          </a:xfrm>
          <a:prstGeom prst="rect">
            <a:avLst/>
          </a:prstGeom>
        </p:spPr>
      </p:pic>
      <p:pic>
        <p:nvPicPr>
          <p:cNvPr id="6" name="Image 2" descr="connector">    </p:cNvPr>
          <p:cNvPicPr>
            <a:picLocks noChangeAspect="1"/>
          </p:cNvPicPr>
          <p:nvPr/>
        </p:nvPicPr>
        <p:blipFill>
          <a:blip r:embed="rId3"/>
          <a:srcRect l="0" r="0" t="0" b="0"/>
          <a:stretch/>
        </p:blipFill>
        <p:spPr>
          <a:xfrm>
            <a:off x="3663950" y="2393950"/>
            <a:ext cx="2895600" cy="1054100"/>
          </a:xfrm>
          <a:prstGeom prst="rect">
            <a:avLst/>
          </a:prstGeom>
        </p:spPr>
      </p:pic>
      <p:pic>
        <p:nvPicPr>
          <p:cNvPr id="7" name="Image 3" descr="connector">    </p:cNvPr>
          <p:cNvPicPr>
            <a:picLocks noChangeAspect="1"/>
          </p:cNvPicPr>
          <p:nvPr/>
        </p:nvPicPr>
        <p:blipFill>
          <a:blip r:embed="rId4"/>
          <a:srcRect l="0" r="0" t="0" b="0"/>
          <a:stretch/>
        </p:blipFill>
        <p:spPr>
          <a:xfrm>
            <a:off x="3917950" y="3155950"/>
            <a:ext cx="2641600" cy="2197100"/>
          </a:xfrm>
          <a:prstGeom prst="rect">
            <a:avLst/>
          </a:prstGeom>
        </p:spPr>
      </p:pic>
      <p:pic>
        <p:nvPicPr>
          <p:cNvPr id="8" name="Image 4" descr="connector">    </p:cNvPr>
          <p:cNvPicPr>
            <a:picLocks noChangeAspect="1"/>
          </p:cNvPicPr>
          <p:nvPr/>
        </p:nvPicPr>
        <p:blipFill>
          <a:blip r:embed="rId5"/>
          <a:srcRect l="0" r="0" t="0" b="0"/>
          <a:stretch/>
        </p:blipFill>
        <p:spPr>
          <a:xfrm>
            <a:off x="3917950" y="5060950"/>
            <a:ext cx="3149600" cy="419100"/>
          </a:xfrm>
          <a:prstGeom prst="rect">
            <a:avLst/>
          </a:prstGeom>
        </p:spPr>
      </p:pic>
      <p:pic>
        <p:nvPicPr>
          <p:cNvPr id="9" name="Image 5" descr="connector">    </p:cNvPr>
          <p:cNvPicPr>
            <a:picLocks noChangeAspect="1"/>
          </p:cNvPicPr>
          <p:nvPr/>
        </p:nvPicPr>
        <p:blipFill>
          <a:blip r:embed="rId6"/>
          <a:srcRect l="0" r="0" t="0" b="0"/>
          <a:stretch/>
        </p:blipFill>
        <p:spPr>
          <a:xfrm>
            <a:off x="1447800" y="3860800"/>
            <a:ext cx="2819400" cy="1549400"/>
          </a:xfrm>
          <a:prstGeom prst="rect">
            <a:avLst/>
          </a:prstGeom>
        </p:spPr>
      </p:pic>
      <p:pic>
        <p:nvPicPr>
          <p:cNvPr id="10" name="Image 6" descr="connector">    </p:cNvPr>
          <p:cNvPicPr>
            <a:picLocks noChangeAspect="1"/>
          </p:cNvPicPr>
          <p:nvPr/>
        </p:nvPicPr>
        <p:blipFill>
          <a:blip r:embed="rId7"/>
          <a:srcRect l="0" r="0" t="0" b="0"/>
          <a:stretch/>
        </p:blipFill>
        <p:spPr>
          <a:xfrm>
            <a:off x="1447800" y="2336800"/>
            <a:ext cx="2565400" cy="1930400"/>
          </a:xfrm>
          <a:prstGeom prst="rect">
            <a:avLst/>
          </a:prstGeom>
        </p:spPr>
      </p:pic>
      <p:sp>
        <p:nvSpPr>
          <p:cNvPr id="11" name="Text 2"/>
          <p:cNvSpPr/>
          <p:nvPr/>
        </p:nvSpPr>
        <p:spPr>
          <a:xfrm>
            <a:off x="2540000" y="3136900"/>
            <a:ext cx="381000" cy="330200"/>
          </a:xfrm>
          <a:custGeom>
            <a:avLst/>
            <a:gdLst/>
            <a:ahLst/>
            <a:cxnLst/>
            <a:rect l="l" t="t" r="r" b="b"/>
            <a:pathLst>
              <a:path w="381000" h="330200">
                <a:moveTo>
                  <a:pt x="76200" y="0"/>
                </a:moveTo>
                <a:lnTo>
                  <a:pt x="304800" y="0"/>
                </a:lnTo>
                <a:arcTo hR="76200" wR="76200" stAng="16200000" swAng="5400000"/>
                <a:lnTo>
                  <a:pt x="381000" y="254000"/>
                </a:lnTo>
                <a:arcTo hR="76200" wR="76200" stAng="0" swAng="5400000"/>
                <a:lnTo>
                  <a:pt x="76200" y="330200"/>
                </a:lnTo>
                <a:arcTo hR="76200" wR="76200" stAng="5400000" swAng="5400000"/>
                <a:lnTo>
                  <a:pt x="0" y="76200"/>
                </a:lnTo>
                <a:arcTo hR="76200" wR="76200" stAng="10800000" swAng="5400000"/>
                <a:close/>
              </a:path>
            </a:pathLst>
          </a:custGeom>
          <a:solidFill>
            <a:srgbClr val="F6F4EE"/>
          </a:solidFill>
          <a:ln/>
        </p:spPr>
        <p:txBody>
          <a:bodyPr wrap="square" lIns="0" tIns="0" rIns="0" bIns="0" rtlCol="0" anchor="t">
            <a:normAutofit/>
          </a:bodyPr>
          <a:lstStyle/>
          <a:p>
            <a:pPr algn="ctr" indent="0" marL="0">
              <a:lnSpc>
                <a:spcPts val="2608"/>
              </a:lnSpc>
              <a:buNone/>
            </a:pPr>
            <a:r>
              <a:rPr lang="en-US" sz="1600" b="1" dirty="0">
                <a:solidFill>
                  <a:srgbClr val="14304D"/>
                </a:solidFill>
                <a:latin typeface="Nunito Sans" pitchFamily="34" charset="0"/>
                <a:ea typeface="Nunito Sans" pitchFamily="34" charset="-122"/>
                <a:cs typeface="Nunito Sans" pitchFamily="34" charset="-120"/>
              </a:rPr>
              <a:t>4</a:t>
            </a:r>
            <a:endParaRPr lang="en-US" sz="1600" dirty="0"/>
          </a:p>
        </p:txBody>
      </p:sp>
      <p:sp>
        <p:nvSpPr>
          <p:cNvPr id="12" name="Text 3"/>
          <p:cNvSpPr/>
          <p:nvPr/>
        </p:nvSpPr>
        <p:spPr>
          <a:xfrm>
            <a:off x="2667000" y="4470400"/>
            <a:ext cx="381000" cy="330200"/>
          </a:xfrm>
          <a:custGeom>
            <a:avLst/>
            <a:gdLst/>
            <a:ahLst/>
            <a:cxnLst/>
            <a:rect l="l" t="t" r="r" b="b"/>
            <a:pathLst>
              <a:path w="381000" h="330200">
                <a:moveTo>
                  <a:pt x="76200" y="0"/>
                </a:moveTo>
                <a:lnTo>
                  <a:pt x="304800" y="0"/>
                </a:lnTo>
                <a:arcTo hR="76200" wR="76200" stAng="16200000" swAng="5400000"/>
                <a:lnTo>
                  <a:pt x="381000" y="254000"/>
                </a:lnTo>
                <a:arcTo hR="76200" wR="76200" stAng="0" swAng="5400000"/>
                <a:lnTo>
                  <a:pt x="76200" y="330200"/>
                </a:lnTo>
                <a:arcTo hR="76200" wR="76200" stAng="5400000" swAng="5400000"/>
                <a:lnTo>
                  <a:pt x="0" y="76200"/>
                </a:lnTo>
                <a:arcTo hR="76200" wR="76200" stAng="10800000" swAng="5400000"/>
                <a:close/>
              </a:path>
            </a:pathLst>
          </a:custGeom>
          <a:solidFill>
            <a:srgbClr val="F6F4EE"/>
          </a:solidFill>
          <a:ln/>
        </p:spPr>
        <p:txBody>
          <a:bodyPr wrap="square" lIns="0" tIns="0" rIns="0" bIns="0" rtlCol="0" anchor="t">
            <a:normAutofit/>
          </a:bodyPr>
          <a:lstStyle/>
          <a:p>
            <a:pPr algn="ctr" indent="0" marL="0">
              <a:lnSpc>
                <a:spcPts val="2608"/>
              </a:lnSpc>
              <a:buNone/>
            </a:pPr>
            <a:r>
              <a:rPr lang="en-US" sz="1600" b="1" dirty="0">
                <a:solidFill>
                  <a:srgbClr val="14304D"/>
                </a:solidFill>
                <a:latin typeface="Nunito Sans" pitchFamily="34" charset="0"/>
                <a:ea typeface="Nunito Sans" pitchFamily="34" charset="-122"/>
                <a:cs typeface="Nunito Sans" pitchFamily="34" charset="-120"/>
              </a:rPr>
              <a:t>2</a:t>
            </a:r>
            <a:endParaRPr lang="en-US" sz="1600" dirty="0"/>
          </a:p>
        </p:txBody>
      </p:sp>
      <p:sp>
        <p:nvSpPr>
          <p:cNvPr id="13" name="Text 4"/>
          <p:cNvSpPr/>
          <p:nvPr/>
        </p:nvSpPr>
        <p:spPr>
          <a:xfrm>
            <a:off x="3746500" y="3708400"/>
            <a:ext cx="381000" cy="330200"/>
          </a:xfrm>
          <a:custGeom>
            <a:avLst/>
            <a:gdLst/>
            <a:ahLst/>
            <a:cxnLst/>
            <a:rect l="l" t="t" r="r" b="b"/>
            <a:pathLst>
              <a:path w="381000" h="330200">
                <a:moveTo>
                  <a:pt x="76200" y="0"/>
                </a:moveTo>
                <a:lnTo>
                  <a:pt x="304800" y="0"/>
                </a:lnTo>
                <a:arcTo hR="76200" wR="76200" stAng="16200000" swAng="5400000"/>
                <a:lnTo>
                  <a:pt x="381000" y="254000"/>
                </a:lnTo>
                <a:arcTo hR="76200" wR="76200" stAng="0" swAng="5400000"/>
                <a:lnTo>
                  <a:pt x="76200" y="330200"/>
                </a:lnTo>
                <a:arcTo hR="76200" wR="76200" stAng="5400000" swAng="5400000"/>
                <a:lnTo>
                  <a:pt x="0" y="76200"/>
                </a:lnTo>
                <a:arcTo hR="76200" wR="76200" stAng="10800000" swAng="5400000"/>
                <a:close/>
              </a:path>
            </a:pathLst>
          </a:custGeom>
          <a:solidFill>
            <a:srgbClr val="F6F4EE"/>
          </a:solidFill>
          <a:ln/>
        </p:spPr>
        <p:txBody>
          <a:bodyPr wrap="square" lIns="0" tIns="0" rIns="0" bIns="0" rtlCol="0" anchor="t">
            <a:normAutofit/>
          </a:bodyPr>
          <a:lstStyle/>
          <a:p>
            <a:pPr algn="ctr" indent="0" marL="0">
              <a:lnSpc>
                <a:spcPts val="2608"/>
              </a:lnSpc>
              <a:buNone/>
            </a:pPr>
            <a:r>
              <a:rPr lang="en-US" sz="1600" b="1" dirty="0">
                <a:solidFill>
                  <a:srgbClr val="14304D"/>
                </a:solidFill>
                <a:latin typeface="Nunito Sans" pitchFamily="34" charset="0"/>
                <a:ea typeface="Nunito Sans" pitchFamily="34" charset="-122"/>
                <a:cs typeface="Nunito Sans" pitchFamily="34" charset="-120"/>
              </a:rPr>
              <a:t>5</a:t>
            </a:r>
            <a:endParaRPr lang="en-US" sz="1600" dirty="0"/>
          </a:p>
        </p:txBody>
      </p:sp>
      <p:sp>
        <p:nvSpPr>
          <p:cNvPr id="14" name="Text 5"/>
          <p:cNvSpPr/>
          <p:nvPr/>
        </p:nvSpPr>
        <p:spPr>
          <a:xfrm>
            <a:off x="4921250" y="2755900"/>
            <a:ext cx="381000" cy="330200"/>
          </a:xfrm>
          <a:custGeom>
            <a:avLst/>
            <a:gdLst/>
            <a:ahLst/>
            <a:cxnLst/>
            <a:rect l="l" t="t" r="r" b="b"/>
            <a:pathLst>
              <a:path w="381000" h="330200">
                <a:moveTo>
                  <a:pt x="76200" y="0"/>
                </a:moveTo>
                <a:lnTo>
                  <a:pt x="304800" y="0"/>
                </a:lnTo>
                <a:arcTo hR="76200" wR="76200" stAng="16200000" swAng="5400000"/>
                <a:lnTo>
                  <a:pt x="381000" y="254000"/>
                </a:lnTo>
                <a:arcTo hR="76200" wR="76200" stAng="0" swAng="5400000"/>
                <a:lnTo>
                  <a:pt x="76200" y="330200"/>
                </a:lnTo>
                <a:arcTo hR="76200" wR="76200" stAng="5400000" swAng="5400000"/>
                <a:lnTo>
                  <a:pt x="0" y="76200"/>
                </a:lnTo>
                <a:arcTo hR="76200" wR="76200" stAng="10800000" swAng="5400000"/>
                <a:close/>
              </a:path>
            </a:pathLst>
          </a:custGeom>
          <a:solidFill>
            <a:srgbClr val="F6F4EE"/>
          </a:solidFill>
          <a:ln/>
        </p:spPr>
        <p:txBody>
          <a:bodyPr wrap="square" lIns="0" tIns="0" rIns="0" bIns="0" rtlCol="0" anchor="t">
            <a:normAutofit/>
          </a:bodyPr>
          <a:lstStyle/>
          <a:p>
            <a:pPr algn="ctr" indent="0" marL="0">
              <a:lnSpc>
                <a:spcPts val="2608"/>
              </a:lnSpc>
              <a:buNone/>
            </a:pPr>
            <a:r>
              <a:rPr lang="en-US" sz="1600" b="1" dirty="0">
                <a:solidFill>
                  <a:srgbClr val="14304D"/>
                </a:solidFill>
                <a:latin typeface="Nunito Sans" pitchFamily="34" charset="0"/>
                <a:ea typeface="Nunito Sans" pitchFamily="34" charset="-122"/>
                <a:cs typeface="Nunito Sans" pitchFamily="34" charset="-120"/>
              </a:rPr>
              <a:t>3</a:t>
            </a:r>
            <a:endParaRPr lang="en-US" sz="1600" dirty="0"/>
          </a:p>
        </p:txBody>
      </p:sp>
      <p:sp>
        <p:nvSpPr>
          <p:cNvPr id="15" name="Text 6"/>
          <p:cNvSpPr/>
          <p:nvPr/>
        </p:nvSpPr>
        <p:spPr>
          <a:xfrm>
            <a:off x="5048250" y="4089400"/>
            <a:ext cx="381000" cy="330200"/>
          </a:xfrm>
          <a:custGeom>
            <a:avLst/>
            <a:gdLst/>
            <a:ahLst/>
            <a:cxnLst/>
            <a:rect l="l" t="t" r="r" b="b"/>
            <a:pathLst>
              <a:path w="381000" h="330200">
                <a:moveTo>
                  <a:pt x="76200" y="0"/>
                </a:moveTo>
                <a:lnTo>
                  <a:pt x="304800" y="0"/>
                </a:lnTo>
                <a:arcTo hR="76200" wR="76200" stAng="16200000" swAng="5400000"/>
                <a:lnTo>
                  <a:pt x="381000" y="254000"/>
                </a:lnTo>
                <a:arcTo hR="76200" wR="76200" stAng="0" swAng="5400000"/>
                <a:lnTo>
                  <a:pt x="76200" y="330200"/>
                </a:lnTo>
                <a:arcTo hR="76200" wR="76200" stAng="5400000" swAng="5400000"/>
                <a:lnTo>
                  <a:pt x="0" y="76200"/>
                </a:lnTo>
                <a:arcTo hR="76200" wR="76200" stAng="10800000" swAng="5400000"/>
                <a:close/>
              </a:path>
            </a:pathLst>
          </a:custGeom>
          <a:solidFill>
            <a:srgbClr val="F6F4EE"/>
          </a:solidFill>
          <a:ln/>
        </p:spPr>
        <p:txBody>
          <a:bodyPr wrap="square" lIns="0" tIns="0" rIns="0" bIns="0" rtlCol="0" anchor="t">
            <a:normAutofit/>
          </a:bodyPr>
          <a:lstStyle/>
          <a:p>
            <a:pPr algn="ctr" indent="0" marL="0">
              <a:lnSpc>
                <a:spcPts val="2608"/>
              </a:lnSpc>
              <a:buNone/>
            </a:pPr>
            <a:r>
              <a:rPr lang="en-US" sz="1600" b="1" dirty="0">
                <a:solidFill>
                  <a:srgbClr val="14304D"/>
                </a:solidFill>
                <a:latin typeface="Nunito Sans" pitchFamily="34" charset="0"/>
                <a:ea typeface="Nunito Sans" pitchFamily="34" charset="-122"/>
                <a:cs typeface="Nunito Sans" pitchFamily="34" charset="-120"/>
              </a:rPr>
              <a:t>6</a:t>
            </a:r>
            <a:endParaRPr lang="en-US" sz="1600" dirty="0"/>
          </a:p>
        </p:txBody>
      </p:sp>
      <p:sp>
        <p:nvSpPr>
          <p:cNvPr id="16" name="Text 7"/>
          <p:cNvSpPr/>
          <p:nvPr/>
        </p:nvSpPr>
        <p:spPr>
          <a:xfrm>
            <a:off x="5302250" y="5105400"/>
            <a:ext cx="381000" cy="330200"/>
          </a:xfrm>
          <a:custGeom>
            <a:avLst/>
            <a:gdLst/>
            <a:ahLst/>
            <a:cxnLst/>
            <a:rect l="l" t="t" r="r" b="b"/>
            <a:pathLst>
              <a:path w="381000" h="330200">
                <a:moveTo>
                  <a:pt x="76200" y="0"/>
                </a:moveTo>
                <a:lnTo>
                  <a:pt x="304800" y="0"/>
                </a:lnTo>
                <a:arcTo hR="76200" wR="76200" stAng="16200000" swAng="5400000"/>
                <a:lnTo>
                  <a:pt x="381000" y="254000"/>
                </a:lnTo>
                <a:arcTo hR="76200" wR="76200" stAng="0" swAng="5400000"/>
                <a:lnTo>
                  <a:pt x="76200" y="330200"/>
                </a:lnTo>
                <a:arcTo hR="76200" wR="76200" stAng="5400000" swAng="5400000"/>
                <a:lnTo>
                  <a:pt x="0" y="76200"/>
                </a:lnTo>
                <a:arcTo hR="76200" wR="76200" stAng="10800000" swAng="5400000"/>
                <a:close/>
              </a:path>
            </a:pathLst>
          </a:custGeom>
          <a:solidFill>
            <a:srgbClr val="F6F4EE"/>
          </a:solidFill>
          <a:ln/>
        </p:spPr>
        <p:txBody>
          <a:bodyPr wrap="square" lIns="0" tIns="0" rIns="0" bIns="0" rtlCol="0" anchor="t">
            <a:normAutofit/>
          </a:bodyPr>
          <a:lstStyle/>
          <a:p>
            <a:pPr algn="ctr" indent="0" marL="0">
              <a:lnSpc>
                <a:spcPts val="2608"/>
              </a:lnSpc>
              <a:buNone/>
            </a:pPr>
            <a:r>
              <a:rPr lang="en-US" sz="1600" b="1" dirty="0">
                <a:solidFill>
                  <a:srgbClr val="14304D"/>
                </a:solidFill>
                <a:latin typeface="Nunito Sans" pitchFamily="34" charset="0"/>
                <a:ea typeface="Nunito Sans" pitchFamily="34" charset="-122"/>
                <a:cs typeface="Nunito Sans" pitchFamily="34" charset="-120"/>
              </a:rPr>
              <a:t>4</a:t>
            </a:r>
            <a:endParaRPr lang="en-US" sz="1600" dirty="0"/>
          </a:p>
        </p:txBody>
      </p:sp>
      <p:sp>
        <p:nvSpPr>
          <p:cNvPr id="17" name="Text 8"/>
          <p:cNvSpPr/>
          <p:nvPr/>
        </p:nvSpPr>
        <p:spPr>
          <a:xfrm>
            <a:off x="6477000" y="4152900"/>
            <a:ext cx="381000" cy="330200"/>
          </a:xfrm>
          <a:custGeom>
            <a:avLst/>
            <a:gdLst/>
            <a:ahLst/>
            <a:cxnLst/>
            <a:rect l="l" t="t" r="r" b="b"/>
            <a:pathLst>
              <a:path w="381000" h="330200">
                <a:moveTo>
                  <a:pt x="76200" y="0"/>
                </a:moveTo>
                <a:lnTo>
                  <a:pt x="304800" y="0"/>
                </a:lnTo>
                <a:arcTo hR="76200" wR="76200" stAng="16200000" swAng="5400000"/>
                <a:lnTo>
                  <a:pt x="381000" y="254000"/>
                </a:lnTo>
                <a:arcTo hR="76200" wR="76200" stAng="0" swAng="5400000"/>
                <a:lnTo>
                  <a:pt x="76200" y="330200"/>
                </a:lnTo>
                <a:arcTo hR="76200" wR="76200" stAng="5400000" swAng="5400000"/>
                <a:lnTo>
                  <a:pt x="0" y="76200"/>
                </a:lnTo>
                <a:arcTo hR="76200" wR="76200" stAng="10800000" swAng="5400000"/>
                <a:close/>
              </a:path>
            </a:pathLst>
          </a:custGeom>
          <a:solidFill>
            <a:srgbClr val="F6F4EE"/>
          </a:solidFill>
          <a:ln/>
        </p:spPr>
        <p:txBody>
          <a:bodyPr wrap="square" lIns="0" tIns="0" rIns="0" bIns="0" rtlCol="0" anchor="t">
            <a:normAutofit/>
          </a:bodyPr>
          <a:lstStyle/>
          <a:p>
            <a:pPr algn="ctr" indent="0" marL="0">
              <a:lnSpc>
                <a:spcPts val="2608"/>
              </a:lnSpc>
              <a:buNone/>
            </a:pPr>
            <a:r>
              <a:rPr lang="en-US" sz="1600" b="1" dirty="0">
                <a:solidFill>
                  <a:srgbClr val="14304D"/>
                </a:solidFill>
                <a:latin typeface="Nunito Sans" pitchFamily="34" charset="0"/>
                <a:ea typeface="Nunito Sans" pitchFamily="34" charset="-122"/>
                <a:cs typeface="Nunito Sans" pitchFamily="34" charset="-120"/>
              </a:rPr>
              <a:t>7</a:t>
            </a:r>
            <a:endParaRPr lang="en-US" sz="1600" dirty="0"/>
          </a:p>
        </p:txBody>
      </p:sp>
      <p:sp>
        <p:nvSpPr>
          <p:cNvPr id="18" name="Text 9"/>
          <p:cNvSpPr/>
          <p:nvPr/>
        </p:nvSpPr>
        <p:spPr>
          <a:xfrm>
            <a:off x="1365250" y="3778250"/>
            <a:ext cx="571500" cy="571500"/>
          </a:xfrm>
          <a:custGeom>
            <a:avLst/>
            <a:gdLst/>
            <a:ahLst/>
            <a:cxnLst/>
            <a:rect l="l" t="t" r="r" b="b"/>
            <a:pathLst>
              <a:path w="571500" h="571500">
                <a:moveTo>
                  <a:pt x="285750" y="0"/>
                </a:moveTo>
                <a:lnTo>
                  <a:pt x="285750" y="0"/>
                </a:lnTo>
                <a:arcTo hR="285750" wR="285750" stAng="16200000" swAng="5400000"/>
                <a:lnTo>
                  <a:pt x="571500" y="285750"/>
                </a:lnTo>
                <a:arcTo hR="285750" wR="285750" stAng="0" swAng="5400000"/>
                <a:lnTo>
                  <a:pt x="285750" y="571500"/>
                </a:lnTo>
                <a:arcTo hR="285750" wR="285750" stAng="5400000" swAng="5400000"/>
                <a:lnTo>
                  <a:pt x="0" y="285750"/>
                </a:lnTo>
                <a:arcTo hR="285750" wR="285750" stAng="10800000" swAng="5400000"/>
                <a:close/>
              </a:path>
            </a:pathLst>
          </a:custGeom>
          <a:solidFill>
            <a:srgbClr val="0B6E6E"/>
          </a:solidFill>
          <a:ln w="38100">
            <a:solidFill>
              <a:srgbClr val="14304D"/>
            </a:solidFill>
            <a:prstDash val="solid"/>
          </a:ln>
        </p:spPr>
        <p:txBody>
          <a:bodyPr wrap="square" lIns="0" tIns="19050" rIns="0" bIns="0" rtlCol="0" anchor="t">
            <a:normAutofit/>
          </a:bodyPr>
          <a:lstStyle/>
          <a:p>
            <a:pPr algn="ctr" indent="0" marL="0">
              <a:lnSpc>
                <a:spcPts val="4202"/>
              </a:lnSpc>
              <a:buNone/>
            </a:pPr>
            <a:r>
              <a:rPr lang="en-US" sz="2200" b="1" dirty="0">
                <a:solidFill>
                  <a:srgbClr val="F6F4EE"/>
                </a:solidFill>
                <a:latin typeface="Nunito Sans" pitchFamily="34" charset="0"/>
                <a:ea typeface="Nunito Sans" pitchFamily="34" charset="-122"/>
                <a:cs typeface="Nunito Sans" pitchFamily="34" charset="-120"/>
              </a:rPr>
              <a:t>M</a:t>
            </a:r>
            <a:endParaRPr lang="en-US" sz="2200" dirty="0"/>
          </a:p>
        </p:txBody>
      </p:sp>
      <p:sp>
        <p:nvSpPr>
          <p:cNvPr id="19" name="Text 10"/>
          <p:cNvSpPr/>
          <p:nvPr/>
        </p:nvSpPr>
        <p:spPr>
          <a:xfrm>
            <a:off x="3524250" y="2254250"/>
            <a:ext cx="571500" cy="571500"/>
          </a:xfrm>
          <a:custGeom>
            <a:avLst/>
            <a:gdLst/>
            <a:ahLst/>
            <a:cxnLst/>
            <a:rect l="l" t="t" r="r" b="b"/>
            <a:pathLst>
              <a:path w="571500" h="571500">
                <a:moveTo>
                  <a:pt x="285750" y="0"/>
                </a:moveTo>
                <a:lnTo>
                  <a:pt x="285750" y="0"/>
                </a:lnTo>
                <a:arcTo hR="285750" wR="285750" stAng="16200000" swAng="5400000"/>
                <a:lnTo>
                  <a:pt x="571500" y="285750"/>
                </a:lnTo>
                <a:arcTo hR="285750" wR="285750" stAng="0" swAng="5400000"/>
                <a:lnTo>
                  <a:pt x="285750" y="571500"/>
                </a:lnTo>
                <a:arcTo hR="285750" wR="285750" stAng="5400000" swAng="5400000"/>
                <a:lnTo>
                  <a:pt x="0" y="285750"/>
                </a:lnTo>
                <a:arcTo hR="285750" wR="285750" stAng="10800000" swAng="5400000"/>
                <a:close/>
              </a:path>
            </a:pathLst>
          </a:custGeom>
          <a:solidFill>
            <a:srgbClr val="0B6E6E"/>
          </a:solidFill>
          <a:ln w="38100">
            <a:solidFill>
              <a:srgbClr val="14304D"/>
            </a:solidFill>
            <a:prstDash val="solid"/>
          </a:ln>
        </p:spPr>
        <p:txBody>
          <a:bodyPr wrap="square" lIns="0" tIns="19050" rIns="0" bIns="0" rtlCol="0" anchor="t">
            <a:normAutofit/>
          </a:bodyPr>
          <a:lstStyle/>
          <a:p>
            <a:pPr algn="ctr" indent="0" marL="0">
              <a:lnSpc>
                <a:spcPts val="4202"/>
              </a:lnSpc>
              <a:buNone/>
            </a:pPr>
            <a:r>
              <a:rPr lang="en-US" sz="2200" b="1" dirty="0">
                <a:solidFill>
                  <a:srgbClr val="F6F4EE"/>
                </a:solidFill>
                <a:latin typeface="Nunito Sans" pitchFamily="34" charset="0"/>
                <a:ea typeface="Nunito Sans" pitchFamily="34" charset="-122"/>
                <a:cs typeface="Nunito Sans" pitchFamily="34" charset="-120"/>
              </a:rPr>
              <a:t>N</a:t>
            </a:r>
            <a:endParaRPr lang="en-US" sz="2200" dirty="0"/>
          </a:p>
        </p:txBody>
      </p:sp>
      <p:sp>
        <p:nvSpPr>
          <p:cNvPr id="20" name="Text 11"/>
          <p:cNvSpPr/>
          <p:nvPr/>
        </p:nvSpPr>
        <p:spPr>
          <a:xfrm>
            <a:off x="3778250" y="4921250"/>
            <a:ext cx="571500" cy="571500"/>
          </a:xfrm>
          <a:custGeom>
            <a:avLst/>
            <a:gdLst/>
            <a:ahLst/>
            <a:cxnLst/>
            <a:rect l="l" t="t" r="r" b="b"/>
            <a:pathLst>
              <a:path w="571500" h="571500">
                <a:moveTo>
                  <a:pt x="285750" y="0"/>
                </a:moveTo>
                <a:lnTo>
                  <a:pt x="285750" y="0"/>
                </a:lnTo>
                <a:arcTo hR="285750" wR="285750" stAng="16200000" swAng="5400000"/>
                <a:lnTo>
                  <a:pt x="571500" y="285750"/>
                </a:lnTo>
                <a:arcTo hR="285750" wR="285750" stAng="0" swAng="5400000"/>
                <a:lnTo>
                  <a:pt x="285750" y="571500"/>
                </a:lnTo>
                <a:arcTo hR="285750" wR="285750" stAng="5400000" swAng="5400000"/>
                <a:lnTo>
                  <a:pt x="0" y="285750"/>
                </a:lnTo>
                <a:arcTo hR="285750" wR="285750" stAng="10800000" swAng="5400000"/>
                <a:close/>
              </a:path>
            </a:pathLst>
          </a:custGeom>
          <a:solidFill>
            <a:srgbClr val="0B6E6E"/>
          </a:solidFill>
          <a:ln w="38100">
            <a:solidFill>
              <a:srgbClr val="14304D"/>
            </a:solidFill>
            <a:prstDash val="solid"/>
          </a:ln>
        </p:spPr>
        <p:txBody>
          <a:bodyPr wrap="square" lIns="0" tIns="19050" rIns="0" bIns="0" rtlCol="0" anchor="t">
            <a:normAutofit/>
          </a:bodyPr>
          <a:lstStyle/>
          <a:p>
            <a:pPr algn="ctr" indent="0" marL="0">
              <a:lnSpc>
                <a:spcPts val="4202"/>
              </a:lnSpc>
              <a:buNone/>
            </a:pPr>
            <a:r>
              <a:rPr lang="en-US" sz="2200" b="1" dirty="0">
                <a:solidFill>
                  <a:srgbClr val="F6F4EE"/>
                </a:solidFill>
                <a:latin typeface="Nunito Sans" pitchFamily="34" charset="0"/>
                <a:ea typeface="Nunito Sans" pitchFamily="34" charset="-122"/>
                <a:cs typeface="Nunito Sans" pitchFamily="34" charset="-120"/>
              </a:rPr>
              <a:t>O</a:t>
            </a:r>
            <a:endParaRPr lang="en-US" sz="2200" dirty="0"/>
          </a:p>
        </p:txBody>
      </p:sp>
      <p:sp>
        <p:nvSpPr>
          <p:cNvPr id="21" name="Text 12"/>
          <p:cNvSpPr/>
          <p:nvPr/>
        </p:nvSpPr>
        <p:spPr>
          <a:xfrm>
            <a:off x="6127750" y="3016250"/>
            <a:ext cx="571500" cy="571500"/>
          </a:xfrm>
          <a:custGeom>
            <a:avLst/>
            <a:gdLst/>
            <a:ahLst/>
            <a:cxnLst/>
            <a:rect l="l" t="t" r="r" b="b"/>
            <a:pathLst>
              <a:path w="571500" h="571500">
                <a:moveTo>
                  <a:pt x="285750" y="0"/>
                </a:moveTo>
                <a:lnTo>
                  <a:pt x="285750" y="0"/>
                </a:lnTo>
                <a:arcTo hR="285750" wR="285750" stAng="16200000" swAng="5400000"/>
                <a:lnTo>
                  <a:pt x="571500" y="285750"/>
                </a:lnTo>
                <a:arcTo hR="285750" wR="285750" stAng="0" swAng="5400000"/>
                <a:lnTo>
                  <a:pt x="285750" y="571500"/>
                </a:lnTo>
                <a:arcTo hR="285750" wR="285750" stAng="5400000" swAng="5400000"/>
                <a:lnTo>
                  <a:pt x="0" y="285750"/>
                </a:lnTo>
                <a:arcTo hR="285750" wR="285750" stAng="10800000" swAng="5400000"/>
                <a:close/>
              </a:path>
            </a:pathLst>
          </a:custGeom>
          <a:solidFill>
            <a:srgbClr val="FCFBF7"/>
          </a:solidFill>
          <a:ln w="38100">
            <a:solidFill>
              <a:srgbClr val="14304D"/>
            </a:solidFill>
            <a:prstDash val="solid"/>
          </a:ln>
        </p:spPr>
        <p:txBody>
          <a:bodyPr wrap="square" lIns="0" tIns="19050" rIns="0" bIns="0" rtlCol="0" anchor="t">
            <a:normAutofit/>
          </a:bodyPr>
          <a:lstStyle/>
          <a:p>
            <a:pPr algn="ctr" indent="0" marL="0">
              <a:lnSpc>
                <a:spcPts val="4202"/>
              </a:lnSpc>
              <a:buNone/>
            </a:pPr>
            <a:r>
              <a:rPr lang="en-US" sz="2200" b="1" dirty="0">
                <a:solidFill>
                  <a:srgbClr val="14304D"/>
                </a:solidFill>
                <a:latin typeface="Nunito Sans" pitchFamily="34" charset="0"/>
                <a:ea typeface="Nunito Sans" pitchFamily="34" charset="-122"/>
                <a:cs typeface="Nunito Sans" pitchFamily="34" charset="-120"/>
              </a:rPr>
              <a:t>P</a:t>
            </a:r>
            <a:endParaRPr lang="en-US" sz="2200" dirty="0"/>
          </a:p>
        </p:txBody>
      </p:sp>
      <p:sp>
        <p:nvSpPr>
          <p:cNvPr id="22" name="Text 13"/>
          <p:cNvSpPr/>
          <p:nvPr/>
        </p:nvSpPr>
        <p:spPr>
          <a:xfrm>
            <a:off x="6635750" y="5048250"/>
            <a:ext cx="571500" cy="571500"/>
          </a:xfrm>
          <a:custGeom>
            <a:avLst/>
            <a:gdLst/>
            <a:ahLst/>
            <a:cxnLst/>
            <a:rect l="l" t="t" r="r" b="b"/>
            <a:pathLst>
              <a:path w="571500" h="571500">
                <a:moveTo>
                  <a:pt x="285750" y="0"/>
                </a:moveTo>
                <a:lnTo>
                  <a:pt x="285750" y="0"/>
                </a:lnTo>
                <a:arcTo hR="285750" wR="285750" stAng="16200000" swAng="5400000"/>
                <a:lnTo>
                  <a:pt x="571500" y="285750"/>
                </a:lnTo>
                <a:arcTo hR="285750" wR="285750" stAng="0" swAng="5400000"/>
                <a:lnTo>
                  <a:pt x="285750" y="571500"/>
                </a:lnTo>
                <a:arcTo hR="285750" wR="285750" stAng="5400000" swAng="5400000"/>
                <a:lnTo>
                  <a:pt x="0" y="285750"/>
                </a:lnTo>
                <a:arcTo hR="285750" wR="285750" stAng="10800000" swAng="5400000"/>
                <a:close/>
              </a:path>
            </a:pathLst>
          </a:custGeom>
          <a:solidFill>
            <a:srgbClr val="FCFBF7"/>
          </a:solidFill>
          <a:ln w="38100">
            <a:solidFill>
              <a:srgbClr val="14304D"/>
            </a:solidFill>
            <a:prstDash val="solid"/>
          </a:ln>
        </p:spPr>
        <p:txBody>
          <a:bodyPr wrap="square" lIns="0" tIns="19050" rIns="0" bIns="0" rtlCol="0" anchor="t">
            <a:normAutofit/>
          </a:bodyPr>
          <a:lstStyle/>
          <a:p>
            <a:pPr algn="ctr" indent="0" marL="0">
              <a:lnSpc>
                <a:spcPts val="4202"/>
              </a:lnSpc>
              <a:buNone/>
            </a:pPr>
            <a:r>
              <a:rPr lang="en-US" sz="2200" b="1" dirty="0">
                <a:solidFill>
                  <a:srgbClr val="14304D"/>
                </a:solidFill>
                <a:latin typeface="Nunito Sans" pitchFamily="34" charset="0"/>
                <a:ea typeface="Nunito Sans" pitchFamily="34" charset="-122"/>
                <a:cs typeface="Nunito Sans" pitchFamily="34" charset="-120"/>
              </a:rPr>
              <a:t>Q</a:t>
            </a:r>
            <a:endParaRPr lang="en-US" sz="2200" dirty="0"/>
          </a:p>
        </p:txBody>
      </p:sp>
      <p:sp>
        <p:nvSpPr>
          <p:cNvPr id="23" name="Text 14"/>
          <p:cNvSpPr/>
          <p:nvPr/>
        </p:nvSpPr>
        <p:spPr>
          <a:xfrm>
            <a:off x="7937500" y="2032000"/>
            <a:ext cx="3544951"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E6E"/>
                </a:solidFill>
                <a:latin typeface="Nunito Sans" pitchFamily="34" charset="0"/>
                <a:ea typeface="Nunito Sans" pitchFamily="34" charset="-122"/>
                <a:cs typeface="Nunito Sans" pitchFamily="34" charset="-120"/>
              </a:rPr>
              <a:t>Netz: M, N und O</a:t>
            </a:r>
            <a:endParaRPr lang="en-US" sz="1600" dirty="0"/>
          </a:p>
        </p:txBody>
      </p:sp>
      <p:sp>
        <p:nvSpPr>
          <p:cNvPr id="24" name="Text 15"/>
          <p:cNvSpPr/>
          <p:nvPr/>
        </p:nvSpPr>
        <p:spPr>
          <a:xfrm>
            <a:off x="7937500" y="2443460"/>
            <a:ext cx="3544951"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Orange: N-P 3, O-P 6, O-Q 4. Wir wählen N-P.</a:t>
            </a:r>
            <a:endParaRPr lang="en-US" sz="1600" dirty="0"/>
          </a:p>
        </p:txBody>
      </p:sp>
      <p:sp>
        <p:nvSpPr>
          <p:cNvPr id="25" name="Text 16"/>
          <p:cNvSpPr/>
          <p:nvPr/>
        </p:nvSpPr>
        <p:spPr>
          <a:xfrm>
            <a:off x="7937500" y="3139380"/>
            <a:ext cx="3544951"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Dann fehlt nur noch Q: O-Q (4) ist günstiger als P-Q (7).</a:t>
            </a:r>
            <a:endParaRPr lang="en-US" sz="1600" dirty="0"/>
          </a:p>
        </p:txBody>
      </p:sp>
      <p:sp>
        <p:nvSpPr>
          <p:cNvPr id="26" name="Text 17"/>
          <p:cNvSpPr/>
          <p:nvPr/>
        </p:nvSpPr>
        <p:spPr>
          <a:xfrm>
            <a:off x="7937500" y="3835301"/>
            <a:ext cx="3544951"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Die gestrichelte Verbindung N-O (5) fällt weg: Beide Dörfer gehören schon zum Netz, sie würde nur einen Umweg bilden.</a:t>
            </a:r>
            <a:endParaRPr lang="en-US" sz="1200" dirty="0"/>
          </a:p>
        </p:txBody>
      </p:sp>
      <p:sp>
        <p:nvSpPr>
          <p:cNvPr id="27" name="Text 18"/>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28" name="Text 19"/>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Nunito Sans" pitchFamily="34" charset="0"/>
                <a:ea typeface="Nunito Sans" pitchFamily="34" charset="-122"/>
                <a:cs typeface="Nunito Sans" pitchFamily="34" charset="-120"/>
              </a:rPr>
              <a:t>PRIM AM BEISPIEL · ERGEBNIS</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304D"/>
                </a:solidFill>
                <a:latin typeface="Domine" pitchFamily="18" charset="0"/>
                <a:ea typeface="Domine" pitchFamily="18" charset="-122"/>
                <a:cs typeface="Domine" pitchFamily="18" charset="-120"/>
              </a:rPr>
              <a:t>Das günstigste Netz</a:t>
            </a:r>
            <a:endParaRPr lang="en-US" sz="3200" dirty="0"/>
          </a:p>
        </p:txBody>
      </p:sp>
      <p:pic>
        <p:nvPicPr>
          <p:cNvPr id="4" name="Image 0" descr="connector">    </p:cNvPr>
          <p:cNvPicPr>
            <a:picLocks noChangeAspect="1"/>
          </p:cNvPicPr>
          <p:nvPr/>
        </p:nvPicPr>
        <p:blipFill>
          <a:blip r:embed="rId1"/>
          <a:srcRect l="0" r="0" t="0" b="0"/>
          <a:stretch/>
        </p:blipFill>
        <p:spPr>
          <a:xfrm>
            <a:off x="3746500" y="2476500"/>
            <a:ext cx="381000" cy="2794000"/>
          </a:xfrm>
          <a:prstGeom prst="rect">
            <a:avLst/>
          </a:prstGeom>
        </p:spPr>
      </p:pic>
      <p:pic>
        <p:nvPicPr>
          <p:cNvPr id="5" name="Image 1" descr="connector">    </p:cNvPr>
          <p:cNvPicPr>
            <a:picLocks noChangeAspect="1"/>
          </p:cNvPicPr>
          <p:nvPr/>
        </p:nvPicPr>
        <p:blipFill>
          <a:blip r:embed="rId2"/>
          <a:srcRect l="0" r="0" t="0" b="0"/>
          <a:stretch/>
        </p:blipFill>
        <p:spPr>
          <a:xfrm>
            <a:off x="4000500" y="3238500"/>
            <a:ext cx="2476500" cy="2032000"/>
          </a:xfrm>
          <a:prstGeom prst="rect">
            <a:avLst/>
          </a:prstGeom>
        </p:spPr>
      </p:pic>
      <p:pic>
        <p:nvPicPr>
          <p:cNvPr id="6" name="Image 2" descr="connector">    </p:cNvPr>
          <p:cNvPicPr>
            <a:picLocks noChangeAspect="1"/>
          </p:cNvPicPr>
          <p:nvPr/>
        </p:nvPicPr>
        <p:blipFill>
          <a:blip r:embed="rId3"/>
          <a:srcRect l="0" r="0" t="0" b="0"/>
          <a:stretch/>
        </p:blipFill>
        <p:spPr>
          <a:xfrm>
            <a:off x="6350000" y="3238500"/>
            <a:ext cx="635000" cy="2159000"/>
          </a:xfrm>
          <a:prstGeom prst="rect">
            <a:avLst/>
          </a:prstGeom>
        </p:spPr>
      </p:pic>
      <p:pic>
        <p:nvPicPr>
          <p:cNvPr id="7" name="Image 3" descr="connector">    </p:cNvPr>
          <p:cNvPicPr>
            <a:picLocks noChangeAspect="1"/>
          </p:cNvPicPr>
          <p:nvPr/>
        </p:nvPicPr>
        <p:blipFill>
          <a:blip r:embed="rId4"/>
          <a:srcRect l="0" r="0" t="0" b="0"/>
          <a:stretch/>
        </p:blipFill>
        <p:spPr>
          <a:xfrm>
            <a:off x="1447800" y="3860800"/>
            <a:ext cx="2819400" cy="1549400"/>
          </a:xfrm>
          <a:prstGeom prst="rect">
            <a:avLst/>
          </a:prstGeom>
        </p:spPr>
      </p:pic>
      <p:pic>
        <p:nvPicPr>
          <p:cNvPr id="8" name="Image 4" descr="connector">    </p:cNvPr>
          <p:cNvPicPr>
            <a:picLocks noChangeAspect="1"/>
          </p:cNvPicPr>
          <p:nvPr/>
        </p:nvPicPr>
        <p:blipFill>
          <a:blip r:embed="rId5"/>
          <a:srcRect l="0" r="0" t="0" b="0"/>
          <a:stretch/>
        </p:blipFill>
        <p:spPr>
          <a:xfrm>
            <a:off x="1447800" y="2336800"/>
            <a:ext cx="2565400" cy="1930400"/>
          </a:xfrm>
          <a:prstGeom prst="rect">
            <a:avLst/>
          </a:prstGeom>
        </p:spPr>
      </p:pic>
      <p:pic>
        <p:nvPicPr>
          <p:cNvPr id="9" name="Image 5" descr="connector">    </p:cNvPr>
          <p:cNvPicPr>
            <a:picLocks noChangeAspect="1"/>
          </p:cNvPicPr>
          <p:nvPr/>
        </p:nvPicPr>
        <p:blipFill>
          <a:blip r:embed="rId6"/>
          <a:srcRect l="0" r="0" t="0" b="0"/>
          <a:stretch/>
        </p:blipFill>
        <p:spPr>
          <a:xfrm>
            <a:off x="3606800" y="2336800"/>
            <a:ext cx="3009900" cy="1168400"/>
          </a:xfrm>
          <a:prstGeom prst="rect">
            <a:avLst/>
          </a:prstGeom>
        </p:spPr>
      </p:pic>
      <p:pic>
        <p:nvPicPr>
          <p:cNvPr id="10" name="Image 6" descr="connector">    </p:cNvPr>
          <p:cNvPicPr>
            <a:picLocks noChangeAspect="1"/>
          </p:cNvPicPr>
          <p:nvPr/>
        </p:nvPicPr>
        <p:blipFill>
          <a:blip r:embed="rId7"/>
          <a:srcRect l="0" r="0" t="0" b="0"/>
          <a:stretch/>
        </p:blipFill>
        <p:spPr>
          <a:xfrm>
            <a:off x="3860800" y="5003800"/>
            <a:ext cx="3263900" cy="533400"/>
          </a:xfrm>
          <a:prstGeom prst="rect">
            <a:avLst/>
          </a:prstGeom>
        </p:spPr>
      </p:pic>
      <p:sp>
        <p:nvSpPr>
          <p:cNvPr id="11" name="Text 2"/>
          <p:cNvSpPr/>
          <p:nvPr/>
        </p:nvSpPr>
        <p:spPr>
          <a:xfrm>
            <a:off x="2540000" y="3136900"/>
            <a:ext cx="381000" cy="330200"/>
          </a:xfrm>
          <a:custGeom>
            <a:avLst/>
            <a:gdLst/>
            <a:ahLst/>
            <a:cxnLst/>
            <a:rect l="l" t="t" r="r" b="b"/>
            <a:pathLst>
              <a:path w="381000" h="330200">
                <a:moveTo>
                  <a:pt x="76200" y="0"/>
                </a:moveTo>
                <a:lnTo>
                  <a:pt x="304800" y="0"/>
                </a:lnTo>
                <a:arcTo hR="76200" wR="76200" stAng="16200000" swAng="5400000"/>
                <a:lnTo>
                  <a:pt x="381000" y="254000"/>
                </a:lnTo>
                <a:arcTo hR="76200" wR="76200" stAng="0" swAng="5400000"/>
                <a:lnTo>
                  <a:pt x="76200" y="330200"/>
                </a:lnTo>
                <a:arcTo hR="76200" wR="76200" stAng="5400000" swAng="5400000"/>
                <a:lnTo>
                  <a:pt x="0" y="76200"/>
                </a:lnTo>
                <a:arcTo hR="76200" wR="76200" stAng="10800000" swAng="5400000"/>
                <a:close/>
              </a:path>
            </a:pathLst>
          </a:custGeom>
          <a:solidFill>
            <a:srgbClr val="F6F4EE"/>
          </a:solidFill>
          <a:ln/>
        </p:spPr>
        <p:txBody>
          <a:bodyPr wrap="square" lIns="0" tIns="0" rIns="0" bIns="0" rtlCol="0" anchor="t">
            <a:normAutofit/>
          </a:bodyPr>
          <a:lstStyle/>
          <a:p>
            <a:pPr algn="ctr" indent="0" marL="0">
              <a:lnSpc>
                <a:spcPts val="2608"/>
              </a:lnSpc>
              <a:buNone/>
            </a:pPr>
            <a:r>
              <a:rPr lang="en-US" sz="1600" b="1" dirty="0">
                <a:solidFill>
                  <a:srgbClr val="14304D"/>
                </a:solidFill>
                <a:latin typeface="Nunito Sans" pitchFamily="34" charset="0"/>
                <a:ea typeface="Nunito Sans" pitchFamily="34" charset="-122"/>
                <a:cs typeface="Nunito Sans" pitchFamily="34" charset="-120"/>
              </a:rPr>
              <a:t>4</a:t>
            </a:r>
            <a:endParaRPr lang="en-US" sz="1600" dirty="0"/>
          </a:p>
        </p:txBody>
      </p:sp>
      <p:sp>
        <p:nvSpPr>
          <p:cNvPr id="12" name="Text 3"/>
          <p:cNvSpPr/>
          <p:nvPr/>
        </p:nvSpPr>
        <p:spPr>
          <a:xfrm>
            <a:off x="2667000" y="4470400"/>
            <a:ext cx="381000" cy="330200"/>
          </a:xfrm>
          <a:custGeom>
            <a:avLst/>
            <a:gdLst/>
            <a:ahLst/>
            <a:cxnLst/>
            <a:rect l="l" t="t" r="r" b="b"/>
            <a:pathLst>
              <a:path w="381000" h="330200">
                <a:moveTo>
                  <a:pt x="76200" y="0"/>
                </a:moveTo>
                <a:lnTo>
                  <a:pt x="304800" y="0"/>
                </a:lnTo>
                <a:arcTo hR="76200" wR="76200" stAng="16200000" swAng="5400000"/>
                <a:lnTo>
                  <a:pt x="381000" y="254000"/>
                </a:lnTo>
                <a:arcTo hR="76200" wR="76200" stAng="0" swAng="5400000"/>
                <a:lnTo>
                  <a:pt x="76200" y="330200"/>
                </a:lnTo>
                <a:arcTo hR="76200" wR="76200" stAng="5400000" swAng="5400000"/>
                <a:lnTo>
                  <a:pt x="0" y="76200"/>
                </a:lnTo>
                <a:arcTo hR="76200" wR="76200" stAng="10800000" swAng="5400000"/>
                <a:close/>
              </a:path>
            </a:pathLst>
          </a:custGeom>
          <a:solidFill>
            <a:srgbClr val="F6F4EE"/>
          </a:solidFill>
          <a:ln/>
        </p:spPr>
        <p:txBody>
          <a:bodyPr wrap="square" lIns="0" tIns="0" rIns="0" bIns="0" rtlCol="0" anchor="t">
            <a:normAutofit/>
          </a:bodyPr>
          <a:lstStyle/>
          <a:p>
            <a:pPr algn="ctr" indent="0" marL="0">
              <a:lnSpc>
                <a:spcPts val="2608"/>
              </a:lnSpc>
              <a:buNone/>
            </a:pPr>
            <a:r>
              <a:rPr lang="en-US" sz="1600" b="1" dirty="0">
                <a:solidFill>
                  <a:srgbClr val="14304D"/>
                </a:solidFill>
                <a:latin typeface="Nunito Sans" pitchFamily="34" charset="0"/>
                <a:ea typeface="Nunito Sans" pitchFamily="34" charset="-122"/>
                <a:cs typeface="Nunito Sans" pitchFamily="34" charset="-120"/>
              </a:rPr>
              <a:t>2</a:t>
            </a:r>
            <a:endParaRPr lang="en-US" sz="1600" dirty="0"/>
          </a:p>
        </p:txBody>
      </p:sp>
      <p:sp>
        <p:nvSpPr>
          <p:cNvPr id="13" name="Text 4"/>
          <p:cNvSpPr/>
          <p:nvPr/>
        </p:nvSpPr>
        <p:spPr>
          <a:xfrm>
            <a:off x="3746500" y="3708400"/>
            <a:ext cx="381000" cy="330200"/>
          </a:xfrm>
          <a:custGeom>
            <a:avLst/>
            <a:gdLst/>
            <a:ahLst/>
            <a:cxnLst/>
            <a:rect l="l" t="t" r="r" b="b"/>
            <a:pathLst>
              <a:path w="381000" h="330200">
                <a:moveTo>
                  <a:pt x="76200" y="0"/>
                </a:moveTo>
                <a:lnTo>
                  <a:pt x="304800" y="0"/>
                </a:lnTo>
                <a:arcTo hR="76200" wR="76200" stAng="16200000" swAng="5400000"/>
                <a:lnTo>
                  <a:pt x="381000" y="254000"/>
                </a:lnTo>
                <a:arcTo hR="76200" wR="76200" stAng="0" swAng="5400000"/>
                <a:lnTo>
                  <a:pt x="76200" y="330200"/>
                </a:lnTo>
                <a:arcTo hR="76200" wR="76200" stAng="5400000" swAng="5400000"/>
                <a:lnTo>
                  <a:pt x="0" y="76200"/>
                </a:lnTo>
                <a:arcTo hR="76200" wR="76200" stAng="10800000" swAng="5400000"/>
                <a:close/>
              </a:path>
            </a:pathLst>
          </a:custGeom>
          <a:solidFill>
            <a:srgbClr val="F6F4EE"/>
          </a:solidFill>
          <a:ln/>
        </p:spPr>
        <p:txBody>
          <a:bodyPr wrap="square" lIns="0" tIns="0" rIns="0" bIns="0" rtlCol="0" anchor="t">
            <a:normAutofit/>
          </a:bodyPr>
          <a:lstStyle/>
          <a:p>
            <a:pPr algn="ctr" indent="0" marL="0">
              <a:lnSpc>
                <a:spcPts val="2608"/>
              </a:lnSpc>
              <a:buNone/>
            </a:pPr>
            <a:r>
              <a:rPr lang="en-US" sz="1600" b="1" dirty="0">
                <a:solidFill>
                  <a:srgbClr val="4A5B6B"/>
                </a:solidFill>
                <a:latin typeface="Nunito Sans" pitchFamily="34" charset="0"/>
                <a:ea typeface="Nunito Sans" pitchFamily="34" charset="-122"/>
                <a:cs typeface="Nunito Sans" pitchFamily="34" charset="-120"/>
              </a:rPr>
              <a:t>5</a:t>
            </a:r>
            <a:endParaRPr lang="en-US" sz="1600" dirty="0"/>
          </a:p>
        </p:txBody>
      </p:sp>
      <p:sp>
        <p:nvSpPr>
          <p:cNvPr id="14" name="Text 5"/>
          <p:cNvSpPr/>
          <p:nvPr/>
        </p:nvSpPr>
        <p:spPr>
          <a:xfrm>
            <a:off x="4921250" y="2755900"/>
            <a:ext cx="381000" cy="330200"/>
          </a:xfrm>
          <a:custGeom>
            <a:avLst/>
            <a:gdLst/>
            <a:ahLst/>
            <a:cxnLst/>
            <a:rect l="l" t="t" r="r" b="b"/>
            <a:pathLst>
              <a:path w="381000" h="330200">
                <a:moveTo>
                  <a:pt x="76200" y="0"/>
                </a:moveTo>
                <a:lnTo>
                  <a:pt x="304800" y="0"/>
                </a:lnTo>
                <a:arcTo hR="76200" wR="76200" stAng="16200000" swAng="5400000"/>
                <a:lnTo>
                  <a:pt x="381000" y="254000"/>
                </a:lnTo>
                <a:arcTo hR="76200" wR="76200" stAng="0" swAng="5400000"/>
                <a:lnTo>
                  <a:pt x="76200" y="330200"/>
                </a:lnTo>
                <a:arcTo hR="76200" wR="76200" stAng="5400000" swAng="5400000"/>
                <a:lnTo>
                  <a:pt x="0" y="76200"/>
                </a:lnTo>
                <a:arcTo hR="76200" wR="76200" stAng="10800000" swAng="5400000"/>
                <a:close/>
              </a:path>
            </a:pathLst>
          </a:custGeom>
          <a:solidFill>
            <a:srgbClr val="F6F4EE"/>
          </a:solidFill>
          <a:ln/>
        </p:spPr>
        <p:txBody>
          <a:bodyPr wrap="square" lIns="0" tIns="0" rIns="0" bIns="0" rtlCol="0" anchor="t">
            <a:normAutofit/>
          </a:bodyPr>
          <a:lstStyle/>
          <a:p>
            <a:pPr algn="ctr" indent="0" marL="0">
              <a:lnSpc>
                <a:spcPts val="2608"/>
              </a:lnSpc>
              <a:buNone/>
            </a:pPr>
            <a:r>
              <a:rPr lang="en-US" sz="1600" b="1" dirty="0">
                <a:solidFill>
                  <a:srgbClr val="14304D"/>
                </a:solidFill>
                <a:latin typeface="Nunito Sans" pitchFamily="34" charset="0"/>
                <a:ea typeface="Nunito Sans" pitchFamily="34" charset="-122"/>
                <a:cs typeface="Nunito Sans" pitchFamily="34" charset="-120"/>
              </a:rPr>
              <a:t>3</a:t>
            </a:r>
            <a:endParaRPr lang="en-US" sz="1600" dirty="0"/>
          </a:p>
        </p:txBody>
      </p:sp>
      <p:sp>
        <p:nvSpPr>
          <p:cNvPr id="15" name="Text 6"/>
          <p:cNvSpPr/>
          <p:nvPr/>
        </p:nvSpPr>
        <p:spPr>
          <a:xfrm>
            <a:off x="5048250" y="4089400"/>
            <a:ext cx="381000" cy="330200"/>
          </a:xfrm>
          <a:custGeom>
            <a:avLst/>
            <a:gdLst/>
            <a:ahLst/>
            <a:cxnLst/>
            <a:rect l="l" t="t" r="r" b="b"/>
            <a:pathLst>
              <a:path w="381000" h="330200">
                <a:moveTo>
                  <a:pt x="76200" y="0"/>
                </a:moveTo>
                <a:lnTo>
                  <a:pt x="304800" y="0"/>
                </a:lnTo>
                <a:arcTo hR="76200" wR="76200" stAng="16200000" swAng="5400000"/>
                <a:lnTo>
                  <a:pt x="381000" y="254000"/>
                </a:lnTo>
                <a:arcTo hR="76200" wR="76200" stAng="0" swAng="5400000"/>
                <a:lnTo>
                  <a:pt x="76200" y="330200"/>
                </a:lnTo>
                <a:arcTo hR="76200" wR="76200" stAng="5400000" swAng="5400000"/>
                <a:lnTo>
                  <a:pt x="0" y="76200"/>
                </a:lnTo>
                <a:arcTo hR="76200" wR="76200" stAng="10800000" swAng="5400000"/>
                <a:close/>
              </a:path>
            </a:pathLst>
          </a:custGeom>
          <a:solidFill>
            <a:srgbClr val="F6F4EE"/>
          </a:solidFill>
          <a:ln/>
        </p:spPr>
        <p:txBody>
          <a:bodyPr wrap="square" lIns="0" tIns="0" rIns="0" bIns="0" rtlCol="0" anchor="t">
            <a:normAutofit/>
          </a:bodyPr>
          <a:lstStyle/>
          <a:p>
            <a:pPr algn="ctr" indent="0" marL="0">
              <a:lnSpc>
                <a:spcPts val="2608"/>
              </a:lnSpc>
              <a:buNone/>
            </a:pPr>
            <a:r>
              <a:rPr lang="en-US" sz="1600" b="1" dirty="0">
                <a:solidFill>
                  <a:srgbClr val="4A5B6B"/>
                </a:solidFill>
                <a:latin typeface="Nunito Sans" pitchFamily="34" charset="0"/>
                <a:ea typeface="Nunito Sans" pitchFamily="34" charset="-122"/>
                <a:cs typeface="Nunito Sans" pitchFamily="34" charset="-120"/>
              </a:rPr>
              <a:t>6</a:t>
            </a:r>
            <a:endParaRPr lang="en-US" sz="1600" dirty="0"/>
          </a:p>
        </p:txBody>
      </p:sp>
      <p:sp>
        <p:nvSpPr>
          <p:cNvPr id="16" name="Text 7"/>
          <p:cNvSpPr/>
          <p:nvPr/>
        </p:nvSpPr>
        <p:spPr>
          <a:xfrm>
            <a:off x="5302250" y="5105400"/>
            <a:ext cx="381000" cy="330200"/>
          </a:xfrm>
          <a:custGeom>
            <a:avLst/>
            <a:gdLst/>
            <a:ahLst/>
            <a:cxnLst/>
            <a:rect l="l" t="t" r="r" b="b"/>
            <a:pathLst>
              <a:path w="381000" h="330200">
                <a:moveTo>
                  <a:pt x="76200" y="0"/>
                </a:moveTo>
                <a:lnTo>
                  <a:pt x="304800" y="0"/>
                </a:lnTo>
                <a:arcTo hR="76200" wR="76200" stAng="16200000" swAng="5400000"/>
                <a:lnTo>
                  <a:pt x="381000" y="254000"/>
                </a:lnTo>
                <a:arcTo hR="76200" wR="76200" stAng="0" swAng="5400000"/>
                <a:lnTo>
                  <a:pt x="76200" y="330200"/>
                </a:lnTo>
                <a:arcTo hR="76200" wR="76200" stAng="5400000" swAng="5400000"/>
                <a:lnTo>
                  <a:pt x="0" y="76200"/>
                </a:lnTo>
                <a:arcTo hR="76200" wR="76200" stAng="10800000" swAng="5400000"/>
                <a:close/>
              </a:path>
            </a:pathLst>
          </a:custGeom>
          <a:solidFill>
            <a:srgbClr val="F6F4EE"/>
          </a:solidFill>
          <a:ln/>
        </p:spPr>
        <p:txBody>
          <a:bodyPr wrap="square" lIns="0" tIns="0" rIns="0" bIns="0" rtlCol="0" anchor="t">
            <a:normAutofit/>
          </a:bodyPr>
          <a:lstStyle/>
          <a:p>
            <a:pPr algn="ctr" indent="0" marL="0">
              <a:lnSpc>
                <a:spcPts val="2608"/>
              </a:lnSpc>
              <a:buNone/>
            </a:pPr>
            <a:r>
              <a:rPr lang="en-US" sz="1600" b="1" dirty="0">
                <a:solidFill>
                  <a:srgbClr val="14304D"/>
                </a:solidFill>
                <a:latin typeface="Nunito Sans" pitchFamily="34" charset="0"/>
                <a:ea typeface="Nunito Sans" pitchFamily="34" charset="-122"/>
                <a:cs typeface="Nunito Sans" pitchFamily="34" charset="-120"/>
              </a:rPr>
              <a:t>4</a:t>
            </a:r>
            <a:endParaRPr lang="en-US" sz="1600" dirty="0"/>
          </a:p>
        </p:txBody>
      </p:sp>
      <p:sp>
        <p:nvSpPr>
          <p:cNvPr id="17" name="Text 8"/>
          <p:cNvSpPr/>
          <p:nvPr/>
        </p:nvSpPr>
        <p:spPr>
          <a:xfrm>
            <a:off x="6477000" y="4152900"/>
            <a:ext cx="381000" cy="330200"/>
          </a:xfrm>
          <a:custGeom>
            <a:avLst/>
            <a:gdLst/>
            <a:ahLst/>
            <a:cxnLst/>
            <a:rect l="l" t="t" r="r" b="b"/>
            <a:pathLst>
              <a:path w="381000" h="330200">
                <a:moveTo>
                  <a:pt x="76200" y="0"/>
                </a:moveTo>
                <a:lnTo>
                  <a:pt x="304800" y="0"/>
                </a:lnTo>
                <a:arcTo hR="76200" wR="76200" stAng="16200000" swAng="5400000"/>
                <a:lnTo>
                  <a:pt x="381000" y="254000"/>
                </a:lnTo>
                <a:arcTo hR="76200" wR="76200" stAng="0" swAng="5400000"/>
                <a:lnTo>
                  <a:pt x="76200" y="330200"/>
                </a:lnTo>
                <a:arcTo hR="76200" wR="76200" stAng="5400000" swAng="5400000"/>
                <a:lnTo>
                  <a:pt x="0" y="76200"/>
                </a:lnTo>
                <a:arcTo hR="76200" wR="76200" stAng="10800000" swAng="5400000"/>
                <a:close/>
              </a:path>
            </a:pathLst>
          </a:custGeom>
          <a:solidFill>
            <a:srgbClr val="F6F4EE"/>
          </a:solidFill>
          <a:ln/>
        </p:spPr>
        <p:txBody>
          <a:bodyPr wrap="square" lIns="0" tIns="0" rIns="0" bIns="0" rtlCol="0" anchor="t">
            <a:normAutofit/>
          </a:bodyPr>
          <a:lstStyle/>
          <a:p>
            <a:pPr algn="ctr" indent="0" marL="0">
              <a:lnSpc>
                <a:spcPts val="2608"/>
              </a:lnSpc>
              <a:buNone/>
            </a:pPr>
            <a:r>
              <a:rPr lang="en-US" sz="1600" b="1" dirty="0">
                <a:solidFill>
                  <a:srgbClr val="4A5B6B"/>
                </a:solidFill>
                <a:latin typeface="Nunito Sans" pitchFamily="34" charset="0"/>
                <a:ea typeface="Nunito Sans" pitchFamily="34" charset="-122"/>
                <a:cs typeface="Nunito Sans" pitchFamily="34" charset="-120"/>
              </a:rPr>
              <a:t>7</a:t>
            </a:r>
            <a:endParaRPr lang="en-US" sz="1600" dirty="0"/>
          </a:p>
        </p:txBody>
      </p:sp>
      <p:sp>
        <p:nvSpPr>
          <p:cNvPr id="18" name="Text 9"/>
          <p:cNvSpPr/>
          <p:nvPr/>
        </p:nvSpPr>
        <p:spPr>
          <a:xfrm>
            <a:off x="1365250" y="3778250"/>
            <a:ext cx="571500" cy="571500"/>
          </a:xfrm>
          <a:custGeom>
            <a:avLst/>
            <a:gdLst/>
            <a:ahLst/>
            <a:cxnLst/>
            <a:rect l="l" t="t" r="r" b="b"/>
            <a:pathLst>
              <a:path w="571500" h="571500">
                <a:moveTo>
                  <a:pt x="285750" y="0"/>
                </a:moveTo>
                <a:lnTo>
                  <a:pt x="285750" y="0"/>
                </a:lnTo>
                <a:arcTo hR="285750" wR="285750" stAng="16200000" swAng="5400000"/>
                <a:lnTo>
                  <a:pt x="571500" y="285750"/>
                </a:lnTo>
                <a:arcTo hR="285750" wR="285750" stAng="0" swAng="5400000"/>
                <a:lnTo>
                  <a:pt x="285750" y="571500"/>
                </a:lnTo>
                <a:arcTo hR="285750" wR="285750" stAng="5400000" swAng="5400000"/>
                <a:lnTo>
                  <a:pt x="0" y="285750"/>
                </a:lnTo>
                <a:arcTo hR="285750" wR="285750" stAng="10800000" swAng="5400000"/>
                <a:close/>
              </a:path>
            </a:pathLst>
          </a:custGeom>
          <a:solidFill>
            <a:srgbClr val="0B6E6E"/>
          </a:solidFill>
          <a:ln w="38100">
            <a:solidFill>
              <a:srgbClr val="14304D"/>
            </a:solidFill>
            <a:prstDash val="solid"/>
          </a:ln>
        </p:spPr>
        <p:txBody>
          <a:bodyPr wrap="square" lIns="0" tIns="19050" rIns="0" bIns="0" rtlCol="0" anchor="t">
            <a:normAutofit/>
          </a:bodyPr>
          <a:lstStyle/>
          <a:p>
            <a:pPr algn="ctr" indent="0" marL="0">
              <a:lnSpc>
                <a:spcPts val="4202"/>
              </a:lnSpc>
              <a:buNone/>
            </a:pPr>
            <a:r>
              <a:rPr lang="en-US" sz="2200" b="1" dirty="0">
                <a:solidFill>
                  <a:srgbClr val="F6F4EE"/>
                </a:solidFill>
                <a:latin typeface="Nunito Sans" pitchFamily="34" charset="0"/>
                <a:ea typeface="Nunito Sans" pitchFamily="34" charset="-122"/>
                <a:cs typeface="Nunito Sans" pitchFamily="34" charset="-120"/>
              </a:rPr>
              <a:t>M</a:t>
            </a:r>
            <a:endParaRPr lang="en-US" sz="2200" dirty="0"/>
          </a:p>
        </p:txBody>
      </p:sp>
      <p:sp>
        <p:nvSpPr>
          <p:cNvPr id="19" name="Text 10"/>
          <p:cNvSpPr/>
          <p:nvPr/>
        </p:nvSpPr>
        <p:spPr>
          <a:xfrm>
            <a:off x="3524250" y="2254250"/>
            <a:ext cx="571500" cy="571500"/>
          </a:xfrm>
          <a:custGeom>
            <a:avLst/>
            <a:gdLst/>
            <a:ahLst/>
            <a:cxnLst/>
            <a:rect l="l" t="t" r="r" b="b"/>
            <a:pathLst>
              <a:path w="571500" h="571500">
                <a:moveTo>
                  <a:pt x="285750" y="0"/>
                </a:moveTo>
                <a:lnTo>
                  <a:pt x="285750" y="0"/>
                </a:lnTo>
                <a:arcTo hR="285750" wR="285750" stAng="16200000" swAng="5400000"/>
                <a:lnTo>
                  <a:pt x="571500" y="285750"/>
                </a:lnTo>
                <a:arcTo hR="285750" wR="285750" stAng="0" swAng="5400000"/>
                <a:lnTo>
                  <a:pt x="285750" y="571500"/>
                </a:lnTo>
                <a:arcTo hR="285750" wR="285750" stAng="5400000" swAng="5400000"/>
                <a:lnTo>
                  <a:pt x="0" y="285750"/>
                </a:lnTo>
                <a:arcTo hR="285750" wR="285750" stAng="10800000" swAng="5400000"/>
                <a:close/>
              </a:path>
            </a:pathLst>
          </a:custGeom>
          <a:solidFill>
            <a:srgbClr val="0B6E6E"/>
          </a:solidFill>
          <a:ln w="38100">
            <a:solidFill>
              <a:srgbClr val="14304D"/>
            </a:solidFill>
            <a:prstDash val="solid"/>
          </a:ln>
        </p:spPr>
        <p:txBody>
          <a:bodyPr wrap="square" lIns="0" tIns="19050" rIns="0" bIns="0" rtlCol="0" anchor="t">
            <a:normAutofit/>
          </a:bodyPr>
          <a:lstStyle/>
          <a:p>
            <a:pPr algn="ctr" indent="0" marL="0">
              <a:lnSpc>
                <a:spcPts val="4202"/>
              </a:lnSpc>
              <a:buNone/>
            </a:pPr>
            <a:r>
              <a:rPr lang="en-US" sz="2200" b="1" dirty="0">
                <a:solidFill>
                  <a:srgbClr val="F6F4EE"/>
                </a:solidFill>
                <a:latin typeface="Nunito Sans" pitchFamily="34" charset="0"/>
                <a:ea typeface="Nunito Sans" pitchFamily="34" charset="-122"/>
                <a:cs typeface="Nunito Sans" pitchFamily="34" charset="-120"/>
              </a:rPr>
              <a:t>N</a:t>
            </a:r>
            <a:endParaRPr lang="en-US" sz="2200" dirty="0"/>
          </a:p>
        </p:txBody>
      </p:sp>
      <p:sp>
        <p:nvSpPr>
          <p:cNvPr id="20" name="Text 11"/>
          <p:cNvSpPr/>
          <p:nvPr/>
        </p:nvSpPr>
        <p:spPr>
          <a:xfrm>
            <a:off x="3778250" y="4921250"/>
            <a:ext cx="571500" cy="571500"/>
          </a:xfrm>
          <a:custGeom>
            <a:avLst/>
            <a:gdLst/>
            <a:ahLst/>
            <a:cxnLst/>
            <a:rect l="l" t="t" r="r" b="b"/>
            <a:pathLst>
              <a:path w="571500" h="571500">
                <a:moveTo>
                  <a:pt x="285750" y="0"/>
                </a:moveTo>
                <a:lnTo>
                  <a:pt x="285750" y="0"/>
                </a:lnTo>
                <a:arcTo hR="285750" wR="285750" stAng="16200000" swAng="5400000"/>
                <a:lnTo>
                  <a:pt x="571500" y="285750"/>
                </a:lnTo>
                <a:arcTo hR="285750" wR="285750" stAng="0" swAng="5400000"/>
                <a:lnTo>
                  <a:pt x="285750" y="571500"/>
                </a:lnTo>
                <a:arcTo hR="285750" wR="285750" stAng="5400000" swAng="5400000"/>
                <a:lnTo>
                  <a:pt x="0" y="285750"/>
                </a:lnTo>
                <a:arcTo hR="285750" wR="285750" stAng="10800000" swAng="5400000"/>
                <a:close/>
              </a:path>
            </a:pathLst>
          </a:custGeom>
          <a:solidFill>
            <a:srgbClr val="0B6E6E"/>
          </a:solidFill>
          <a:ln w="38100">
            <a:solidFill>
              <a:srgbClr val="14304D"/>
            </a:solidFill>
            <a:prstDash val="solid"/>
          </a:ln>
        </p:spPr>
        <p:txBody>
          <a:bodyPr wrap="square" lIns="0" tIns="19050" rIns="0" bIns="0" rtlCol="0" anchor="t">
            <a:normAutofit/>
          </a:bodyPr>
          <a:lstStyle/>
          <a:p>
            <a:pPr algn="ctr" indent="0" marL="0">
              <a:lnSpc>
                <a:spcPts val="4202"/>
              </a:lnSpc>
              <a:buNone/>
            </a:pPr>
            <a:r>
              <a:rPr lang="en-US" sz="2200" b="1" dirty="0">
                <a:solidFill>
                  <a:srgbClr val="F6F4EE"/>
                </a:solidFill>
                <a:latin typeface="Nunito Sans" pitchFamily="34" charset="0"/>
                <a:ea typeface="Nunito Sans" pitchFamily="34" charset="-122"/>
                <a:cs typeface="Nunito Sans" pitchFamily="34" charset="-120"/>
              </a:rPr>
              <a:t>O</a:t>
            </a:r>
            <a:endParaRPr lang="en-US" sz="2200" dirty="0"/>
          </a:p>
        </p:txBody>
      </p:sp>
      <p:sp>
        <p:nvSpPr>
          <p:cNvPr id="21" name="Text 12"/>
          <p:cNvSpPr/>
          <p:nvPr/>
        </p:nvSpPr>
        <p:spPr>
          <a:xfrm>
            <a:off x="6127750" y="3016250"/>
            <a:ext cx="571500" cy="571500"/>
          </a:xfrm>
          <a:custGeom>
            <a:avLst/>
            <a:gdLst/>
            <a:ahLst/>
            <a:cxnLst/>
            <a:rect l="l" t="t" r="r" b="b"/>
            <a:pathLst>
              <a:path w="571500" h="571500">
                <a:moveTo>
                  <a:pt x="285750" y="0"/>
                </a:moveTo>
                <a:lnTo>
                  <a:pt x="285750" y="0"/>
                </a:lnTo>
                <a:arcTo hR="285750" wR="285750" stAng="16200000" swAng="5400000"/>
                <a:lnTo>
                  <a:pt x="571500" y="285750"/>
                </a:lnTo>
                <a:arcTo hR="285750" wR="285750" stAng="0" swAng="5400000"/>
                <a:lnTo>
                  <a:pt x="285750" y="571500"/>
                </a:lnTo>
                <a:arcTo hR="285750" wR="285750" stAng="5400000" swAng="5400000"/>
                <a:lnTo>
                  <a:pt x="0" y="285750"/>
                </a:lnTo>
                <a:arcTo hR="285750" wR="285750" stAng="10800000" swAng="5400000"/>
                <a:close/>
              </a:path>
            </a:pathLst>
          </a:custGeom>
          <a:solidFill>
            <a:srgbClr val="0B6E6E"/>
          </a:solidFill>
          <a:ln w="38100">
            <a:solidFill>
              <a:srgbClr val="14304D"/>
            </a:solidFill>
            <a:prstDash val="solid"/>
          </a:ln>
        </p:spPr>
        <p:txBody>
          <a:bodyPr wrap="square" lIns="0" tIns="19050" rIns="0" bIns="0" rtlCol="0" anchor="t">
            <a:normAutofit/>
          </a:bodyPr>
          <a:lstStyle/>
          <a:p>
            <a:pPr algn="ctr" indent="0" marL="0">
              <a:lnSpc>
                <a:spcPts val="4202"/>
              </a:lnSpc>
              <a:buNone/>
            </a:pPr>
            <a:r>
              <a:rPr lang="en-US" sz="2200" b="1" dirty="0">
                <a:solidFill>
                  <a:srgbClr val="F6F4EE"/>
                </a:solidFill>
                <a:latin typeface="Nunito Sans" pitchFamily="34" charset="0"/>
                <a:ea typeface="Nunito Sans" pitchFamily="34" charset="-122"/>
                <a:cs typeface="Nunito Sans" pitchFamily="34" charset="-120"/>
              </a:rPr>
              <a:t>P</a:t>
            </a:r>
            <a:endParaRPr lang="en-US" sz="2200" dirty="0"/>
          </a:p>
        </p:txBody>
      </p:sp>
      <p:sp>
        <p:nvSpPr>
          <p:cNvPr id="22" name="Text 13"/>
          <p:cNvSpPr/>
          <p:nvPr/>
        </p:nvSpPr>
        <p:spPr>
          <a:xfrm>
            <a:off x="6635750" y="5048250"/>
            <a:ext cx="571500" cy="571500"/>
          </a:xfrm>
          <a:custGeom>
            <a:avLst/>
            <a:gdLst/>
            <a:ahLst/>
            <a:cxnLst/>
            <a:rect l="l" t="t" r="r" b="b"/>
            <a:pathLst>
              <a:path w="571500" h="571500">
                <a:moveTo>
                  <a:pt x="285750" y="0"/>
                </a:moveTo>
                <a:lnTo>
                  <a:pt x="285750" y="0"/>
                </a:lnTo>
                <a:arcTo hR="285750" wR="285750" stAng="16200000" swAng="5400000"/>
                <a:lnTo>
                  <a:pt x="571500" y="285750"/>
                </a:lnTo>
                <a:arcTo hR="285750" wR="285750" stAng="0" swAng="5400000"/>
                <a:lnTo>
                  <a:pt x="285750" y="571500"/>
                </a:lnTo>
                <a:arcTo hR="285750" wR="285750" stAng="5400000" swAng="5400000"/>
                <a:lnTo>
                  <a:pt x="0" y="285750"/>
                </a:lnTo>
                <a:arcTo hR="285750" wR="285750" stAng="10800000" swAng="5400000"/>
                <a:close/>
              </a:path>
            </a:pathLst>
          </a:custGeom>
          <a:solidFill>
            <a:srgbClr val="0B6E6E"/>
          </a:solidFill>
          <a:ln w="38100">
            <a:solidFill>
              <a:srgbClr val="14304D"/>
            </a:solidFill>
            <a:prstDash val="solid"/>
          </a:ln>
        </p:spPr>
        <p:txBody>
          <a:bodyPr wrap="square" lIns="0" tIns="19050" rIns="0" bIns="0" rtlCol="0" anchor="t">
            <a:normAutofit/>
          </a:bodyPr>
          <a:lstStyle/>
          <a:p>
            <a:pPr algn="ctr" indent="0" marL="0">
              <a:lnSpc>
                <a:spcPts val="4202"/>
              </a:lnSpc>
              <a:buNone/>
            </a:pPr>
            <a:r>
              <a:rPr lang="en-US" sz="2200" b="1" dirty="0">
                <a:solidFill>
                  <a:srgbClr val="F6F4EE"/>
                </a:solidFill>
                <a:latin typeface="Nunito Sans" pitchFamily="34" charset="0"/>
                <a:ea typeface="Nunito Sans" pitchFamily="34" charset="-122"/>
                <a:cs typeface="Nunito Sans" pitchFamily="34" charset="-120"/>
              </a:rPr>
              <a:t>Q</a:t>
            </a:r>
            <a:endParaRPr lang="en-US" sz="2200" dirty="0"/>
          </a:p>
        </p:txBody>
      </p:sp>
      <p:sp>
        <p:nvSpPr>
          <p:cNvPr id="23" name="Text 14"/>
          <p:cNvSpPr/>
          <p:nvPr/>
        </p:nvSpPr>
        <p:spPr>
          <a:xfrm>
            <a:off x="7937500" y="2032000"/>
            <a:ext cx="3544951"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E6E"/>
                </a:solidFill>
                <a:latin typeface="Nunito Sans" pitchFamily="34" charset="0"/>
                <a:ea typeface="Nunito Sans" pitchFamily="34" charset="-122"/>
                <a:cs typeface="Nunito Sans" pitchFamily="34" charset="-120"/>
              </a:rPr>
              <a:t>Gewählt: M-O, M-N, N-P, O-Q</a:t>
            </a:r>
            <a:endParaRPr lang="en-US" sz="1600" dirty="0"/>
          </a:p>
        </p:txBody>
      </p:sp>
      <p:sp>
        <p:nvSpPr>
          <p:cNvPr id="24" name="Text 15"/>
          <p:cNvSpPr/>
          <p:nvPr/>
        </p:nvSpPr>
        <p:spPr>
          <a:xfrm>
            <a:off x="7937500" y="2443460"/>
            <a:ext cx="3441700" cy="487660"/>
          </a:xfrm>
          <a:prstGeom prst="roundRect">
            <a:avLst>
              <a:gd name="adj" fmla="val 20834"/>
            </a:avLst>
          </a:prstGeom>
          <a:solidFill>
            <a:srgbClr val="E39A3B"/>
          </a:solidFill>
          <a:ln/>
        </p:spPr>
        <p:txBody>
          <a:bodyPr wrap="square" lIns="122642" tIns="71842" rIns="28535" bIns="46442"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Kosten: 2 + 4 + 3 + 4 = 13</a:t>
            </a:r>
            <a:endParaRPr lang="en-US" sz="1600" dirty="0"/>
          </a:p>
        </p:txBody>
      </p:sp>
      <p:sp>
        <p:nvSpPr>
          <p:cNvPr id="25" name="Text 16"/>
          <p:cNvSpPr/>
          <p:nvPr/>
        </p:nvSpPr>
        <p:spPr>
          <a:xfrm>
            <a:off x="7937500" y="3058120"/>
            <a:ext cx="3544951"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5 Dörfer, 4 Verbindungen: Das passt zu n minus 1.</a:t>
            </a:r>
            <a:endParaRPr lang="en-US" sz="1600" dirty="0"/>
          </a:p>
        </p:txBody>
      </p:sp>
      <p:sp>
        <p:nvSpPr>
          <p:cNvPr id="26" name="Text 17"/>
          <p:cNvSpPr/>
          <p:nvPr/>
        </p:nvSpPr>
        <p:spPr>
          <a:xfrm>
            <a:off x="7937500" y="3754041"/>
            <a:ext cx="3544951"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Auch bei einem anderen Startdorf kommt dasselbe Netz heraus. Das prüft ihr in Aufgabe 119 und 120.</a:t>
            </a:r>
            <a:endParaRPr lang="en-US" sz="1200" dirty="0"/>
          </a:p>
        </p:txBody>
      </p:sp>
      <p:sp>
        <p:nvSpPr>
          <p:cNvPr id="27" name="Text 18"/>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28" name="Text 19"/>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9EE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Nunito Sans" pitchFamily="34" charset="0"/>
                <a:ea typeface="Nunito Sans" pitchFamily="34" charset="-122"/>
                <a:cs typeface="Nunito Sans" pitchFamily="34" charset="-120"/>
              </a:rPr>
              <a:t>AUFTRAG · 17 MIN · ZU ZWEIT</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304D"/>
                </a:solidFill>
                <a:latin typeface="Domine" pitchFamily="18" charset="0"/>
                <a:ea typeface="Domine" pitchFamily="18" charset="-122"/>
                <a:cs typeface="Domine" pitchFamily="18" charset="-120"/>
              </a:rPr>
              <a:t>Jetzt seid ihr dran</a:t>
            </a:r>
            <a:endParaRPr lang="en-US" sz="3200" dirty="0"/>
          </a:p>
        </p:txBody>
      </p:sp>
      <p:sp>
        <p:nvSpPr>
          <p:cNvPr id="4" name="Text 2"/>
          <p:cNvSpPr/>
          <p:nvPr/>
        </p:nvSpPr>
        <p:spPr>
          <a:xfrm>
            <a:off x="812800" y="180330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1</a:t>
            </a:r>
            <a:endParaRPr lang="en-US" sz="1600" dirty="0"/>
          </a:p>
        </p:txBody>
      </p:sp>
      <p:sp>
        <p:nvSpPr>
          <p:cNvPr id="5" name="Text 3"/>
          <p:cNvSpPr/>
          <p:nvPr/>
        </p:nvSpPr>
        <p:spPr>
          <a:xfrm>
            <a:off x="1447800" y="1747441"/>
            <a:ext cx="588645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Löst Aufgabe 118 im Arbeitsbuch. Startet bei einem Dorf, das ihr selbst wählt.</a:t>
            </a:r>
            <a:endParaRPr lang="en-US" sz="1600" dirty="0"/>
          </a:p>
        </p:txBody>
      </p:sp>
      <p:sp>
        <p:nvSpPr>
          <p:cNvPr id="6" name="Text 4"/>
          <p:cNvSpPr/>
          <p:nvPr/>
        </p:nvSpPr>
        <p:spPr>
          <a:xfrm>
            <a:off x="812800" y="255002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2</a:t>
            </a:r>
            <a:endParaRPr lang="en-US" sz="1600" dirty="0"/>
          </a:p>
        </p:txBody>
      </p:sp>
      <p:sp>
        <p:nvSpPr>
          <p:cNvPr id="7" name="Text 5"/>
          <p:cNvSpPr/>
          <p:nvPr/>
        </p:nvSpPr>
        <p:spPr>
          <a:xfrm>
            <a:off x="1447800" y="2494161"/>
            <a:ext cx="588645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Löst Aufgabe 119 und 120 mit einem anderen Startdorf. Was fällt euch auf?</a:t>
            </a:r>
            <a:endParaRPr lang="en-US" sz="1600" dirty="0"/>
          </a:p>
        </p:txBody>
      </p:sp>
      <p:sp>
        <p:nvSpPr>
          <p:cNvPr id="8" name="Text 6"/>
          <p:cNvSpPr/>
          <p:nvPr/>
        </p:nvSpPr>
        <p:spPr>
          <a:xfrm>
            <a:off x="812800" y="329674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3</a:t>
            </a:r>
            <a:endParaRPr lang="en-US" sz="1600" dirty="0"/>
          </a:p>
        </p:txBody>
      </p:sp>
      <p:sp>
        <p:nvSpPr>
          <p:cNvPr id="9" name="Text 7"/>
          <p:cNvSpPr/>
          <p:nvPr/>
        </p:nvSpPr>
        <p:spPr>
          <a:xfrm>
            <a:off x="1447800" y="3240881"/>
            <a:ext cx="588645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Schon fertig? Erklärt euch gegenseitig Schritt für Schritt, wie Prim funktioniert. Was offen bleibt, ist Hausaufgabe.</a:t>
            </a:r>
            <a:endParaRPr lang="en-US" sz="1600" dirty="0"/>
          </a:p>
        </p:txBody>
      </p:sp>
      <p:sp>
        <p:nvSpPr>
          <p:cNvPr id="10" name="Shape 8"/>
          <p:cNvSpPr/>
          <p:nvPr/>
        </p:nvSpPr>
        <p:spPr>
          <a:xfrm>
            <a:off x="7470775" y="1750616"/>
            <a:ext cx="3905250" cy="2556371"/>
          </a:xfrm>
          <a:prstGeom prst="roundRect">
            <a:avLst>
              <a:gd name="adj" fmla="val 3850"/>
            </a:avLst>
          </a:prstGeom>
          <a:solidFill>
            <a:srgbClr val="FCFBF7"/>
          </a:solidFill>
          <a:ln w="6350">
            <a:solidFill>
              <a:srgbClr val="D9DEDF"/>
            </a:solidFill>
            <a:prstDash val="solid"/>
          </a:ln>
        </p:spPr>
      </p:sp>
      <p:sp>
        <p:nvSpPr>
          <p:cNvPr id="11" name="Text 9"/>
          <p:cNvSpPr/>
          <p:nvPr/>
        </p:nvSpPr>
        <p:spPr>
          <a:xfrm>
            <a:off x="7677150" y="1956991"/>
            <a:ext cx="3597275"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E6E"/>
                </a:solidFill>
                <a:latin typeface="Nunito Sans" pitchFamily="34" charset="0"/>
                <a:ea typeface="Nunito Sans" pitchFamily="34" charset="-122"/>
                <a:cs typeface="Nunito Sans" pitchFamily="34" charset="-120"/>
              </a:rPr>
              <a:t>Merkhilfe</a:t>
            </a:r>
            <a:endParaRPr lang="en-US" sz="1600" dirty="0"/>
          </a:p>
        </p:txBody>
      </p:sp>
      <p:sp>
        <p:nvSpPr>
          <p:cNvPr id="12" name="Text 10"/>
          <p:cNvSpPr/>
          <p:nvPr/>
        </p:nvSpPr>
        <p:spPr>
          <a:xfrm>
            <a:off x="7677150" y="2343051"/>
            <a:ext cx="35972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1 Start wählen</a:t>
            </a:r>
            <a:endParaRPr lang="en-US" sz="1600" dirty="0"/>
          </a:p>
        </p:txBody>
      </p:sp>
      <p:sp>
        <p:nvSpPr>
          <p:cNvPr id="13" name="Text 11"/>
          <p:cNvSpPr/>
          <p:nvPr/>
        </p:nvSpPr>
        <p:spPr>
          <a:xfrm>
            <a:off x="7677150" y="2729111"/>
            <a:ext cx="35972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2 Verbindungen vom Netz prüfen</a:t>
            </a:r>
            <a:endParaRPr lang="en-US" sz="1600" dirty="0"/>
          </a:p>
        </p:txBody>
      </p:sp>
      <p:sp>
        <p:nvSpPr>
          <p:cNvPr id="14" name="Text 12"/>
          <p:cNvSpPr/>
          <p:nvPr/>
        </p:nvSpPr>
        <p:spPr>
          <a:xfrm>
            <a:off x="7677150" y="3115171"/>
            <a:ext cx="35972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3 Günstigste nehmen</a:t>
            </a:r>
            <a:endParaRPr lang="en-US" sz="1600" dirty="0"/>
          </a:p>
        </p:txBody>
      </p:sp>
      <p:sp>
        <p:nvSpPr>
          <p:cNvPr id="15" name="Text 13"/>
          <p:cNvSpPr/>
          <p:nvPr/>
        </p:nvSpPr>
        <p:spPr>
          <a:xfrm>
            <a:off x="7677150" y="3501231"/>
            <a:ext cx="35972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4 Wiederholen</a:t>
            </a:r>
            <a:endParaRPr lang="en-US" sz="1600" dirty="0"/>
          </a:p>
        </p:txBody>
      </p:sp>
      <p:sp>
        <p:nvSpPr>
          <p:cNvPr id="16" name="Text 14"/>
          <p:cNvSpPr/>
          <p:nvPr/>
        </p:nvSpPr>
        <p:spPr>
          <a:xfrm>
            <a:off x="7677150" y="3887291"/>
            <a:ext cx="35972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Kontrolle: Dörfer minus 1 Verbindungen</a:t>
            </a:r>
            <a:endParaRPr lang="en-US" sz="1200" dirty="0"/>
          </a:p>
        </p:txBody>
      </p:sp>
      <p:sp>
        <p:nvSpPr>
          <p:cNvPr id="17"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18" name="Text 16"/>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304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FD0C8"/>
                </a:solidFill>
                <a:latin typeface="Nunito Sans" pitchFamily="34" charset="0"/>
                <a:ea typeface="Nunito Sans" pitchFamily="34" charset="-122"/>
                <a:cs typeface="Nunito Sans" pitchFamily="34" charset="-120"/>
              </a:rPr>
              <a:t>SICHERUNG · 3 MIN</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6F4EE"/>
                </a:solidFill>
                <a:latin typeface="Domine" pitchFamily="18" charset="0"/>
                <a:ea typeface="Domine" pitchFamily="18" charset="-122"/>
                <a:cs typeface="Domine" pitchFamily="18" charset="-120"/>
              </a:rPr>
              <a:t>Prim in einem Satz</a:t>
            </a:r>
            <a:endParaRPr lang="en-US" sz="3200" dirty="0"/>
          </a:p>
        </p:txBody>
      </p:sp>
      <p:sp>
        <p:nvSpPr>
          <p:cNvPr id="4" name="Text 2"/>
          <p:cNvSpPr/>
          <p:nvPr/>
        </p:nvSpPr>
        <p:spPr>
          <a:xfrm>
            <a:off x="812800" y="1747441"/>
            <a:ext cx="6540500" cy="1114822"/>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6F4EE"/>
                </a:solidFill>
                <a:latin typeface="Domine" pitchFamily="18" charset="0"/>
                <a:ea typeface="Domine" pitchFamily="18" charset="-122"/>
                <a:cs typeface="Domine" pitchFamily="18" charset="-120"/>
              </a:rPr>
              <a:t>Wähle immer die günstigste Verbindung vom Netz zu einem neuen Dorf, bis alle Dörfer angeschlossen sind.</a:t>
            </a:r>
            <a:endParaRPr lang="en-US" sz="2200" dirty="0"/>
          </a:p>
        </p:txBody>
      </p:sp>
      <p:sp>
        <p:nvSpPr>
          <p:cNvPr id="5" name="Shape 3"/>
          <p:cNvSpPr/>
          <p:nvPr/>
        </p:nvSpPr>
        <p:spPr>
          <a:xfrm>
            <a:off x="7467600" y="1747441"/>
            <a:ext cx="3911600" cy="1960761"/>
          </a:xfrm>
          <a:prstGeom prst="roundRect">
            <a:avLst>
              <a:gd name="adj" fmla="val 5182"/>
            </a:avLst>
          </a:prstGeom>
          <a:solidFill>
            <a:srgbClr val="1E4268"/>
          </a:solidFill>
          <a:ln/>
        </p:spPr>
      </p:sp>
      <p:sp>
        <p:nvSpPr>
          <p:cNvPr id="6" name="Text 4"/>
          <p:cNvSpPr/>
          <p:nvPr/>
        </p:nvSpPr>
        <p:spPr>
          <a:xfrm>
            <a:off x="7670800" y="1950641"/>
            <a:ext cx="361035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6FD0C8"/>
                </a:solidFill>
                <a:latin typeface="Nunito Sans" pitchFamily="34" charset="0"/>
                <a:ea typeface="Nunito Sans" pitchFamily="34" charset="-122"/>
                <a:cs typeface="Nunito Sans" pitchFamily="34" charset="-120"/>
              </a:rPr>
              <a:t>In der Prüfung</a:t>
            </a:r>
            <a:endParaRPr lang="en-US" sz="1600" dirty="0"/>
          </a:p>
        </p:txBody>
      </p:sp>
      <p:sp>
        <p:nvSpPr>
          <p:cNvPr id="7" name="Text 5"/>
          <p:cNvSpPr/>
          <p:nvPr/>
        </p:nvSpPr>
        <p:spPr>
          <a:xfrm>
            <a:off x="7670800" y="2336701"/>
            <a:ext cx="3610356"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Nunito Sans" pitchFamily="34" charset="0"/>
                <a:ea typeface="Nunito Sans" pitchFamily="34" charset="-122"/>
                <a:cs typeface="Nunito Sans" pitchFamily="34" charset="-120"/>
              </a:rPr>
              <a:t>Du findest das günstigste Netz und berechnest die Kosten (Aufgabe 5, 6 von 34 Punkten).</a:t>
            </a:r>
            <a:endParaRPr lang="en-US" sz="1600" dirty="0"/>
          </a:p>
        </p:txBody>
      </p:sp>
      <p:sp>
        <p:nvSpPr>
          <p:cNvPr id="8" name="Text 6"/>
          <p:cNvSpPr/>
          <p:nvPr/>
        </p:nvSpPr>
        <p:spPr>
          <a:xfrm>
            <a:off x="7670800" y="3291681"/>
            <a:ext cx="36103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D5E0"/>
                </a:solidFill>
                <a:latin typeface="Nunito Sans" pitchFamily="34" charset="0"/>
                <a:ea typeface="Nunito Sans" pitchFamily="34" charset="-122"/>
                <a:cs typeface="Nunito Sans" pitchFamily="34" charset="-120"/>
              </a:rPr>
              <a:t>Üben: Arbeitsbuch 118 bis 120</a:t>
            </a:r>
            <a:endParaRPr lang="en-US" sz="1200" dirty="0"/>
          </a:p>
        </p:txBody>
      </p:sp>
      <p:sp>
        <p:nvSpPr>
          <p:cNvPr id="9" name="Text 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D5E0"/>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10" name="Text 8"/>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6FD0C8"/>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Nunito Sans" pitchFamily="34" charset="0"/>
                <a:ea typeface="Nunito Sans" pitchFamily="34" charset="-122"/>
                <a:cs typeface="Nunito Sans" pitchFamily="34" charset="-120"/>
              </a:rPr>
              <a:t>AUSBLICK · 2 MIN</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304D"/>
                </a:solidFill>
                <a:latin typeface="Domine" pitchFamily="18" charset="0"/>
                <a:ea typeface="Domine" pitchFamily="18" charset="-122"/>
                <a:cs typeface="Domine" pitchFamily="18" charset="-120"/>
              </a:rPr>
              <a:t>Noch zwei Lektionen bis zur Prüfung</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60141"/>
          <a:ext cx="10553700" cy="1756966"/>
        </p:xfrm>
        <a:graphic>
          <a:graphicData uri="http://schemas.openxmlformats.org/drawingml/2006/table">
            <a:tbl>
              <a:tblPr/>
              <a:tblGrid>
                <a:gridCol w="1899666"/>
                <a:gridCol w="5487924"/>
                <a:gridCol w="3166110"/>
              </a:tblGrid>
              <a:tr h="439241">
                <a:tc>
                  <a:txBody>
                    <a:bodyPr/>
                    <a:lstStyle/>
                    <a:p>
                      <a:pPr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Datum</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Thema</a:t>
                      </a:r>
                      <a:endParaRPr lang="en-US" sz="1600" dirty="0">
                        <a:latin typeface="Nunito Sans" charset="0"/>
                        <a:ea typeface="Nunito Sans" charset="0"/>
                        <a:cs typeface="Nunito Sans" charset="0"/>
                      </a:endParaRPr>
                    </a:p>
                  </a:txBody>
                  <a:tcPr marL="71120" marR="71120" marT="71120" marB="71120"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Prüfung</a:t>
                      </a:r>
                      <a:endParaRPr lang="en-US" sz="1600" dirty="0">
                        <a:latin typeface="Nunito Sans" charset="0"/>
                        <a:ea typeface="Nunito Sans" charset="0"/>
                        <a:cs typeface="Nunito Sans" charset="0"/>
                      </a:endParaRPr>
                    </a:p>
                  </a:txBody>
                  <a:tcPr marL="71120" marR="71120" marT="71120" marB="71120"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r>
              <a:tr h="439241">
                <a:tc>
                  <a:txBody>
                    <a:bodyPr/>
                    <a:lstStyle/>
                    <a:p>
                      <a:pPr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Di 27.10.</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1F Der Post ist da und 1G Tolle Fotos, tolle Ferien?</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Aufgaben 2, 3 und 7</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39241">
                <a:tc>
                  <a:txBody>
                    <a:bodyPr/>
                    <a:lstStyle/>
                    <a:p>
                      <a:pPr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Di 03.11.</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1H Aufmerksamkeit um jeden Preis, Repetition</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Aufgabe 7</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39241">
                <a:tc>
                  <a:txBody>
                    <a:bodyPr/>
                    <a:lstStyle/>
                    <a:p>
                      <a:pPr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Di 10.11.</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Prüfung 1, 40 Minuten</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Kapitel 1 insgesamt</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
        <p:nvSpPr>
          <p:cNvPr id="5" name="Text 2"/>
          <p:cNvSpPr/>
          <p:nvPr/>
        </p:nvSpPr>
        <p:spPr>
          <a:xfrm>
            <a:off x="812800" y="3720306"/>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E6E"/>
                </a:solidFill>
                <a:latin typeface="Nunito Sans" pitchFamily="34" charset="0"/>
                <a:ea typeface="Nunito Sans" pitchFamily="34" charset="-122"/>
                <a:cs typeface="Nunito Sans" pitchFamily="34" charset="-120"/>
              </a:rPr>
              <a:t>Hausaufgabe: Aufgaben 118 bis 120 (Prim) fertig lösen.</a:t>
            </a:r>
            <a:endParaRPr lang="en-US" sz="1600" dirty="0"/>
          </a:p>
        </p:txBody>
      </p:sp>
      <p:sp>
        <p:nvSpPr>
          <p:cNvPr id="6" name="Text 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7" name="Text 4"/>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theme/theme1.xml><?xml version="1.0" encoding="utf-8"?>
<a:theme xmlns:a="http://schemas.openxmlformats.org/drawingml/2006/main" name="M&amp;I Kapitel 1: Rückblick und Prim (20.10.2026)">
  <a:themeElements>
    <a:clrScheme name="M&amp;I Kapitel 1: Rückblick und Prim (20.10.2026)">
      <a:dk1>
        <a:srgbClr val="14304D"/>
      </a:dk1>
      <a:lt1>
        <a:srgbClr val="F6F4EE"/>
      </a:lt1>
      <a:dk2>
        <a:srgbClr val="4D6175"/>
      </a:dk2>
      <a:lt2>
        <a:srgbClr val="DFE0DE"/>
      </a:lt2>
      <a:accent1>
        <a:srgbClr val="0B6E6E"/>
      </a:accent1>
      <a:accent2>
        <a:srgbClr val="6FD0C8"/>
      </a:accent2>
      <a:accent3>
        <a:srgbClr val="E39A3B"/>
      </a:accent3>
      <a:accent4>
        <a:srgbClr val="1E4268"/>
      </a:accent4>
      <a:accent5>
        <a:srgbClr val="4A5B6B"/>
      </a:accent5>
      <a:accent6>
        <a:srgbClr val="D6EAE7"/>
      </a:accent6>
      <a:hlink>
        <a:srgbClr val="0563C1"/>
      </a:hlink>
      <a:folHlink>
        <a:srgbClr val="954F72"/>
      </a:folHlink>
    </a:clrScheme>
    <a:fontScheme name="M&amp;I Kapitel 1: Rückblick und Prim (20.10.2026)">
      <a:majorFont>
        <a:latin typeface="Domin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M&amp;I Kapitel 1: Rückblick und Prim (20.10.2026)</dc:title>
  <dc:subject/>
  <dc:creator/>
  <cp:lastModifiedBy/>
  <cp:revision>1</cp:revision>
  <dcterms:created xsi:type="dcterms:W3CDTF">2026-10-19T19:17:11Z</dcterms:created>
  <dcterms:modified xsi:type="dcterms:W3CDTF">2026-10-19T19:17:11Z</dcterms:modified>
</cp:coreProperties>
</file>